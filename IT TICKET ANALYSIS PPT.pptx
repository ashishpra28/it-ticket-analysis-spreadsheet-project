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Jacques Francois Shadow"/>
      <p:regular r:id="rId26"/>
    </p:embeddedFont>
    <p:embeddedFont>
      <p:font typeface="Arial Black"/>
      <p:regular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acquesFrancoisShadow-regular.fntdata"/><Relationship Id="rId25" Type="http://schemas.openxmlformats.org/officeDocument/2006/relationships/slide" Target="slides/slide20.xml"/><Relationship Id="rId27"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8cc245d4d2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8cc245d4d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cc245d4d2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cc245d4d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140373" y="504497"/>
            <a:ext cx="9911256" cy="923330"/>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5400" u="sng" cap="none" strike="noStrike">
                <a:solidFill>
                  <a:schemeClr val="dk1"/>
                </a:solidFill>
                <a:latin typeface="Cambria"/>
                <a:ea typeface="Cambria"/>
                <a:cs typeface="Cambria"/>
                <a:sym typeface="Cambria"/>
              </a:rPr>
              <a:t>IT TICKET ANALYSIS</a:t>
            </a:r>
            <a:endParaRPr>
              <a:latin typeface="Cambria"/>
              <a:ea typeface="Cambria"/>
              <a:cs typeface="Cambria"/>
              <a:sym typeface="Cambria"/>
            </a:endParaRPr>
          </a:p>
        </p:txBody>
      </p:sp>
      <p:sp>
        <p:nvSpPr>
          <p:cNvPr id="55" name="Google Shape;55;p13"/>
          <p:cNvSpPr txBox="1"/>
          <p:nvPr/>
        </p:nvSpPr>
        <p:spPr>
          <a:xfrm>
            <a:off x="7230493" y="2869324"/>
            <a:ext cx="5360400" cy="175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sng" cap="none" strike="noStrike">
                <a:solidFill>
                  <a:schemeClr val="dk1"/>
                </a:solidFill>
                <a:latin typeface="Calibri"/>
                <a:ea typeface="Calibri"/>
                <a:cs typeface="Calibri"/>
                <a:sym typeface="Calibri"/>
              </a:rPr>
              <a:t>Ashish Kumar</a:t>
            </a:r>
            <a:endParaRPr b="1" i="0" sz="3600" u="sng"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1" i="0" sz="3600" u="sng"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lang="en-US" sz="3600" u="sng">
                <a:solidFill>
                  <a:schemeClr val="dk1"/>
                </a:solidFill>
                <a:latin typeface="Calibri"/>
                <a:ea typeface="Calibri"/>
                <a:cs typeface="Calibri"/>
                <a:sym typeface="Calibri"/>
              </a:rPr>
              <a:t>05</a:t>
            </a:r>
            <a:r>
              <a:rPr b="1" i="0" lang="en-US" sz="3600" u="sng" cap="none" strike="noStrike">
                <a:solidFill>
                  <a:schemeClr val="dk1"/>
                </a:solidFill>
                <a:latin typeface="Calibri"/>
                <a:ea typeface="Calibri"/>
                <a:cs typeface="Calibri"/>
                <a:sym typeface="Calibri"/>
              </a:rPr>
              <a:t>/</a:t>
            </a:r>
            <a:r>
              <a:rPr b="1" lang="en-US" sz="3600" u="sng">
                <a:solidFill>
                  <a:schemeClr val="dk1"/>
                </a:solidFill>
                <a:latin typeface="Calibri"/>
                <a:ea typeface="Calibri"/>
                <a:cs typeface="Calibri"/>
                <a:sym typeface="Calibri"/>
              </a:rPr>
              <a:t>11</a:t>
            </a:r>
            <a:r>
              <a:rPr b="1" i="0" lang="en-US" sz="3600" u="sng" cap="none" strike="noStrike">
                <a:solidFill>
                  <a:schemeClr val="dk1"/>
                </a:solidFill>
                <a:latin typeface="Calibri"/>
                <a:ea typeface="Calibri"/>
                <a:cs typeface="Calibri"/>
                <a:sym typeface="Calibri"/>
              </a:rPr>
              <a:t>/2025</a:t>
            </a:r>
            <a:endParaRPr b="1" i="0" sz="3600" u="sng" cap="none" strike="noStrike">
              <a:solidFill>
                <a:schemeClr val="dk1"/>
              </a:solidFill>
              <a:latin typeface="Calibri"/>
              <a:ea typeface="Calibri"/>
              <a:cs typeface="Calibri"/>
              <a:sym typeface="Calibri"/>
            </a:endParaRPr>
          </a:p>
        </p:txBody>
      </p:sp>
      <p:pic>
        <p:nvPicPr>
          <p:cNvPr id="56" name="Google Shape;56;p13" title="What-is-Data-Analysis.jpg"/>
          <p:cNvPicPr preferRelativeResize="0"/>
          <p:nvPr/>
        </p:nvPicPr>
        <p:blipFill>
          <a:blip r:embed="rId3">
            <a:alphaModFix/>
          </a:blip>
          <a:stretch>
            <a:fillRect/>
          </a:stretch>
        </p:blipFill>
        <p:spPr>
          <a:xfrm>
            <a:off x="134600" y="1912650"/>
            <a:ext cx="7681101" cy="4019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6542687" y="2934413"/>
            <a:ext cx="5649313"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0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b="1" lang="en-US" sz="2000">
                <a:solidFill>
                  <a:schemeClr val="dk1"/>
                </a:solidFill>
                <a:latin typeface="Arial Black"/>
                <a:ea typeface="Arial Black"/>
                <a:cs typeface="Arial Black"/>
                <a:sym typeface="Arial Black"/>
              </a:rPr>
              <a:t>Nearly 70% of IT support tickets could be resolved with automated solutions, yet many companies still rely on manual processes.</a:t>
            </a:r>
            <a:endParaRPr/>
          </a:p>
        </p:txBody>
      </p:sp>
      <p:sp>
        <p:nvSpPr>
          <p:cNvPr id="62" name="Google Shape;62;p14"/>
          <p:cNvSpPr txBox="1"/>
          <p:nvPr/>
        </p:nvSpPr>
        <p:spPr>
          <a:xfrm>
            <a:off x="1897117" y="166414"/>
            <a:ext cx="835572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chemeClr val="dk1"/>
                </a:solidFill>
                <a:latin typeface="Cambria"/>
                <a:ea typeface="Cambria"/>
                <a:cs typeface="Cambria"/>
                <a:sym typeface="Cambria"/>
              </a:rPr>
              <a:t>DID</a:t>
            </a:r>
            <a:r>
              <a:rPr b="1" lang="en-US" sz="4000" u="sng">
                <a:solidFill>
                  <a:schemeClr val="dk1"/>
                </a:solidFill>
                <a:latin typeface="Cambria"/>
                <a:ea typeface="Cambria"/>
                <a:cs typeface="Cambria"/>
                <a:sym typeface="Cambria"/>
              </a:rPr>
              <a:t> </a:t>
            </a:r>
            <a:r>
              <a:rPr b="1" lang="en-US" sz="3600" u="sng">
                <a:solidFill>
                  <a:schemeClr val="dk1"/>
                </a:solidFill>
                <a:latin typeface="Cambria"/>
                <a:ea typeface="Cambria"/>
                <a:cs typeface="Cambria"/>
                <a:sym typeface="Cambria"/>
              </a:rPr>
              <a:t>YOU</a:t>
            </a:r>
            <a:r>
              <a:rPr b="1" lang="en-US" sz="4000" u="sng">
                <a:solidFill>
                  <a:schemeClr val="dk1"/>
                </a:solidFill>
                <a:latin typeface="Cambria"/>
                <a:ea typeface="Cambria"/>
                <a:cs typeface="Cambria"/>
                <a:sym typeface="Cambria"/>
              </a:rPr>
              <a:t> </a:t>
            </a:r>
            <a:r>
              <a:rPr b="1" lang="en-US" sz="3600" u="sng">
                <a:solidFill>
                  <a:schemeClr val="dk1"/>
                </a:solidFill>
                <a:latin typeface="Cambria"/>
                <a:ea typeface="Cambria"/>
                <a:cs typeface="Cambria"/>
                <a:sym typeface="Cambria"/>
              </a:rPr>
              <a:t>KNOW???</a:t>
            </a:r>
            <a:endParaRPr b="1" sz="4000" u="sng">
              <a:solidFill>
                <a:schemeClr val="dk1"/>
              </a:solidFill>
              <a:latin typeface="Cambria"/>
              <a:ea typeface="Cambria"/>
              <a:cs typeface="Cambria"/>
              <a:sym typeface="Cambria"/>
            </a:endParaRPr>
          </a:p>
        </p:txBody>
      </p:sp>
      <p:pic>
        <p:nvPicPr>
          <p:cNvPr id="63" name="Google Shape;63;p14" title="businessman-holding-a-magnifying-glass-and-graph-reports-icon-data-analysis-and-business-analytics-concept-vector.jpg"/>
          <p:cNvPicPr preferRelativeResize="0"/>
          <p:nvPr/>
        </p:nvPicPr>
        <p:blipFill>
          <a:blip r:embed="rId3">
            <a:alphaModFix/>
          </a:blip>
          <a:stretch>
            <a:fillRect/>
          </a:stretch>
        </p:blipFill>
        <p:spPr>
          <a:xfrm>
            <a:off x="173100" y="1628888"/>
            <a:ext cx="6237887" cy="42422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884903" y="0"/>
            <a:ext cx="10736700" cy="2955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sng" strike="noStrike">
                <a:solidFill>
                  <a:srgbClr val="000000"/>
                </a:solidFill>
                <a:latin typeface="Cambria"/>
                <a:ea typeface="Cambria"/>
                <a:cs typeface="Cambria"/>
                <a:sym typeface="Cambria"/>
              </a:rPr>
              <a:t>Problem</a:t>
            </a:r>
            <a:r>
              <a:rPr b="1" i="0" lang="en-US" sz="2000" u="sng" strike="noStrike">
                <a:solidFill>
                  <a:srgbClr val="000000"/>
                </a:solidFill>
                <a:latin typeface="Cambria"/>
                <a:ea typeface="Cambria"/>
                <a:cs typeface="Cambria"/>
                <a:sym typeface="Cambria"/>
              </a:rPr>
              <a:t> </a:t>
            </a:r>
            <a:r>
              <a:rPr b="1" i="0" lang="en-US" sz="3600" u="sng" strike="noStrike">
                <a:solidFill>
                  <a:srgbClr val="000000"/>
                </a:solidFill>
                <a:latin typeface="Cambria"/>
                <a:ea typeface="Cambria"/>
                <a:cs typeface="Cambria"/>
                <a:sym typeface="Cambria"/>
              </a:rPr>
              <a:t>Statement</a:t>
            </a:r>
            <a:endParaRPr b="1" i="0" sz="3200" u="sng" strike="noStrike">
              <a:solidFill>
                <a:srgbClr val="000000"/>
              </a:solidFill>
              <a:latin typeface="Cambria"/>
              <a:ea typeface="Cambria"/>
              <a:cs typeface="Cambria"/>
              <a:sym typeface="Cambria"/>
            </a:endParaRPr>
          </a:p>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600" u="none" strike="noStrike">
                <a:solidFill>
                  <a:srgbClr val="000000"/>
                </a:solidFill>
                <a:latin typeface="Arial Black"/>
                <a:ea typeface="Arial Black"/>
                <a:cs typeface="Arial Black"/>
                <a:sym typeface="Arial Black"/>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b="0" sz="1600">
              <a:solidFill>
                <a:schemeClr val="dk1"/>
              </a:solidFill>
              <a:latin typeface="Arial Black"/>
              <a:ea typeface="Arial Black"/>
              <a:cs typeface="Arial Black"/>
              <a:sym typeface="Arial Black"/>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69" name="Google Shape;69;p15"/>
          <p:cNvPicPr preferRelativeResize="0"/>
          <p:nvPr/>
        </p:nvPicPr>
        <p:blipFill rotWithShape="1">
          <a:blip r:embed="rId3">
            <a:alphaModFix/>
          </a:blip>
          <a:srcRect b="0" l="0" r="0" t="0"/>
          <a:stretch/>
        </p:blipFill>
        <p:spPr>
          <a:xfrm>
            <a:off x="107577" y="2451433"/>
            <a:ext cx="11921388" cy="429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nvSpPr>
        <p:spPr>
          <a:xfrm>
            <a:off x="1263869" y="182180"/>
            <a:ext cx="96642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chemeClr val="dk1"/>
                </a:solidFill>
                <a:latin typeface="Cambria"/>
                <a:ea typeface="Cambria"/>
                <a:cs typeface="Cambria"/>
                <a:sym typeface="Cambria"/>
              </a:rPr>
              <a:t>ABOUT THE IT TICKET ANALYSIS</a:t>
            </a:r>
            <a:endParaRPr>
              <a:latin typeface="Cambria"/>
              <a:ea typeface="Cambria"/>
              <a:cs typeface="Cambria"/>
              <a:sym typeface="Cambria"/>
            </a:endParaRPr>
          </a:p>
        </p:txBody>
      </p:sp>
      <p:sp>
        <p:nvSpPr>
          <p:cNvPr id="75" name="Google Shape;75;p16"/>
          <p:cNvSpPr txBox="1"/>
          <p:nvPr/>
        </p:nvSpPr>
        <p:spPr>
          <a:xfrm>
            <a:off x="315310" y="1277007"/>
            <a:ext cx="6227400" cy="572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IT ticket analysis focuses on streamlining and optimizing IT services to the employees.</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lang="en-US" sz="2000" u="sng">
                <a:solidFill>
                  <a:schemeClr val="accent2"/>
                </a:solidFill>
                <a:latin typeface="Arial Black"/>
                <a:ea typeface="Arial Black"/>
                <a:cs typeface="Arial Black"/>
                <a:sym typeface="Arial Black"/>
              </a:rPr>
              <a:t>Key Objectives </a:t>
            </a:r>
            <a:r>
              <a:rPr lang="en-US" sz="1600" u="sng">
                <a:solidFill>
                  <a:schemeClr val="accent2"/>
                </a:solidFill>
                <a:latin typeface="Arial Black"/>
                <a:ea typeface="Arial Black"/>
                <a:cs typeface="Arial Black"/>
                <a:sym typeface="Arial Black"/>
              </a:rPr>
              <a:t>:</a:t>
            </a:r>
            <a:endParaRPr/>
          </a:p>
          <a:p>
            <a:pPr indent="0" lvl="0" marL="0" marR="0" rtl="0" algn="l">
              <a:spcBef>
                <a:spcPts val="0"/>
              </a:spcBef>
              <a:spcAft>
                <a:spcPts val="0"/>
              </a:spcAft>
              <a:buNone/>
            </a:pPr>
            <a:r>
              <a:t/>
            </a:r>
            <a:endParaRPr sz="2000" u="sng">
              <a:solidFill>
                <a:srgbClr val="C55A1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Ticket Categorization :</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      Analyze ticket types, priority levels and type   of issue involved</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Root Cause Analysis :</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      Identify recurring issues and propose long-term solutions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Performance Metrics :</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      Monitor resolution times, workload distribution and SLA compliance.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76" name="Google Shape;76;p16" title="data-analysis-design-concept-analysts-working-small-people-and-laptop-screen-with-data-analysis-graphs-ansd-charts-trendy-flat-style-vector-illust-P6NRG0.jpg"/>
          <p:cNvPicPr preferRelativeResize="0"/>
          <p:nvPr/>
        </p:nvPicPr>
        <p:blipFill rotWithShape="1">
          <a:blip r:embed="rId3">
            <a:alphaModFix/>
          </a:blip>
          <a:srcRect b="7680" l="0" r="0" t="0"/>
          <a:stretch/>
        </p:blipFill>
        <p:spPr>
          <a:xfrm>
            <a:off x="6684750" y="1284638"/>
            <a:ext cx="5344502" cy="42887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nvSpPr>
        <p:spPr>
          <a:xfrm>
            <a:off x="1424151" y="126124"/>
            <a:ext cx="96486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chemeClr val="dk1"/>
                </a:solidFill>
                <a:latin typeface="Cambria"/>
                <a:ea typeface="Cambria"/>
                <a:cs typeface="Cambria"/>
                <a:sym typeface="Cambria"/>
              </a:rPr>
              <a:t>DATA OVERVIEW</a:t>
            </a:r>
            <a:endParaRPr>
              <a:latin typeface="Cambria"/>
              <a:ea typeface="Cambria"/>
              <a:cs typeface="Cambria"/>
              <a:sym typeface="Cambria"/>
            </a:endParaRPr>
          </a:p>
        </p:txBody>
      </p:sp>
      <p:sp>
        <p:nvSpPr>
          <p:cNvPr id="82" name="Google Shape;82;p17"/>
          <p:cNvSpPr txBox="1"/>
          <p:nvPr/>
        </p:nvSpPr>
        <p:spPr>
          <a:xfrm>
            <a:off x="409903" y="1040524"/>
            <a:ext cx="7583100" cy="50487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Ticket ID : Unique identifier for each ticket</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Date : Date of creation of the ticket</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Agent ID : Unique identifier for agents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Employee ID : Unique identifier for employees who raised the ticket</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Priority : Levels such as Low, Medium, High</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Type : Such as Login Access or Login Request</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Category : Hardware, Software, System etc</a:t>
            </a:r>
            <a:endParaRPr sz="1600">
              <a:solidFill>
                <a:schemeClr val="dk1"/>
              </a:solidFill>
              <a:latin typeface="Arial Black"/>
              <a:ea typeface="Arial Black"/>
              <a:cs typeface="Arial Black"/>
              <a:sym typeface="Arial Black"/>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Resolution time : Time taken to resolve the issue</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Satisfaction Rating : Ratings given by employees based on their satisfaction level</a:t>
            </a:r>
            <a:endParaRPr/>
          </a:p>
          <a:p>
            <a:pPr indent="-342900" lvl="0" marL="457200" marR="0" rtl="0" algn="l">
              <a:spcBef>
                <a:spcPts val="0"/>
              </a:spcBef>
              <a:spcAft>
                <a:spcPts val="0"/>
              </a:spcAft>
              <a:buClr>
                <a:schemeClr val="dk1"/>
              </a:buClr>
              <a:buSzPts val="1800"/>
              <a:buFont typeface="Calibri"/>
              <a:buChar char="❑"/>
            </a:pPr>
            <a:r>
              <a:t/>
            </a:r>
            <a:endParaRPr sz="1800">
              <a:solidFill>
                <a:schemeClr val="dk1"/>
              </a:solidFill>
              <a:latin typeface="Calibri"/>
              <a:ea typeface="Calibri"/>
              <a:cs typeface="Calibri"/>
              <a:sym typeface="Calibri"/>
            </a:endParaRPr>
          </a:p>
        </p:txBody>
      </p:sp>
      <p:pic>
        <p:nvPicPr>
          <p:cNvPr id="83" name="Google Shape;83;p17" title="data-analysis-and-graph-icons-illustrating-business-growth-financial-statistics-and-analytical-progress-vector.jpg"/>
          <p:cNvPicPr preferRelativeResize="0"/>
          <p:nvPr/>
        </p:nvPicPr>
        <p:blipFill>
          <a:blip r:embed="rId3">
            <a:alphaModFix/>
          </a:blip>
          <a:stretch>
            <a:fillRect/>
          </a:stretch>
        </p:blipFill>
        <p:spPr>
          <a:xfrm>
            <a:off x="8103978" y="1984524"/>
            <a:ext cx="3894199" cy="28889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915486" y="82095"/>
            <a:ext cx="10499700" cy="8342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chemeClr val="dk1"/>
                </a:solidFill>
                <a:latin typeface="Cambria"/>
                <a:ea typeface="Cambria"/>
                <a:cs typeface="Cambria"/>
                <a:sym typeface="Cambria"/>
              </a:rPr>
              <a:t>Data cleaning steps undertaken :</a:t>
            </a:r>
            <a:endParaRPr>
              <a:latin typeface="Cambria"/>
              <a:ea typeface="Cambria"/>
              <a:cs typeface="Cambria"/>
              <a:sym typeface="Cambria"/>
            </a:endParaRPr>
          </a:p>
          <a:p>
            <a:pPr indent="0" lvl="0" marL="0" marR="0" rtl="0" algn="ctr">
              <a:spcBef>
                <a:spcPts val="0"/>
              </a:spcBef>
              <a:spcAft>
                <a:spcPts val="0"/>
              </a:spcAft>
              <a:buNone/>
            </a:pPr>
            <a:r>
              <a:t/>
            </a:r>
            <a:endParaRPr b="1" sz="3200">
              <a:solidFill>
                <a:schemeClr val="dk1"/>
              </a:solidFill>
              <a:latin typeface="Jacques Francois Shadow"/>
              <a:ea typeface="Jacques Francois Shadow"/>
              <a:cs typeface="Jacques Francois Shadow"/>
              <a:sym typeface="Jacques Francois Shadow"/>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Changed the format of date column to YYYY-MMM-DD format in the tickets sheet.</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Make a Year, Month, Day and Month-Year column from Fecha.</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Fetch Agent Name from IT Agents to Ticket Sheet.</a:t>
            </a:r>
            <a:endParaRPr/>
          </a:p>
          <a:p>
            <a:pPr indent="0" lvl="0" marL="457200" marR="0" rtl="0" algn="l">
              <a:spcBef>
                <a:spcPts val="0"/>
              </a:spcBef>
              <a:spcAft>
                <a:spcPts val="0"/>
              </a:spcAft>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Make a SeverityNum column to get only numeric values from Severity.</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Used the date function to obtain the DOB of agents in IT agents sheet.</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Calculated the age of the employees in IT agents sheet</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Extract domain name from Email in IT Agent Sheet</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Found for duplicate entries, but no duplicates values found.</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Arial Black"/>
                <a:ea typeface="Arial Black"/>
                <a:cs typeface="Arial Black"/>
                <a:sym typeface="Arial Black"/>
              </a:rPr>
              <a:t>Only wrong values were there in Severity column which corrected by Find and Replace method.</a:t>
            </a:r>
            <a:endParaRPr/>
          </a:p>
          <a:p>
            <a:pPr indent="0" lvl="0" marL="0" marR="0" rtl="0" algn="l">
              <a:spcBef>
                <a:spcPts val="0"/>
              </a:spcBef>
              <a:spcAft>
                <a:spcPts val="0"/>
              </a:spcAft>
              <a:buNone/>
            </a:pPr>
            <a:r>
              <a:t/>
            </a:r>
            <a:endParaRPr sz="1800">
              <a:solidFill>
                <a:schemeClr val="dk1"/>
              </a:solidFill>
              <a:latin typeface="Arial Black"/>
              <a:ea typeface="Arial Black"/>
              <a:cs typeface="Arial Black"/>
              <a:sym typeface="Arial Black"/>
            </a:endParaRPr>
          </a:p>
          <a:p>
            <a:pPr indent="-228600" lvl="0" marL="34290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a:p>
            <a:pPr indent="-228600" lvl="0" marL="34290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lang="en-US" sz="1800">
                <a:solidFill>
                  <a:schemeClr val="dk1"/>
                </a:solidFill>
                <a:latin typeface="Arial Black"/>
                <a:ea typeface="Arial Black"/>
                <a:cs typeface="Arial Black"/>
                <a:sym typeface="Arial Black"/>
              </a:rPr>
              <a:t>    </a:t>
            </a:r>
            <a:endParaRPr sz="1800">
              <a:solidFill>
                <a:schemeClr val="dk1"/>
              </a:solidFill>
              <a:latin typeface="Arial Black"/>
              <a:ea typeface="Arial Black"/>
              <a:cs typeface="Arial Black"/>
              <a:sym typeface="Arial Black"/>
            </a:endParaRPr>
          </a:p>
          <a:p>
            <a:pPr indent="-228600" lvl="0" marL="34290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a:p>
            <a:pPr indent="-228600" lvl="0" marL="34290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p:txBody>
      </p:sp>
      <p:pic>
        <p:nvPicPr>
          <p:cNvPr id="89" name="Google Shape;89;p18" title="download.png"/>
          <p:cNvPicPr preferRelativeResize="0"/>
          <p:nvPr/>
        </p:nvPicPr>
        <p:blipFill>
          <a:blip r:embed="rId3">
            <a:alphaModFix/>
          </a:blip>
          <a:stretch>
            <a:fillRect/>
          </a:stretch>
        </p:blipFill>
        <p:spPr>
          <a:xfrm>
            <a:off x="9229713" y="1787800"/>
            <a:ext cx="2962275" cy="1543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nvSpPr>
        <p:spPr>
          <a:xfrm>
            <a:off x="1497724" y="220717"/>
            <a:ext cx="944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chemeClr val="dk1"/>
                </a:solidFill>
                <a:latin typeface="Cambria"/>
                <a:ea typeface="Cambria"/>
                <a:cs typeface="Cambria"/>
                <a:sym typeface="Cambria"/>
              </a:rPr>
              <a:t>DATA ANALYTICAL APPROACH</a:t>
            </a:r>
            <a:endParaRPr>
              <a:latin typeface="Cambria"/>
              <a:ea typeface="Cambria"/>
              <a:cs typeface="Cambria"/>
              <a:sym typeface="Cambria"/>
            </a:endParaRPr>
          </a:p>
        </p:txBody>
      </p:sp>
      <p:sp>
        <p:nvSpPr>
          <p:cNvPr id="95" name="Google Shape;95;p19"/>
          <p:cNvSpPr txBox="1"/>
          <p:nvPr/>
        </p:nvSpPr>
        <p:spPr>
          <a:xfrm>
            <a:off x="3696501" y="1911054"/>
            <a:ext cx="8392510" cy="378565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Data cleaning : Used remove duplicates and find and replace to clean the data</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Data enrichment : Used VLOOKUP to extract the agents name from the other sheet, using AVERAGE function calculated the average age of employees and also DATE function to format the date</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Descriptive Analysis : Employed Pivot tables for summarizing key metrics and identifying patterns </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Trend Analysis : Conducted time series analysis using various types chart to understand the performance of IT agents over time</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Visualization : Created dynamic charts and dashboards for data representation, enabling interactive data exploration</a:t>
            </a:r>
            <a:endParaRPr/>
          </a:p>
        </p:txBody>
      </p:sp>
      <p:pic>
        <p:nvPicPr>
          <p:cNvPr id="96" name="Google Shape;96;p19" title="Y7HqE6pQ.jpeg"/>
          <p:cNvPicPr preferRelativeResize="0"/>
          <p:nvPr/>
        </p:nvPicPr>
        <p:blipFill>
          <a:blip r:embed="rId3">
            <a:alphaModFix/>
          </a:blip>
          <a:stretch>
            <a:fillRect/>
          </a:stretch>
        </p:blipFill>
        <p:spPr>
          <a:xfrm>
            <a:off x="152400" y="1713267"/>
            <a:ext cx="3391700" cy="1907831"/>
          </a:xfrm>
          <a:prstGeom prst="rect">
            <a:avLst/>
          </a:prstGeom>
          <a:noFill/>
          <a:ln>
            <a:noFill/>
          </a:ln>
        </p:spPr>
      </p:pic>
      <p:pic>
        <p:nvPicPr>
          <p:cNvPr id="97" name="Google Shape;97;p19" title="HubSpot-CRM-Data-Cleansing-feature.jpg"/>
          <p:cNvPicPr preferRelativeResize="0"/>
          <p:nvPr/>
        </p:nvPicPr>
        <p:blipFill>
          <a:blip r:embed="rId4">
            <a:alphaModFix/>
          </a:blip>
          <a:stretch>
            <a:fillRect/>
          </a:stretch>
        </p:blipFill>
        <p:spPr>
          <a:xfrm>
            <a:off x="152400" y="4084123"/>
            <a:ext cx="3391702" cy="21417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nvSpPr>
        <p:spPr>
          <a:xfrm>
            <a:off x="460380" y="3988593"/>
            <a:ext cx="11061300" cy="295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sng">
                <a:solidFill>
                  <a:srgbClr val="FF0000"/>
                </a:solidFill>
                <a:latin typeface="Arial Black"/>
                <a:ea typeface="Arial Black"/>
                <a:cs typeface="Arial Black"/>
                <a:sym typeface="Arial Black"/>
              </a:rPr>
              <a:t>INSIGHTS :</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Steady growth in ticket volume over the past 5 years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A significant jump in </a:t>
            </a:r>
            <a:r>
              <a:rPr b="1" lang="en-US" sz="1600">
                <a:solidFill>
                  <a:schemeClr val="dk1"/>
                </a:solidFill>
                <a:latin typeface="Arial Black"/>
                <a:ea typeface="Arial Black"/>
                <a:cs typeface="Arial Black"/>
                <a:sym typeface="Arial Black"/>
              </a:rPr>
              <a:t>2020</a:t>
            </a:r>
            <a:r>
              <a:rPr lang="en-US" sz="1600">
                <a:solidFill>
                  <a:schemeClr val="dk1"/>
                </a:solidFill>
                <a:latin typeface="Arial Black"/>
                <a:ea typeface="Arial Black"/>
                <a:cs typeface="Arial Black"/>
                <a:sym typeface="Arial Black"/>
              </a:rPr>
              <a:t>, possibly due to external factors like remote work shifts during the pandemic.</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b="1" lang="en-US" sz="1600">
                <a:solidFill>
                  <a:schemeClr val="dk1"/>
                </a:solidFill>
                <a:latin typeface="Arial Black"/>
                <a:ea typeface="Arial Black"/>
                <a:cs typeface="Arial Black"/>
                <a:sym typeface="Arial Black"/>
              </a:rPr>
              <a:t>The Chart is </a:t>
            </a:r>
            <a:r>
              <a:rPr b="1" lang="en-US" sz="1600">
                <a:solidFill>
                  <a:schemeClr val="dk1"/>
                </a:solidFill>
                <a:latin typeface="Arial Black"/>
                <a:ea typeface="Arial Black"/>
                <a:cs typeface="Arial Black"/>
                <a:sym typeface="Arial Black"/>
              </a:rPr>
              <a:t>showing Year wise</a:t>
            </a:r>
            <a:r>
              <a:rPr b="1" lang="en-US" sz="1600">
                <a:solidFill>
                  <a:schemeClr val="dk1"/>
                </a:solidFill>
                <a:latin typeface="Arial Black"/>
                <a:ea typeface="Arial Black"/>
                <a:cs typeface="Arial Black"/>
                <a:sym typeface="Arial Black"/>
              </a:rPr>
              <a:t> growth</a:t>
            </a:r>
            <a:r>
              <a:rPr lang="en-US" sz="1600">
                <a:solidFill>
                  <a:schemeClr val="dk1"/>
                </a:solidFill>
                <a:latin typeface="Arial Black"/>
                <a:ea typeface="Arial Black"/>
                <a:cs typeface="Arial Black"/>
                <a:sym typeface="Arial Black"/>
              </a:rPr>
              <a:t> pe</a:t>
            </a:r>
            <a:r>
              <a:rPr lang="en-US" sz="1600">
                <a:solidFill>
                  <a:schemeClr val="dk1"/>
                </a:solidFill>
                <a:latin typeface="Arial Black"/>
                <a:ea typeface="Arial Black"/>
                <a:cs typeface="Arial Black"/>
                <a:sym typeface="Arial Black"/>
              </a:rPr>
              <a:t>aks at </a:t>
            </a:r>
            <a:r>
              <a:rPr b="1" lang="en-US" sz="1600">
                <a:solidFill>
                  <a:schemeClr val="dk1"/>
                </a:solidFill>
                <a:latin typeface="Arial Black"/>
                <a:ea typeface="Arial Black"/>
                <a:cs typeface="Arial Black"/>
                <a:sym typeface="Arial Black"/>
              </a:rPr>
              <a:t>29088 tickets in 2020</a:t>
            </a:r>
            <a:r>
              <a:rPr lang="en-US" sz="1600">
                <a:solidFill>
                  <a:schemeClr val="dk1"/>
                </a:solidFill>
                <a:latin typeface="Arial Black"/>
                <a:ea typeface="Arial Black"/>
                <a:cs typeface="Arial Black"/>
                <a:sym typeface="Arial Black"/>
              </a:rPr>
              <a:t>, indicating a larger-than-usual spike.</a:t>
            </a:r>
            <a:endParaRPr/>
          </a:p>
          <a:p>
            <a:pPr indent="0" lvl="0" marL="45720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Consider </a:t>
            </a:r>
            <a:r>
              <a:rPr b="1" lang="en-US" sz="1600">
                <a:solidFill>
                  <a:schemeClr val="dk1"/>
                </a:solidFill>
                <a:latin typeface="Arial Black"/>
                <a:ea typeface="Arial Black"/>
                <a:cs typeface="Arial Black"/>
                <a:sym typeface="Arial Black"/>
              </a:rPr>
              <a:t>forecasting future volumes</a:t>
            </a:r>
            <a:r>
              <a:rPr lang="en-US" sz="1600">
                <a:solidFill>
                  <a:schemeClr val="dk1"/>
                </a:solidFill>
                <a:latin typeface="Arial Black"/>
                <a:ea typeface="Arial Black"/>
                <a:cs typeface="Arial Black"/>
                <a:sym typeface="Arial Black"/>
              </a:rPr>
              <a:t> and planning resources accordingly</a:t>
            </a:r>
            <a:endParaRPr/>
          </a:p>
        </p:txBody>
      </p:sp>
      <p:sp>
        <p:nvSpPr>
          <p:cNvPr id="103" name="Google Shape;103;p20"/>
          <p:cNvSpPr txBox="1"/>
          <p:nvPr/>
        </p:nvSpPr>
        <p:spPr>
          <a:xfrm>
            <a:off x="1504335" y="-12002"/>
            <a:ext cx="84657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chemeClr val="dk1"/>
                </a:solidFill>
                <a:latin typeface="Cambria"/>
                <a:ea typeface="Cambria"/>
                <a:cs typeface="Cambria"/>
                <a:sym typeface="Cambria"/>
              </a:rPr>
              <a:t>VOLUME OF TICKETS OVER YEAR</a:t>
            </a:r>
            <a:endParaRPr b="1" sz="2800" u="sng">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800" u="sng">
              <a:solidFill>
                <a:schemeClr val="dk1"/>
              </a:solidFill>
              <a:latin typeface="Cambria"/>
              <a:ea typeface="Cambria"/>
              <a:cs typeface="Cambria"/>
              <a:sym typeface="Cambria"/>
            </a:endParaRPr>
          </a:p>
        </p:txBody>
      </p:sp>
      <p:sp>
        <p:nvSpPr>
          <p:cNvPr descr="data:image/png;base64,iVBORw0KGgoAAAANSUhEUgAAA8AAAAKMCAYAAAAkO9E4AAAQAElEQVR4Aex9BYBdxdX/ebtJyD7ZuCshbgR3K6VoW6AUqpT6V6Pt969R14+2VKlCW0qhglPcLRBIQoLGE5LduGfjurv/+3u7sztz3r1P77t6kp13be7cOb87d+bYnKlp3TGnVZJgIG1A2oC0AWkD0gakDUgbkDYgbUDagLQBaQNRbwM1FOt/QrwgIAgIAoKAICAICAKCgCAgCAgCgkBcEBABOC5v2o5OOScICAKCgCAgCAgCgoAgIAgIAoJAjBAQAThGL1tINRGQI0FAEBAEBAFBQBAQBAQBQUAQiBcCIgDH630LtYKAQkC2goAgIAgIAoKAICAICAKCQOwQEAE4dq9cCBYEBAEiwUAQEAQEAUFAEBAEBAFBII4IiAAcx7cuNAsCgkC8ERDqBQFBQBAQBAQBQUAQiCkCIgDH9MUL2YKAICAIxBUBoVsQEAQEAUFAEBAE4ouACMDxffdCuSAgCAgCgkD8EBCKBQFBQBAQBASBWCMgAnCsX78QLwgIAoKAICAIxAkBoVUQEAQEAUEg7giIABz3FiD0CwKCgCAgCAgCgkA8EBAqBQFBQBAQBEgEYGkEgoAgIAgIAoKAICAICAKRR0AIFAQEAUEACIgADBQkCQKCgCAgCAgCgoAgIAgIAtFFQCgTBASBdgREAG4HQjaCgCAgCAgCgoAgIAgIAoKAIBBFBIQmQaATARGAO7GQPUFAEBAEBAFBQBAQBAQBQUAQEASihYBQYyAgArABhxwIAoKAICAICAKCgCAgCAgCgoAgIAhEBQFOhwjAHBE5FgQEAUFAEBAEBAFBQBAQBAQBQUAQiCQCMROAI/kOhShBQBAQBAQBQUAQEAQEAUFAEBAEBIEiEBABuAiQIpNFCBEEBAFBQBAQBAQBQUAQEAQEAUEgxgiIABzjlx830oVeQUAQEAQEAUFAEBAEBAFBQBCINwIiAMf7/Qv18UFAKBUEBAFBQBAQBAQBQUAQEARij4AIwLFvAgKAIBAHBIRGQUAQEAQEAUFAEBAEBAFBgEgEYGkFgoAgIAhEHQGhTxAQBAQBQUAQEAQEAUEgi4AIwFkY5EcQEAQEAUEgqggIXYKAICAICAKCgCAgCCgERABWSMhWEBAEBAFBQBCIHgJCkSAgCAgCgoAgIAhoCIgArIEhu4KAICAICAKCgCAQJQSEFkFAEBAEBAFBwERABGATDzkSBAQBQUAQEAQEAUEgGggIFYKAICAICAI5CIgAnAOJnBAEBAFBQBAQBAQBQUAQCDsCUn9BQBAQBOwQEAHYDhU5JwgIAoKAICAICAKCgCAgCIQXAam5ICAIOCAgArADMHJaEBAEBAFBQBAQBAQBQUAQEATCiIDUWRBwRkAEYGds5IogIAgIAoKAICAICAKCgCAgCAgC4UJAapsXARGA88IjFwUBQUAQEAQEAUFAEBAEBAFBQBAQBMKCQKF6igBcCCG5LggIAoKAICAICAKCgCAgCAgCgoAgEAkEIi4AR+IdCRGCgCAgCAgCgoAgIAgIAoKAICAICAIuICACsAsgBrYIqZggIAgIAoKAICAICAKCgCAgCAgCgkAHAiIAd0AhO1FDQOgRBAQBQUAQEAQEAUFAEBAEBAFBQEcgUALwRz79PUrUH1tUGjTmXFresEanJWd/7msLKTXg1KLKw3N/9ut/5JQRxxOtra00fcYr9MWv/YJ27d7jCMG69ZtpxMSLHPE984JP5b3fsWCbC4WehXogj82tgTqFOqKuaG9VTsTxR/vO90xc9wusQt8qp8Wverr13AWLltMnPv8j2rBxq1tF0g033eP4Lar3ft4lX6C9e/cX/Uz0BR/9zA/yllvT4zh69MkXiy6z0owPPDI9b30wjlT6DLnfewT87Bu9pzbaT8Q3qPocuy2+4WgjINQJAoJA0BEIlABcClhgHJevyC8Az3llIe3Zu6+UYmOdF8zurDnz6ISzPkJnnP8pen3ekljjIcSHGYFg1n3x0kZ69/v+lyYdfzk98fQsamlpca2i7zj7RBoyuH/e8l5+ZT41rFybN49+ce26TfTM9Dn6qZz9Y6ZNoBOOnZxzXk4IAoKAICAICAKCgCAQRARCKwBDWHvmeWfGDNdnvvxmEDEPZJ1gkTr34s/TiW+7il5+ZUEg6yiVEgTCisDqNRsJltTxx7yH7n94elXIGDl8EJ1z1gltZTv8bt22g6bPeNXhau7phYsbaOXq9bkXtDMXnncq9epZr52RXUFAEBAEBAFBQBAQBIKLQGgFYEAKa+XuPXuxm5O2bN1Os+fOzzkvJ0wEDIvUM7PMi3IkCAgCFSEAt87PfPlaGjbhArr5Xw9UVFahmxOJBF3xnnMokUjkzfrEMzPp0KHmvHnUxfsffo6gTFTHfJus607vPP80ftr3Y6mAICAICAKCgCAgCAgCTgiEWgCev/Atxzl0KxrX0orG/C7STqDE5fzrby6h4874cNUsUnHBUegUBOwQwDSNU9/xcfrz3+62u1yVc8ceNZEmjDs8b9kzX55Hq9ZsyJsHF7c17aCXZuf3ojnt5KNo4rhRyC4pOAhITQQBQUAQEAQEAUEgDwKhFoDXb9hCsGDa0ffKa4tKCvZiV0bUzx1qbqbmZvfmIEYdr7DT9/Uvf4Rad8xxTLgedhqDVH/M7y3W0upWvfv26UnvveTteYtbs3YjvTl/Wd48uLhoSQO9MX8pdh3TRZb1t67uMMfrckEQ8B4BeaIgIAgIAoKAIJAfgVALwCDthZdew8ZIcNmbPuMV45wcCAKCgCAQBwTOPftE6tata15S733gmbyuzbh5+oxX6cCBg9i1TQMH9KEL3nGK7TU5KQgIAj4hII8VBAQBQUAQKIhAaATgKZNG2xIzY+ZrOUvtYP7va28uycnfpUst9eyRyTkvJwQBrxAYNLAvNS540NEKCwvt2iWP0vChA/NW6YxTj6ad66bnLefZh2+kdCqZtxy5GD0Epk0ZR2eddmxewhAgcOOmbY55sFRSoejPZ552TMF26vgAuSAIMASkb2SAyGFZCMhNgoAgIAgUg0BoBODJE46g3r1yI43CBZozck7zfyFUHHXkuGJwKZhn1eoN9Mvf/TMbNbn38LcZ61J263MiIdrrF7/2CwKjefDgoYLlIQPWYbVbMw/n9HVQ4bb84qw36H0f/Sbpz67teXx2CaN/3/moo/s3gvKMmHhRtr7Hnv7hvMtEPffCK5QZdHo2L+qQGnAqYb1W1LXUBKUE8Jp2ygcI+KA8pAFHvIP+50v/5+jKXupzVP7b7nq8o954Dk8jJ72T4Aqq8vPtwsUrqM8I873qZbz/Y98sOpAQL9uv45/9+h95McH1YuqG9ocAdP97za8I71Nvgwqj/qPOyX4bP//NLbRk2cqC1sZinsvz4Lv6/rU35qUJ9Tli6rsJ75Pfr47zfcu4f/DY8+jt7/ps9nvHEkLwMFH38u2u3Xuy6y+r+/JFUMY1lI28KrmxPiZcki9551m8asYx+s18btCgE0smGTexg/dfdh5BqchOG4f5sEU/UE4/aTygyAPgqjC222LdUruiyrkP35HdM3BO78fRflE+1mZODzytox0DlxPfdhXd9d+nCHl4vdCHf/tHf6TRR17ccQ/KxvH3/u8GQl/L7yl0jOc8/vRMuup/vk+HT34XYSxBmSqhfnhXn/7i/2XXfN6370ChIkNxHeMZxjVFp77FeVwHITNmvk6Yz69wwTtC3/fDn/6Ftu/YhSy2KV/7x7Pw/Rfbt6gHoE6oG+7nCedxXeXF8+3aCsY/nEdbUnkLbdHvYbUIjNdDxp3f0faAydST3kfo60spr9Dz5HpZCMhNgoAgUCQCoRGARx0+hOyswJgHPG/BWwa5TvN/IfwO6N/byFvqAQaAk87+KA2feCF95Vu/IQgC25p2GMWAmQCDef2fbyPk7TvybPrdDbc7CqXGzQUOIEycdPZVdMo5H6Pb736c9GdjziEiX3/w49+mo0/7YF6mv8BjXLu8f/9Buu63t9CgMedm8ULgLeCjHrBx01a64aZ7sgqDH//8b7YMn8pbyvas04+l8WNHOt4C4QNLvDhleOX1RYQlY5yuv/uCMwsy/073hvU8GKC773uaRk15V1a4/fUf/k14n3obVLRt2rwt+218/bvX07ijL822x+kzXnFNEEZd8PwfWAKweqbddtTIIfTgnb+xDQxVzLeMMsHUPfXs7Gz7hXCAb8tNWvAMt1OhNYGBHyI8Oz13+oxX87Z/fFv51v4tBlv0A9XqJ53oCsr5N+YtJQgN77rif+mxp14ifTUD4IJx5b1Xfp3Of8/VhDEO9cZ5CBlDx19AP7nuJnprxWqc7kg4hkA2fMKF2cCGeMcdFx12YOlH/9xj6Bl07sWfp3/8+0GC8gNjiX4L6od3dePf76HzL72a6oecTl/99m9px87derZI7qPPO/28TxKEYIUL3gX6Piiiu3XNnW5QTPsHWNXqW/C+rv7qdVk+xa6tNK5al21DIyZdRLf856GC/TLGwiuuuia7fjnGa6wPjvojARMo09DXozy0p/0HnKdO4B5JgkB1EJBSBYHiEQiNAJxJp+iUE6fZUvaktnwPgs5gmQ+7jOecdSLZDVZ2efk5WL1++6f/0JQT35e16vLr+Y7BJGAwwiAK5iJf3nzXMACfcNZH6OVXFuTLlr2GADaXfvCrtHrNxuyxHz+btzRZVupr6Gvfub4owfY7P/4TQWngRl2h6LjiPe9wLArMoZMAgGtPPjPb8V4w/xCwHTNE8AIYqo999od02Ye/VnBdWDvyX3tjCZ1x/qcsZcitrgReu+f+Z+ia7//e7lEd55yE30q+ZRSuaPnG935XVLvGPV6nYUMG0Gkn2/eXqi6I8GynvMjXh6p7zz7zeOrfr5c67NhWgq1b/WRHZQK68+AjL2QVo+ijC1XxKUvx8qFPfifrrYLvD0IGBI589+3Zu48u+cBX6Enr3nz5MBZhTEL/DEE4X15+DQLgL66/lY4+9YOE74Ffj8rxnFcW0ic+/yNywvyqD76T4HGh6K2k/aMMYIl+spK+BR4A77z8y1mlO8rMl/AeP/qZH9ADjzzvmA08xLmWcuTOe590zKMuoDy0Jyjn1TnZCgKCgEcIyGNKQiA0AjCocrI4IFIpXA+Rp2n7Tsvy2YBdI8FVb9KE8pbrgEAE990vff2XjgOh8TCHgzmvLqB3vPvz1GhpXx2yOJ7G0iUXvfdLBPocM7ELYLD+est/2VnvDucvXE75BEm7msCqBxd2u2ulnrvs3WdTvjnfTgIAGAhY0p2e58T8O+UP+3m4+ME18uZ/PVAxKWDg8S3hmyq3MLybfEwpynUSfvFcPL/SbxnPgDXu6q9dF0ghGP3dRz5wESUSCVTVNr325mLCN8ovYokk9Df8vDpG2e+zlEuJhFm2W9hW0k+qOgZ1C1w//Knv5J16wuv+lCXIHnvGh+mftz/MLzkeQ2D7zo/+5OieizEIYxGwdiykiAuwOp/z7s9SPuocvAAAEABJREFUpeUU8SjPsxw4eJC++5M/O465XBHqVvsHoeX2LXv37adLP/BVKjR/H89QCW3l/35xk21bgWLkM1++NpLvV9EvW0FAEIgGAqVSESoBePLEIwiRRzmRcL/BXBech9C3ZFkjdo00dvSIvC6xRmZ2UIy1id3ieLj0rZX08c/9yHawcbzJurB//4Gy5pxCawtLrFVEKP4wL/fxp2a6UlcwKOedc5JjWU4CgFMbQkFOzD+uRTGBqfvF9bdm5yO6RR/cliHEllNeo6U8+tAnvuPIlKLMMUcMp8f++3tbt2dYOq4pYDlGGcWmG/9+Lz3yxIvFZvc031FTx9O4MSMcnwlLL7xKeAb0p/gO+Xl1fMy0CbbTUYLQT6o6BnVbbj+u3KBLoQtzQfEu+T1QFn/y8z8mjEX8WjnHGF+++f0/5ASjLKesIN2D7wNTdJzqBA8jeBqp60HoW9Bfw1tH1anYLfrjl+fmepbd99Bz9OCjztbhYsuXfIKAICAIBA2BUAnAGGwmTTgiB0PMT2kLckNZiwYGLp5pwriRea2BPL86hmANdyRoSdU5vsVSIPNn30Et21+mXeufp//73ueopsYZWmj0/3PnY7yYqhw3NK4ty+JclcoUWeiLs14vMmf+bBBW81nB0E7sBACcwzW70o9xYP7t8kbhHOZC/+p3/8pLChQNiDh9YMvM7Dew9LV76V0XnO54D1w0f/zzv5U8J76paVdWeZSPcYfw+/Ddv6XRo4blPB/M7Dd/8Pu8Xhz/8/H30Ip592fpwPeMfZzLKaz9BPoFJ+tJexbfNugvwaTnq8AjT8wwBBcw0AiGlO8eBNjqUZ82soS9nzSIicgB+rDZc+fnUPPP2x6hJ7RpQzzDEYcPpbv/+XPau/HFbJR5bHGM8zyvOkZ5cO1Wx1HfwrMIHkaKzrD3LfjuoTBR9GAL628hr59hQwfQ4/f9gQ5tm01Nq5+l71/zKdwqSRAQBASBwCPgLKUFsOqpZB05uUE/+/zcrIX0iWfsrYeY/wuBqFSy7nv4OVq2fJXjbXCH/fdNP6GJ40dl3Q1Rx2v+30fpHzd83/EeXMDAAtdS7JeSpk0dS6+/+J8sg7654Sn6zCcu67zdZg/Chh6wYpC2DM+c6bdSsq67zV1tp/hSO7s3vEAQANuuFvcLRQAUAlAMYJDEYIlBM9/dsPLBSpEvT7HXTjp+Kh1/zCTH7FwA2LfvAE2f8Ypj/vPOOZk48++YOQIX/vGvB/O6ax45ZSw9cd8fCW2la9cu2W8Awudtf7+WLjrvNEcEnn7uZVqweLnjdX4B7+X/fevX9NSzznOz8wm/KO/p5+ZkFWTYt0top3/81Tdo5PDBWToSiUR2H+e+/bWP292SPQch4+V26wmWnYIyoJjlrBCVHkteIa9K7zzfWXGQfViJP+eefSJ169bV8a7X31xKDY3rOq7D/T+f+yQY/wvPPbUjv9oJWj+p6hXULfolpTRd/ub9dNrJRxWsqt6XQtl04/XfyqtoRYEIxoStShhzMPaoY74dNXIIPfnAH+nSd72Nunfvlr2MLY4fvfd3hPEje9Lm59bbHiJ8pzaXQn8KCj28JyjF1ix+hO645acExZ8izIu+RT2rmC3G9Vv/8kNCO0HCPs7lu5e3FcwRzxcJHv3Kv/76YzrnrBOotrYmOy5+9xufzBoA8j1HrgkCgoAgEAQEQiUAA7CzTjs2y5xiX0+YzwnL0KuvL9ZPZ/fr6g6jo6eNz+6X8gMh7K7/Ogd+6NKllqDxtBOIwMg6Ceuow9zXFpKdexquOSUwJ/f++xc0dfKYLAZ9evega7//eUelgFM5Xp7/8Xc+Q9/436sIigEMkhgsf/7DL1alCnaF4t186H0X2F3KnuMCwNr1mwhWz+xF9gPmX9f6s8uRO9zWtIPwXTkRlkgk6Kc/+DwNHdI/Jwu+uc996r3Z9452e/ml5xCYI7TfJa/eQ2uWPFKSMgVRce+454mc56gTaFvXX/cVW8sv8sDCgWi72LdLmFoBa2kiYc5rRd5EIkEXX3Smo7IIZT/z/BxkDVyaNmUcoc90qhhiCsDjQV3P5/6PPOjTuCUwaP0k6hnkhO/h3zf9uENpeviIwQQlC/qXfPX+wqev6OhLoWz6xEcupm9+5aP5bsmZnw5lbr5x532XnZtV+tgVivd+7tnOU0rQb6L/tLs3zOeOO3oi3fTH7xHeUyKRoMGD+mWFPoz/oAvff5D6lkQiYdX3u/ShKy4gtBMk7H/1S1eiukUntBV41zndgH7l2KMmGpcTiQShDQ0ZnDsmGBnlQBAQBAQBnxEInQCM5ZDg2sdxW96wmp574RXbCLWHjxiSHbz4PYWON27alnd92nzziiF4wTrs9Ay4p9kFoHHKj/OIPAzrFPZVwnPyzfNT+fzYZtJJgnt4ImEKFWNGD3MUJqpRT1isnAZkLgBgSS2n+XZ2zH816ltmma7fBhzwXTkVDEZw8oTRTpfpvLefnJ0S8NYb99HtN19LP/jmp7OCJCy1hZh9x0IdLiD66k9/dbPhzqtnxXvGu9XP6fug9Yip76ZEvaVgs0nHnv7hvJbw195YHEjrFxQRF53vbIkHBoiGrix3mM+Mvgnn7dKH33+BEfUWeYLWT6JOQU52/fiQwf0clTegBcLWZRefnVV84hgpkUjk9W5BHp6g4IBXED+vjuHO7/QN1PQ4jvJZjzds3ErLV6xRRUVm+/ErLyYom50IClrfcrilUDnTMhTw+h5TohFgwaIVvAjj+JijJuT0BcgwaEBfOtJS0mNfkiAgCAgCQUUgdALw4IH96Ogjc6250FRi/Tk75m3alLF5BzCnlwML2I4du50uU7++PTvcxOwy1WdSdqc7zmHg7DgoYgdu1nbZnM7b5fXyXL++vWigNRjyZ+Id9u3Tk5+u2vHI4YMIFjynB8BtXrWbJ/PMjbNj/p3KjMJ5MMpKMLKjZ/SoodSzZ9rukg/nKKsA+++Dz9o+G3Rs3LTV9pobJxF45lDzITeKcr0MKKFg4XYqWFnu4B6bz8UcSqSTTzgyp5ig9ZM5FQzYCSiAeJVgpUuluvPTHccYS/IJYR0ZC+xgSZsCWcq+DEvo3n37yr4/iDdCiXvicZPzVi1ofcvhI4dQOl2XU2coLAu5QefclOcE2qTd5e7du5GX47tdHeScICAICAKFEAidAIzOddrUcbZ0LW+w1z6ffsrRhubc9uYQnBxzxLAQ1LKzipjrm4+p68xZ3b1EIkEfvPw8x7mQcAFduXo9gZF3cvl1Yv6rW3MpvVQEfnLdTb6sfY0gULt3+8j85wEKc43PPO0Yxxywfr80+41srIN87rGYvgBlkmNBcqFqCGBuec8emaqV71bBS99yjpfh1jO8LKdXz3rq36+3l4/MeVapfcuQQf2yU09yCpITgoAgIAgIAh0IhE4ARs0x9ySRMN1qcd4uQeN57NET7C7JuRghMG3KOMe5kBAA4B4LBcqCRfaBmU47eRoNGzIgRoiFk1S4eN7w97sJ1igvKYAHASJCe/nMYp8F99l80dBRDpY6mT7jVUc370QiQVe855zAKhJBQzXS2nWbq1FsZMs8eDCYXhDlAn74yMGUySTLvd2V+4Lct7hCoBQiCAgCgoAPCIRSAEb0RbjzFIPXyBGDacSwQcVkzckD7W99vbMb86bNTXnn/eVbSxMPswsehPOS3EcAcyGv+uA7HQu+94FnCJF84fbLMyUSCYIAAUGCX4vycZfa2mx0TycaC7V/rA965Mnvp8Fjz6O3v+uzdPVXr6N/3fEIzZ47n+CO3Nzc4lR03vO9e9Vng7s4Zfrz3+6mBYvM+WvwHMlnyYGFf9XCh7PLvqiIzKVsGxc8SIMG9nWqku/njyqwJvCTz8ymG/9+j2M9J4w7nHjAG5U5yv3k/IVvKTKDvC26boXGnJ9897NlfwP4Xr7+5Y8UXZeoZIxq31KorezYaT89DNNB1qzbFJXXK3QIAoJARBGoCSNdmF9SbJAFLIFT7typ/v16Ub4AU0uWNRIsTnYYYj4dGH27azgHyzQEeexL8gYBBJ9xwnz6jFfo7/+837YiaAMQIGwvRvgkhMJhQwc6Uoj2n89lds6rC7KRztet35xdvuh3N9xOH/rEd+iEsz5CA454B335G790LNvpwqQJo2ju8/+kz37ivU5ZCIL3D356oxEBN5NO0YjhzrRgqbB5C5c5lhn2CwgciKVsnOgAZk59Ge7BHHr0u9jnKQr95JsLlhGWgNJpwzIwDz32gn4q9PtQBudT5E2f8WrJ63P7D4q/NYhq31KorcyY+Zpt0EEEQ4ua4sjfFiZPFwQEgWogUFONQqtdJjSumNdbzHPeftbxZbvtYd6VXTRF9Vy4Jn3/2hsJwq46p7aPPvFi1tKljvl2yqTReaN+8vzVOB7Qrw/1sqxpTmXDQtfa6nQ1fOchBGCpG7uaw/3ZSWEBwQH32t0X5XNQHEGB5EQj2v9PfnGTbfuHMPHdH//Z0RU5kUjQBeee4lS07XlYIB+95/fZZVo+edUleQOt3H3f0/TsC3M7ygHTf9m7395xzHfgMv2L6/9pSwsC7L3tov+h3sPfRtNO+QB9/HM/pJ//5hZCwK2lb60kp2B26XSShg9zFrqbW1oI3xivS7WOLzrvVMd58PmeifU+ca9TnjD0k126dHGqfvY8ls+DhwLaLdrCG/OW0iUf+AqhX8hmiMgPxp1jpjlPCXrimVn08OMzcqgFJrff/TglB5xCQ8dfQBe///91eHQ8+/xcgtATNffnHBAcTvjRtxhVqdIBgrWNHjXMsfTnX3wtZ5k81U4wrcjxRrkgCAgCgkAAEAilAAzcMIgnEvnnAbthZYXrKyxheKZdQtTUKz/13WwAGXT+EIav/eXf6QMf/7Yj849yPv/pywlLGGHfr4S1U2trnJvAK68toldfX5SlA4wh3CSx5qdf9XXjuVjHt5RgMoWYfzfqFNQyEokEfeDy86gmTxtB+z/zgk/Ri7PeyApzEOhee2MJvf1dn6GXX1ngSNrppxxFp540zfE6vzBq5BC689afdqw5PHH84fTBy8/n2TqOMR/3J9f9zbBQvO2MYwkW5I5MbAe0vOuK/81arUEHGHqs73n8mVfSM9PnZIOkvf7mErrp1vvp69+9PisgjT3q0qw1+/kXX2WlkaV4o7wu5LA6P/vCnCxu+K6ee+EVgrWcqvQPws9Jx08puXTcg3vz3Rj0fnLwwL6UsRQS+Wj4952PUt+RZxOW+4HrPtpxvvxhvIYxJ99UEHw37//YN+n3N97RoQyCcHv1166j9330m1nrMKb23PfQc6Q8Os668NM0cPQ76IOf+LbhdRFGfMqts9d9S7n1LOW+/v16Ub6lHNFWLr/yG/SIpexHfwnX55/+6mb69o/+VMpjKs4rBQgCgoAgUA4CztJPOaV5eM+EcSMJ0U3zPRLLA42yGOd8eQpdw5p6P/3B5/Nmu//h6TRm2iVZxqnn0DPpmz/4A953iPAAABAASURBVGFwcLrpovNOo/e862yny56dL2ShwnzYM87/VJYuMIZXfeb71NS0y7P6VeNBcIE+75yTii76qKnjCO2o6BsilvGs046lT330krxUQVA45ZyPUZdex2fTUad+gHDO6SYoFX707c8QLIdOefh5RBTXXXATiQQVsgJDoPznbY90FIU5wN/52icswTTRcY7vTJ/xCk096X1ZOrr1OZHOu+QL9NaK1TybcQxa7IT5VLKOhgzqb+TVD6Aw+/Anv5t9VmbQ6XT+e75Aq9du1LO4ug+8L7v47SWXiXtwb74bg95PwhI/bszIfCTE5tr733sunXbyUY70QvHzha/8nDCWYU1gCLe/v+EOx/y4AGvhdT/+Yt65+cgX1eR13+IFjolEgj76oXcSDAlOz4P3ywXvuTrbh6UHnlaQ9yH55zYCUp4gIAiUiUBoBeAB/ftQoejOkyceQaVY+5wwvOLSd9D/+8KHnC6XdB4WqN//8mtUV3dYSfdVIzMsIhDwii1727YdtGHTlmKzBzIf3NVgrUoknIUgveIfet8Fvlvq9fp4vQ+8fvqDL+S1BJRaJyeBsdRyClmBUd4vf/dPwjIi2EeCO/snPnIxdl1JH7riAvrcp95rK1QnEgkqdqoGKrN3735av2EzdquWCq0JzB/cu1c9nX3Gcfy07XGQ+8lePevpwvNOta13vpNo/4cd1i1fltBdgxX4Fz/5ErkxNoJ4lPPHX32j7GCTKCMKycu+xSu8jj5yPP3vFz7o1ePkOYJAiQhIdkGgfARCKwCDMTnu6El5Ka9k/q9ecNeuXehnP7w6m/Tzpe7DnejJ+/8UKEbhIx+8KK+GV6cRFuGNm7bpp0K5f9LxUynf3FZFFBi7M089Rh3GdguG+Y5//JTA4FUCAlypf/Oz/5dVJiUSxSkg8j0vkUgUtAIvW76Kbrz5nqwbP8rCt/yHX36d/ufj78FhRQmupH/+7TV519yEwJlvHh2vwNIqr6MKr5l8awLz+iBw3JgjhvPTtsfANsj95CeuvJjgAWJbeZuT+P4fvPM3dOJxk22uhvsU+r8n7v9D3nn0xVAIr4y7//lzwlhbTP4o50H797Jv8QLLRCJBX7n6wyUrQN994RmBUPJ7gZE8QxDwDQF5cEUIhFYABtWnnHgkdelSi92cBOvm5AlH5Jwv9wTmy37tS1fS/Nl3WAzRlJKK6de3F/37pp/QY/f+ngYO6FPSvdXODA3vH3719bzzPPU6bN22XT8M5T4EOlh2C1X+7DOPK4lhLlRemK/DEgghGO0Y7blUWo47eiK9OfM2+uJn3p93Xmyp5RZjBf7V7/5Fr7y+qKNoMKqwWN329/+jcmjBPcDhr7//Tl7hFw+E6/affn1N0dY2zLXHfdVK6C/ff9l5RRePwGG4p9gbgtxPDh3Snx6449d554ErOtFeZz3zD8IYo85FbYugcm/OvJ3ee8nbyyIN9736wr/pbUV6CJT1kJDd5GXf4hU0GC+h5HAKIKnXoz6TIvSr3/7axylh/devyb4gIAgIAm4iUGlZoRaAYZmARcMOBMz3wrwvu2uVnMN80Jee+jutXPAQwY3shGMnE9zr9DIxCI4bM4Ku/p/30cynb6Z1Sx+j9192rquMv/68SvYTiQTBkrXg5Tvp0x+71HZeNRj+I6eMpU999FLfI1dXQqt+74Xnnkr5gpshb6nMP+6JcoJwg3aM9jxn+q303W98ktD+0T443Zj/ijbzza98jBa/cg9BmMC3w/NVepxIFLYCw3PhZ7/+hxGgJ5FIEBg60IJv9Muf+wChvvxbRv1wDteQB3lxD3AAHrheKME6hu/rW1/9WPb7gSVcvwflo7+48v0XWsq16lsb8c6KsYRiGZTTTp6mV7XofbzrIPaTsMa//Oyt9K+//TjrBaK/C7wHtIkn7vsjvfTUzTR2dHGW76JBCWBGKGSh2Nrc8BRBoQPLHfpFHRdUG8c4j+vIh/y4D0oFXJfUiUAi4V3f0vnU6u5BCP6PpcSHAQD8Ar4V9UTwO+hT0C5WLXo4268mEgl1WbaCgCAgCAQSgUAJwP+44QeOi/DbLbA/oH9veuuN+2zvefm5W3IEU7yBUp+Be+wSLDuYFwyGeOvKp406HNgykxbNvZt++/OvZAWEYhll0Ni6Y45Rln78zvNPt6sKlXufXhgY8D//5pvUuODBnOdvXP4EvTbj33TDb7+ZpUfdN2hgX9v8qs7PPnyjbaCjcu4rdA/qjTyqboW23bp2oS619t4DuBfM3gk+uT6CDtCjcLTbOmGLujulQu0E153u1c+jPR8zbQL94Jufzip40D54HXetfz7bZn7y3c9mBYlEIj9DhPJ2b3ghp+2pcvPRi3n1m1Y86XgvygCzDkZNpwP7oAXM26+u/d9sffm3jHtxDu0feZAX9+DeUhLe6Y+/81la+tq91Nw026grykd/gb7J6Rsv5VmF8g7o35sWzrnLqAPo5Klh/gMFlUSFnlWNfhIY8brqx8AxX70Qf+ED7z0vq5TR3wXeA6xXUFiod4zgX2h7evn6vt2z8B3pefg+rvP6FXoO+gO0IX5fpVio8rDk2cevfDf99z+/pNWWEKPjgvrjGOdxHfmQX93r5RYYAAvUySnhfQHPYupVSb9TqHy0IfQX6DfQf6B98TrjHK4hD/LinkLlFqqzXZtEmeXeh3uREolENiDk3//0PUK9FS3gd8AHoV3AAoy8hZ6Fdot8kgQBQUAQ8AuBQAnAfoEQ2udKxctGAGsYNq5a53j/xRedSSOHD3K8LhcEAUFAEBAEBAFBQBAQBAQBQSB8CIgAHL53JjVuR6DczfYdu+iPf73T8fZEIkEXnXcqJRL5rZaOBcgFQUAQEAQEAUFAEBAEBAFBQBAIJAIiAAfytUil3EBg1px5dOe9T9LGTVs7ogCvaFxLV37qu/T8i686PgIRUhEp2jFDMC5ILQQBQUAQEAQEAUFAEBAEBAFBoEQERAAuETDJHh4Edu7cQ1dcdQ0NOOIdVNPjOErUH0ujpryL7n94el4iEOQDQT/yZpKLPiMgjxcEBAFBQBAQBAQBQUAQEARKR0AE4NIxkztCgkCvXhmq635YSbXF8idY3qOkmySzIOA1AvI8QUAQEAQEAUFAEBAEBIGyEBABuCzY5KYwIDB4YD/q26dn0VXt2SNDv//l18mvCKdFV1QyCgIxR0DIFwQEAUFAEBAEBAFBoFwERAAuFzm5L/AIYNmbdDpZVD2POHxodgkQzP8t6gbJJAgIAoKAPwjIUwUBQUAQEAQEAUGgAgREAK4APLk12AhgLcirPnhRdu1irEcKgVivca+e9XTu2SfR/bf/Krsu6hmnHq1fln1BQBAQBASBwCEgFRIEBAFBQBAQBCpDQATgyvCTuwOMQPfu3eirX7ySZj59M61c8BAd2DKTWnfM6UhbVz5Nj977O3rn+acTF44DTJZUTRAQBAQBQSCuCAjdgoAgIAgIAhUjIAJwxRBKAYKAICAICAKCgCAgCAgC1UZAyhcEBAFBwA0ERAB2A0UpQxAQBAQBQUAQEAQEAUFAEKgeAlKyICAIuISACMAuASnFCAKCgCAgCAgCgoAgIAgIAoJANRCQMgUB9xAQAdg9LKUkQUAQEAQEAUFAEBAEBAFBQBAQBNxFQEpzFQERgF2FUwoTBAQBQUAQEAQEAUFAEBAEBAFBQBBwCwG3yxEB2G1EpTxBQBAQBAQBQUAQEAQEAUFAEBAEBIFAIhAyATiQGEqlBAFBQBAQBAQBQUAQEAQEAUFAEBAEQoCACMAheEkdVZQdQUAQEAQEAUFAEBAEBAFBQBAQBASBshEQAbhs6ORGrxGQ5wkCgoAgIAgIAoKAICAICAKCgCBQCQIiAFeCntwrCHiHgDxJEBAEBAFBQBAQBAQBQUAQEAQqREAE4AoBlNsFAUHACwTkGYKAICAICAKCgCAgCAgCgkDlCIgAXDmGUoIgIAgIAtVFQEoXBAQBQUAQEAQEAUFAEHAFARGAXYFRChEEBAFBQBCoFgJSriAgCAgCgoAgIAgIAm4hIAKwW0hKOYKAICAICAKCgPsISImCgCAgCAgCgoAg4CICIgC7CKYUJQgIAoKAICAICAJuIiBlCQKCgCAgCAgC7iIgArC7eEppgoAgIAgIAoKAICAIuIOAlCIICAKCgCDgOgIiALsOqRQoCAgCgoAgIAgIAoKAIFApAnK/ICAICALVQEAE4GqgKmUKAoKAICAICAKCgCAgCAgC5SMgdwoCgkCVEBABuErASrGCgCAgCAgCgoAgIAgIAoKAIFAOAnKPIFA9BEQArh62UrIgIAgIAoKAICAICAKCgCAgCAgCpSEguauKgAjAVYVXChcEBAFBQBAQBAQBQUAQEAQEAUFAECgWgWrnEwG42ghL+YKAICAICAKCgCAgCAgCgoAgIAgIAoFAIOACcCAwkkoIAoKAICAICAKCgCAgCAgCgoAgIAhEAAERgIP8EqVugoAgIAgIAoKAICAICAKCgCAgCAgCriEgArBrUJZW0MGDh+iu/z5Fx51xJSXqj82m9MDT6PNf+Tlt3tJkW1hzcwvdcc8TNP6Y92Tz474h486n391wO+3du5/4v9bWVpo+4xU66eyPduTvNews+vp3r6cdO3fz7FRq/pwCXD4hxQkCgoAgIAgIAoKAICAICAKCgCDgJgIiALuJZpFl7dt3gD7w8W/Re6/8OjWuWkdXvv9CuvzSc6iltYX+cOMddOYFn6KNm7YapUFg/syXr6UrrrqGtm7b0XHPtqYddPVXr6NPf/EnhhAMYfa6395KZ5z/KXp93pJs+XhO165d6Oe/uYXOu+QLtGXr9o5nlJq/40bZqRYCUq4gIAgIAoKAICAICAKCgCAgCLiMgAjALgNaTHGHmg9Rs2XN/fdNP6F1Sx+jf9zwA7r95mtpwct30qiRQ2j+wuX0xDOzjKLuvu9p+svN99JZpx9Li+be3XHPwjl30ZgjhtOttz1M9z30XMc9M19+k77z4z9lr73x0m3Z8vGcpa/dS2efeTy9NPuNrOVY3VBqfnWfbAWB6iAgpQoCgoAgIAgIAoKAICAICALuIyACsPuYFiwxnUrSPf+6jt5/2blUW9v5CkYOH0ynnjQte//qNRuzW/zAYnzrbQ9RIpGgr33pSurdqx6ns2nEsEH0vWs+md2/674n6dCh5uz+f+58jA4cOEhXf+Z9NHrUsOw5/PSoT9P3r/kUdelSSw89+gLBgozzpebHPZIEAUGgSghIsYKAICAICAKCgCAgCAgCVUGgU/qqSvFSaCkIQHjdvWdv9pahQ/pnt/hZu34TvfL6Ijp8xGA6aup4nDLS5AlHUCadpIWLG6hp+86sUPvS7Dez505rF6j1G2AxHj50IC1vWE3rN2wpOb9eluwLAoKAIOA2AlKeICAICAKCgCAgCAgC1UKgploFS7mlIYA5uHff9xTd+8CzNH7sSDrjlGM6CoCVdseO3TRs6ABKpbpBi4xUAAAQAElEQVR3nFc7/fv1pl4962nrtu3Z4FawGGMOMc7hmsqntigDZSEQFuYBl5pflSNbQUAQEAQEAdcRkAIFAUFAEBAEBAFBoIoIiABcRXALFX3bXY/Tp67+CX38cz+kCcdeRu//2Lfo+GMm0X23/YoMC/C6TbRn7z7q0qVL1g2al4vAVmnLAgwheVvTDoLFGJGk4eZcU5P7irvUdqFUsi7rLl1Ofv58ORYEBAFBQBAQBNxBQEoRBAQBQUAQEASqi0CudFTd50npGgJPPjsrG9jqplvvp8VLG7PLEEEgfe2NxdkgWVrW7O6QQf2ygmv2QPvp3r0b9evbUzvTtgsrL6y9bUedv8jft0/l+TtLzL83e+58kiQYSBuQNiBtQNqAtIECbUDGS+EXpA1IG4h4G8gvNXhzVQRgb3C2fcpff/8dat0xJ5s2NzxF137/87S8YU12qaNf/u6fWYFYv3GNZQlWc4T181giaffuffqp7P6q1RvI7rw+1zibsf2n1Pztt8lGEBAEBAFBQBAQBASBihGQAgQBQUAQ8AKBGi8eIs8ojECf3j3oG/97Fd30x+9mM1//59uoYeW67D7m8sKd+dChQzlCMTJ0zOHtVU8D+vXJzgeur09lXZxbWlqQxUj79u+nzVuaqK7uMBo4oG/J+Y3CijiAW7ekSVn3dsFBcJA2IG1A2oC0AWkD0gZs2oDwCcdIu4hDuyhCdKh6FhGAqw5xaQ8489Rjacjg/rRt245sUCvcDeG4PpMiJwstAl7BdXqQJczC5Rl5e/fqkY3ujGsoQ0+wCqMsLImkyi4lv16W7AsCgoAgIAgIAoKAICAICAKVISB3CwLeISACsHdYF/UkLGO0e/deqq2toS61tYR/Awf0oVEjh9LK1etp6VsrccpIz7/0Gu3ctYdOOG4y9eyRyaYJ40Zmz81b+JaRFwevvrGIVjSupSMnjyUIzT2te0rJjzIkCQKCgCAgCAgCgoAgIAgIAoKACwhIEZ4iUOPp0+RhWQQeeeJFuuQDX8kKodkT7T979+6n3/zx3wQh+IxTj6Gxo0dkr8AF+sLzTs26NH//2htp+45d2fP4WbZ8FV3/p9uoW7eu9MHLz8tGiYa79GXvfjsu0w+u/Qs1rmpzpcaJrZZl+ee/uSXrSn3VB9+ZdYMuNT/KkSQICAKCgCAgCAgCgoAgIAgIAoJApQh4fb8IwF4jbj2vZ480Pfz4DBo15V00/pj3ZJdBuuKqa2jw2PPob7fcR4je/KNvfyYrnFrZs39f/twH6Owzj6ennp1NY6ZdQh/59Pfo4vf/P5p43HuzVmHkP/G4Kdm8+HnPu99Gn7zqkuy1Ccdelg2shWccMfXd9Mz0OdlryIO8SNgvJT/ukSQICAKCgCAgCAgCgoAgIAgIAoJAmBAImAAcJujKr+tJx0+lN166jT79sUtpW9NOwjJId9zzBCWT3elrX7qS5s26g6ZNHWs8APN17/nXddnriPp8y38eovseeo6OmTaBnnvkRvrqFz+ctf6qm7p27UK//dlX6PrrvpoNcoXykQb0702333wt/enX1xDylJtf3SdbQUAQEAQEAUFAEBAEBAFBQBAQBMKCgAjAPr2pcWNG0J9/803a8Nbj2WWQsBzSmsWP0M9+eDUhiJVdtXAe17eteqbjnpee+judfsrRhvCr7kWU5y98+gpaY5WL8pEWzb2bLr/0HMIcY5VPbUvNr+6TrSAgCAgCgoAgIAgIAoKAICAICAJhQEAE4DC8pZjUUcgUBAQBQUAQEAQEAUFAEBAEBAFBoJoIiABcTXSlbEGgeAQkpyAgCAgCgoAgIAgIAoKAICAIVBkBEYCrDLAULwgIAsUgIHkEAUFAEBAEBAFBQBAQBASB6iMgAnD1MZYnCAKCgCCQHwG5KggIAoKAICAICAKCgCDgCQIiAHsCszxEEBAEBAFBwAkBOS8ICAKCgCAgCAgCgoBXCIgA7BXS8hxBQBAQBAQBQSAXATkjCAgCgoAgIAgIAh4iIAKwh2DLowQBQUAQEAQEAUFAR0D2BQFBQBAQBAQBbxEQAdhbvOVpgoAgIAgIAoKAICAItCEgv4KAICAICAKeIyACsOeQywMFAUFAEBAEBAFBQBAQBAQBQUAQEAT8QEAEYD9Ql2cKAoKAICAICAKCgCAgCMQZAaFdEBAEfEJABGCfgJfHCgKCgCAgCAgCgoAgIAgIAvFEQKgWBPxDQARg/7CXJwsCgoAgIAgIAoKAICAICAKCQNwQEHp9RUAEYF/hl4cLAoKAICAICAKCgCAgCAgCgoAgEB8E/KZUBGC/34A8XxAQBAQBQUAQEAQEAUFAEBAEBAFBwBMEfBaAPaFRHiIICAKCgCAgCAgCgoAgIAgIAoKAICAIkAjAfjYCebYgIAgIAoKAICAICAKCgCAgCAgCgoBnCIgA7BnU8iCOgBwLAoKAICAICAKCgCAgCAgCgoAg4CUCIgB7ibY8SxDoRED2BAFBQBAQBAQBQUAQEAQEAUHAYwREAPYYcHmcICAIAAFJgoAgIAgIAoKAICAICAKCgPcIiADsPebyREFAEIgQAvNXtZROjdwhCAgCgoAgIAgIAoKAIOALAiIA+wK7PFQQEASigsD8lSIAl/ouJb8gIAgIAoKAICAICAJ+ISACsF/Iy3MFAUEgEgiIBTgSr9FLIuRZgoAgIAgIAoKAIOAjAiIA+wi+PFoQEATCj8Cbja3hJ0IoEAQ8Q0AeJAgIAoKAICAI+IuACMD+4i9PFwQEgRAjsKGplXbubaVDzSEmQqouCAgC3iEgTxIEBAFBQBDwHQERgH1/BVIBQUAQCCsCq7e0WX93WEJwWGmQegsCgoAg4BUC8hxBIO4I7NoXdwSCQb8IwMF4D1ILQSB0CLRast/G7dZP6GruXoVXbmqjf8ce98qUkgQBQUAQEAQiiYAQJQjQvEYJnBmEZiACcBDegtRBEAghAg0bW2n77jYBMITVd6XKKze3DWQ79sQbB1fAlEIEAUFAEBAEIoyAkAYE3hABGDD4nkQA9v0VSAUEgXAisGJjC22PueVTXKDD2Xal1oKAICAICAKCgKcIWA9DvJAFq9sU59ah/PmIgAjAPoIvjxYEwoxA1gIcc8vnys1tll9xgQ5zS5a6CwKCgCAgCAgC1UdglcUzxNVzrvrolvYEEYBLw0tyCwKCQDsCDVkLcJsA2H4qVps9+4m27myjH5GgY0W8ECsICAKCgCAgCAgCJSGwanML7dhb0i2SuUoIeCwAV4kKKVYQEAQ8R2D5htZYu0CvtAYyBboMaAoJ2QoCgoAg0InAW+vblISdZ2RPEIgvAis2tmaXTkQQ0fiiEAzKRQD28j3IswSBiCCw7wDRhiZLAI5xEKxVmzsZOwmCFZGGLWQIAoKAqwi83tDsanlSWHgROHAovHV3q+ZYOQLCr3iNuYVo+eWIAFw+dnJniQhI9uggsGJjWxCHOAfBMgTgvZ3CcHTeslAiCAgCgkBlCLy6om2sqKwUuTsKCCxYJW1BeKfgtGQRgIPzLqQm0UYgUtQ1bGwT+LbHOAjWSsMCHKnXK8QIAoKAIFAxArB0vSYCcMU4RqWAZetbCLEzokJPqXS0WPL/mq1tvJN4jZWKnvv5RQB2H1MpURCIPAKdWsy2zrwwwdHLscqYAxxfHKL3ZoUiQUAQcAMBLBOH6TJIbpQnZYQbASjO4yz4QWkOIRhvUeKGAAV/kwjA/uIvTxcEQonAig1tAl9cXaAxiIG5Uy+v4DJIKqNsBQFBQBCICQINHVNl2saLmJAtZDog0LixlZpi7DXWuMkyAbdjE2fvuXYIfN+IAOz7K5AKCALhQ6DBGshQ67iuZ7e+qZUgBAMDpKYYBwMD/YWSXBcEBIH4IdC4qU3wFWY/fu/ejuIGSwCMs7IYAbAULhIESyHh31YEYP+wlycLAqFEYNdeS4urCXxxdGnSBzL1EnfvU3uyFQQMBORAEIglAivaFaXbdsWSfCFaQwCrRsAVPs7KYmU4ACzbd+NXkp8IiADsJ/rybEEghAgsY+s6xtENeqU2/1e9wh2WYkDty1YQEAQUArKNKwKN7S7QcRZ64vruOd1K+IuzN0CjZQFXuAi/oJDwbysCsH/Yy5MFgVAioAYyVfk4WoD1+b8KB1jG1X4ct+LSFce3LjQXRCDGGRrbXaCF2Y9xI2gnvbFd+IujwrwdAmps/x5wHGdXcNAfhCQCcBDegtRBEAgRAg3tWn1V5TgGtVipLYGkcIjzwH7gENHiNW3z/RQeshUEBIH4ItDQ7v4MBJrE3RMwxDqp9hBHhTlePJ82JUohoOJvEgHYX/zl6SFFQHXmIa1+RdVW87pUIXHUZOqaXIVDnC2gKy3t/jZtXrjCRLaCgCAQTwQarT5BUR5jF2gFQey3imeKa1vQvwc0hji7goP+ICQRgIPwFqQOoULgoGXtWrauM5x9qCrvQmWXbzBpj9uAhsjXdu7OcbYAN24yA6O50MykCEFAEAgxAkrgAQlxGyNAsyQg0JlWtHuOxdUbQP8egEqc+QXQH4QkAnAQ3oLUIVQIYP5nHN1+8ZJUJEfsqxQ3C7Cd+zOwiLNLEwRgifSKViBJEBAEgMAKzQV6m7hAA5LYprVbW+lQcxv5sbJ8tpGc/cUYmd1p/4EreKvMGmpHw5+NCMD+4C5PDTECa7e2UFNMl3XQmRr1CuOmDIACRNGubzGg6cdx2m/cZH0T4gIdp1cutAoCeRFQEaCRCV4z2EqKJwK69TO+ArDpOQfhd/e+aEvAQW/tIgAH/Q1J/QKHwLptrRTXTryh3Y1JfylxE/xW2QTAAh479+I3nmnlpvh+E/F840K1IJAfAV1RGNfxMj9C8bkKBamidvc+tRevbYPmEaEo3xFjnkFh4Oe2ygKwn6TJswWB6iCAgX3rrnhq7lZsyKU7bnNZVm42NbmqlcWVyYNrG74JcYFWLUG2gkC8EVi+3hwn9h8k2nsg3pjEmXruObZ1p9k+oo4NFMR2NMaVZ7DDwo9zIgBXE3UpO5IIrM1agCNJWkGiGjblCn9iAW6DbVdMNdsr2y3icXOFb3vr8isICAIcAbtxQtygOUrxOdYtwKBalOZAgSjOXmNtCPj7KwKwv/hH+ulRJW7NllbaFkMLMOas2FmA4xThExHA1261117HCQf921Zz/eL4Teg4yL4gIAi0IWDn7hnX/rENkfj+gm/gFtC4tQW77wEtIm44gOYgJRGAg/Q2pC6hQGDj9lYqouMKBS2lVBJzXzGY8Xvi5Nq2xkH4BSY799oLxrgW5dS4qY1uuELv2R9lSoU2QUAQKAaBRhtPoaY9xdwpeaKGAKbHYGzQ6YrbigmN7WOkjgH248ozgPYgJBGAg/AWpA6hQUBpMg8cIoobs8/X/9Vf2qYdbUJQ57lo7q10mP8LatEe7BQEuBbl1KAN7mIFjvKbFtpKQQBM/5K1uVNGSikjrHnj7ikU1vdWjXqvsAmcGbe1gBttFELAOm6uig8E4gAAEABJREFU4KA5SEkE4CC9DalL4BHQ3V/jZgV2cuPBS4vLWsCwgoNep9TRJpwyRPD8Sm1w3yZLIUXwDQtJ5SCwbH0Lbd5Rzp3hvgeCP1ZK4FTEsW/kGMTxuNEm+nGc2kKLpQNz4hskCJa/X4QIwP7iL08PGQJrtlq9WXud48bs22ly26GIzbJQTgOZwiFuyxpgcF+juYUrxkbhIVtBIK4ILFnTSnEbI/CuV2zoHCNxrNL23WpPtnFCQPcQUnTHKXAmxkcohRTt+jYuhgOd5iDtiwAcpLchdQk8ArpmO24DeqPm6spfVFwGNMxn4rTrx3Gb07NycytBCFYYxM21TdHNtnIoCNDitS2xjBXhNE6ItSueH4XuIaQQiJOieGWeaVNx4xfU+w/KVgTgoLwJqUcoENAFoDhp96HBRPRrp5cUF8GHD+bD+yYMSOKm0W1g87vEAmw0h5geCNlAYPGaFtq6Mx6xEUCvSitsXF5xLU7jJeiVRISYGHYKkTjFimhw+B7QPkQpBBT8SyIA+4e9PDmECJgW4PgwN05ubeoVxiGq4xaLmdUjXtd1I+pbzwTgmEWCXmlZgFUbwFYEYKAgKdYIWMTvO0AExj+OkY8btZgAFhQdfxLwpwOK2Ow0bmrNCsGc4DjwC4rmlRYGap9v42QJV7T//N6D9LkbD9BvHzyoTvm2FQHYN+jlwWFEIK5BsJy0+uodxkGTyef/9uuRoKQlBCsMsI2LKzhoReKDe1w8AUC7JEHACQEV/TlOli6FhZPFa7sEyFMQxWbb6KQMidF88AYHDNAI4ughsmB1C6F/fHBOMyDwNYkA7Cv88vAwIaALv6j3thh14lwA7scsn3GYD82tncCg7jDTArxzL1pGfBJncMQCHJ93L5Q6I4D5v7gat+8BHjIbmuw9o2KCBV67pHYEnJQhW3fZt5H22yK1Wc28pDhxWD6Rn4vqMWjNN5XOa7pFAPYacXleaBFAND+98nEa0LkL9OEDTMEvHhZgM7pp30yC4Aatt4k4uXaBbs7gxOmbAP2SBAE7BBavaWPw48ToAweuEMM5lQ4cIgIDrI5lG0UETJq44ly/umtv2zein4vaPowmaPeKrkwdUa+0yTvFyWvsrfUmD6Vw8WsrArBfyMtzQ4cA11zFyb2NCzoj+5udeBwEYO7u27eeKHmY2YzjYAlXFDfazG3auktdla0gEF8EFq1pY/R27yNCAMG4IMHHCU63KMg4ItE+bmBBEnVqIzk/XifQ2m9gAbD620ybatoTfUWABUX2T3nGZA8C8CMCcABeglQhHAis3drG1KjaxmW+IzS1CACl6MaWRz+OQ4ATPge4bz3mAJuKgDhZgBtt5jZhWQdE/kQbkSQIxBEBzHXV3YB53xllTBoZw89pFQGYIxLdYyh+uNFApxbfiX4cxX0+RvYHz8CU5lFaOaLQO1y2LljCvgjAhd6YXBcE2hHQI0DjVBysnqCTuzEN7pWgHklT8It6MIf9B4k27TA7b7hAcwswBEBgFofELeKKZlnuRCEh2zgisIQxeXES+jjDz99/nJh9Tnvcjp3GB4VDHCIgNzIvKViAUzlxQ0y+QuETxe3SdaYRyW8aXRaA/SZHni8IVA8BPgcYT4qDG/SKDWYH3b9nm/DbrQsQ6Ey79nXuR21v1Waz48ZABhq5AByHQR10I/HBHeeQ4uQGDnolCQI6Aovb3Z/VuW0xmhbAlaXD+raNFR1YSCRoBUXktyvyuD+D+DgohvgYmV05IqYWYBgRCilF0C68TCIAu4m2lBVpBFbZRPOLg+svD+M/oF0ATjJNZpSDOazaYioBEAEajT1TZzJ4UbeEg2aVVtq4QOOaWICBgqS4IpAjAMdE6EOAq83MSyZ3qozZj8a1jcSBbi78cZqjzC8oWvkYCcV5Dt8Ug2BgwGMZC4A1qJfJOyGP10kEYK8Rj/Dzokza+m32A3cconwu5xbgHm0dV5JpMqOs0V3JXJn6ZDpbe9fazn3sgRHENsqpxTKINzBMFL1x8IpQtMpWEOAILGyPAK3Ox2GMAK3c4jfQUpSmu7eNFbiOFCdrOOiNc+LtAVOndDyiHgRr7dZW0iNAp7tTdtUIvnJElPkm/X0vWWvy0DyQqp7Xq30RgL1CWp4TagTs3J9BkNZ54TCSiYeuH9CjjcwUE4CjPL9rJbP+IwBWGwqIBG0yeXGYB4zvAUKwwkDfxuGb0OmVfUFAIYDgVzy4T1wUQjwAFqxdfIyQvkG1lOhveXvgAg//TqKGCI8ADfdn0MgNB1Hmm0CvSsvY/N+R/f0XP/2vgUJHtoJAgBGANs+uelEf0Ddtb6V9Bzopx7xfFQArabhAE0U5KNgqNgdYuUADGa7RjYNrV6OD+zPw2LYbv5IEgfghYLfMR1ysng1szmdWAGYW4CiPEfFr7fkp5kFDcwTgiC//w8dIfA9AjPNNcVk5ggfAOpwtpQlsvE4iAHuNuDwvlAisdXCBjvpSSCvYshb6vA249OgvM8odOV/OQQ1moD8JSzh22lMcAmFxl/B20rObOCgAsoTKjyDAEOBufrgclznxjWxKxICeRHyMiPp4ifftlOLiCQD6l6xtwaYjwWOqnq0cEfX4KTnfg8PUsSjzTaoBwBWcB1M9XCzACh7ZCgLBRmDNFrNDV7WN+qC2wkarr2iv62a6/kaVuYEmGx24ohtMHSzh6jjJLOFxEAD5/F+FBbZxmfMIWiUJAjoCi1bnjhNRHyMU/SuYsrR/fYKSTDkYdY8phYXd9vkFuW3DLl8UzjXYtYVuJmVRbwtcAFZeY/ybiMOqCctZAKxe6dy+wWwd3hyJBdgbnOUpIUcAQpAdCVF36eLzeBDYROGQ6q722rZRFfxW8wjQ7ZrcNqoxB1jttW137m3bRvm3MY8LdBwGdPZuOw6j+g10ECg7eRHgli9kjqpiELSptGtvK3FBv3cmQSnmAr1lpxkIR90f9S3mhvMouFGmmQvA8AbgbSHqvNNKNkYqr7F6tnJEHL6JZevN735Ib9N44te3IAKwX8jLc0OFAIL+2FU46vO7nCJAAwuuyYyqRpcPZH0txg70q1THNNtRH9gR/Golc3dUWGAbF5dP0MrT3OXxsfJ00p6798LC5tyTET+Db2KvFi9BkbtrXysdijgc3PqrIv4iQr7uLQNMdu3Db7zSvJUtFAdBR73VBuY5Busn2kGtJnEgtkhUvwvEjNG9xlKWsUDnl4CFwgpbu34D56OSuGJQn0rnJ41ac/SzGvJsQSC4CGza0UoHD9nXrynigRx48CfDAsxcf6M6pyfHAlxvai+TDIedFsNr31qicRbeEDrjclhXk66oKkJMKu2P5r4lAjCQeeDliEt8IFKl9q1dAKz2SxT1aQENzOV1QM/OPjLFrMBx9JKYv6rFspCr1hD9bSNTkKr2kGZtIarKUijD9LesrL/qHOcZov5NLFsnFmD17mUrCIQKgTXMBVav/GZLONaPo7S/anOrsY5dpo6ou2btTLL5XVG1fPLBHAE99Pec1DDB+ai7APMloYb16WR2Qf/+g2REDse5uKRZS0QAxjJgr65ooSj3jXbtedEa53cfZQEYWDRwi582TYQvhcRdpXF/1FOcLMCw7G7c3inwJKzhARZgvGPOM0RVWdrA3Z+50pzxDFEWgKEsX8H6hyGMZ0Db8COJBdgP1OWZoUIA7ixOFcbHHVX3Fd5pcS1milk+oyoAQxGgv/9+9foRUR3DAQKAmSNaR418cLeYXbU0lqI06gy/olPfgmYwdFH9DnRa8+0/N7+FWi3+F3jkyxe1a0vWWEQ7ENW0y+FCRE43MIufPlakmKIU30hEyAYZBdOe/USIgAtrJ76LgjeEPMPyDaYiqJ8l/EEIBlm8LURVWdyY53sADnXsm4iq9xxoXWG1B/DJ2EcCr9CdeY3hvB9JBGA/UJdnhgqBfAIwCInqgN7A3Np092fQjU7cUu5iN5t276Ms45s9iMgPlBv6++1i9Zg9UzrVRNwCHPVlkHi76GcJwOnu5gvXMTOvRPdI4bJlR3RpLIay6Qva3J+37iwmdzTygMFbxiKd6pRB+NGPo7a/YoMp/A/o0Ukhd4Fu2tN5LQ57sP6CTgi/0WsHoMxM+YQ/3haiqizkwUN1hRDQSjGleZSXQlrK3J8HByQAFt6Dxc5hI0kQEAScEHAKgKXyR5XZ50wN78QhBkIIVjhgGzX3thWW9hJ0qcTdn3Geu3VF2Z0J9OYwOJaGP5UjACNnvFJDu5vX5phGusXbhvfD6w1tFqAtu0yhCNejmmD1ghDsRF/U+kWdTtCG967OIcCPriRMMWtXVMdLRT/fYv6vOrc1Bn1DPs8xPlaGXgBWL5ZtOQZQEutZON+0I8JKoaXr2sYDRb8IwAoJ2QoCIUAAQX/0auZ24vrV6Ow3MldXbgEGpWkW1CJq1k8eAIsrAYBBkmlzd1qWcJyPalq12RzQgAlvB1FlbPK904Z2j4k4RXvleLywsIUQJRznIRhhG4e0ZG1+YT/KQh+PCYD+QH/nabbsS9z6hgWrOvvLbbt1ZKK5zwNADejZSWfuONF5LSp7WPJKV4YlLQUQVwKlOM+wN3//EVRsiqnXsoAugYS6iwUYKEgSBPIg8BZzbRve1/xsosjooQNftdnslAdokT0VXHwJoKgxenww75NRlHduERgM1nB1Bmtiwt1NHUdpC2UQglwpmtKW5Rf0cwtwFL8JRbPTdkW7AIyo8U55on7+2Xlt7s+gM06KgMUsAJZaBgg4IG2N8BzgFcz9mQvAfIpIHNZFxjtHarZkX10AjkNgONUPgn4kzAHGFim3LZg8BvKEPXH6+fcA+nJwiOhqIuCDlnELcC+dWwIa/iWTky+5HnKDIBBtBHggFyz50o8FQYqa0Ic3uqLdnRP7SL3TCdLX8KP2f1yTGTXt/qotFgfTTis2di7Q6M4hBOK6SlHDQdHlNLeJt4MofhMKA6dtQ/s3Ewcm1w4DuMG+1u7+jOu878S5qCa+BNK4IegVOqmN8txP7inEGf4U8xKKU9+wdG2LsZJC1L8J9AG6mzd4hr6Zzm8B1tDOr4IoisGfCn0PoJ/jEFUX6BWWUhjGFNCMlKlLUMpSmmM/CEkE4EregtwbeQTWbTU1lOjMU2xAjyJzwwUdO/dnvPwU68yi1pFzF+h+9Z2DOehXKcXaxM696kq0tiuZ+/OAHm14wBKsUxq3QDdY9gPLfwCDqDO5oNEu6e7PuB5lqyfoUwkeEdwKOm6IyVpFWehrsJhchQW23FOI9w1RVQ6Cdp70+b+4FnXPmEab6McqAjTo5+NkFONlcK8xNUaCfpU4DlAcqGtR2nLr7xA9AFYb6+AruWYv7WtV5OFhQyAO9eUBsHpb2szUYSblUVziYnmOW5tJszrimswoMTeYy5gjALcLfIp+teWu4FHCQdGILWd2lUWcD+hRZ/SAhZ707yWuLtDPze90fwY2cXGBXmJZ+UCvSrCA9mKR4qMcEXsZmyLUn83aeBkAABAASURBVHlI8TEiiuOlevd8O2+lqUDfEvHI6FwRxBXGOW1ht4kPxy+Mx3yM5BiAJs4vRHVaAO8bB/UC9e0pAK9eBOD2dyEbQcAOAS4A9U4TtTP7HdmjaAFuaHfnVET2t5n/i2tJFswhSpYOKD8gBINOJKxfh2WQsM8Tn9MTNUu4otdOw49rOUqhCDI2oNMp6d9LHJdBggXj1RXmdIG4KEH4/N8hfRKEKK+6gWPXvlbSXQGd2lHYzkPJoTwfUHdEgK5P6pQTpZl3TBTHS9Bul95oNL+JqHuHNLDAmVAG6bikGL8QRRfo5WzlCI4B8EgyI0pUl0FaFuAlkPAeRAAGCpIEAQcE+BrAfdIJa0A3M0dJ6FOUYe6G2sc2140HZ4lyOvIIhfPn7r79mGWjDYG23zo2sEd1QOODu3J3TDNX+DhEO217822/DZobKKz/CH7TdiUev9z9GVRD4AMW2I9yWswiQA/tnaCERXC6zvrR/qKoENDbPUi1myqDeaCInYHrSAiMA4UJ9qOcwDtwF18oDKJMM5861b+HSW3dYZT9Nqj9H9oB2kP7Yeg3PAI0LL0pNjaCyCTjF6LYN+C9cu+QIC2BhPcgAjBQkCQIOCCAqLf6pT6ZhCUAg73pPBs1LeaufUQ8kE9/B9ffXI1uAPxaOl9NRXurWRRsYy0/VnLqMPMEBnbzTPiP+OCOgR0DPChDcAtsVdoeOwuw2e7596Nwiep2+gLT/VnRuS3C0Y8VjXYWYFzLxMDy2cgtfg6eQinG8EfVQwbvXaV5K03rL85HUdABXSoVUoiAc0pqAiGEJK4kUGWFcdvI5kArBTGnpWstEZI6D2XhgUPqKBpbrCKC+AiKGvAL9XVoAe1ntN32M55vajx/ojxQEAgRAqtY0B/MAc5EXLPfwNyf7bT66hWmmOAXJWXASi4AOwTAAhZ13czePIoMnj64g+Z+DI+6bjjbmeIkBPN+Ik4CMJb9mrMsl9lHS4i6xQvMO1eSqkAvYPiAgUpRVAY0aJ4PoNNJUZrrIWIqjHBv1JKdAAwhZ7elYI4araAH/b3u8QEBr1faHBeRL8WUIVEKmNjIFUIOhgPgwK3AOna4Hva0lC1/pPrFDroC0AWIANzxNmRHEDARQIe+90DnOcz/VAM5X/YmSm7QPJCFE1MDZJI5AnAAejVUzIXEBWBY/52K5ThE0QW60OCezrF4OaEV+vMGAassRQkYW/1knAJhvbDIXvgFHlEXgHPcn/t0Mvz8e4ji/E8uADtPlenEBe0iSuMl6LFLPAK0yhPVb4JPm3LymOJjJfgshU3Yt/x76M+UxDp9XGEcNaX5EjY1ZHAvsw/QsfBrXwRgv5CX5wYeAQRB0iupIt7iXJprMXfjbDRSA7MAO7nxgNpkDg7REYAbGQ798s0BZtbPqA1meNcN3NrDBndu8YoDkwtcVrB2gnObd0bnOwA9ZjKPprPoz/rVKAp9On057s+9O5m8tObqiXui+D3wtu+kLM3tG4BIdNOe/UR8ORxFbVS/iZzxwcH6mWsBjk5f2chcoJ2UAGgLyQgbD0AftwAP0vpGXA9CEgE4CG9B6hBIBBDEQq+YbgHMHdCj04mvYIKOk1Yf2CDqJ4KcYB8Jc1kw+GM/zAlztXTrP+jM6PNXGHFJpgiIogWYM3R8cOeMTVyivTay7wVNIy6RoPGtz13ubAGOJLOPF9yeFrMlkIZqFuAU94jYFZ0xAuRv3N5KegRoWLS40I98SCnG7EdRGQA6VXqjwfmbiKoFuJG5/zrxDUnWFqKkLF7JMHBSCKGdpDjPsCda/cMS1jfmuEADBJ+TCMA+vwB5fHAR4HO7+mQ665pmzE2UBnQuAA/U127rhKBjj2MRhQBQfPmrfAMZgOCDehQwAF16Wsnmw3MGh0e93R4hrwgdB77fwLT+uL4lYsIOaLJLLyxsJn2pMJ4nivNedRoXrzGZViyBpK5nWKyIqKz1qehrZO0+n6cQHyMwd1qVE8Wtk/szaI2qYrDY9pBmnhFRmfu6yVII6UrzfAohtAM9GBiOd+zFbzTSmi2tpAfAAn+EZSSDRp0IwEF7I1KfwCDAhaDeWkCHFOvEo7LsC4L3IKiNegmwfBbquNC5qfzYRmGA54N530ynayNo5AmDnX4uSsHAQBcGd1j7sI+EdsG/Aa7Rjrr1DzggrWDrPuIc8MI26uk55v58+ADzO4mqtQvvFe8YniLYR0LQn37atIA0U5JGTSnC230+JWHuGAHEQpmKqvSbNhGg1Y1R9Q7hLq/9HKYM1THLZ1SMB9xwkO97QFtI5kybMpVpyBPWtIQFwBoUwPm/wFYEYKAgSRCwQYC7QCMCtMqWYm48OiOk8oRxy+fx5NPqK/o4cxMFlyYENlL0YavP/8YxT0k2qEfNwsGtnHYDWpophaLC2PB3rR/D5Z8rynA9DnOAoRCZvdR09TxprMlSRFkJkuP+3NcU/rmCKCpjBNo3ElcS5mP4U0wZEOW+AWuAL1ptfhfAS6VwfxOKCnMLRZfuDg8Fac+U+T2oOzjvFBVlcSnuz8CCKwKiYgkHbUtZAKwguj+jnuZohTOSBAFBIIvA2m2mRq6v5gKdYfNBoyLwNLA5LNzNNQsM+0kz5iYKWKzeYjIw/XswotkhrD9dajtPQjDSXYA6r4RzbxVzf+5vE+AkzQTgKA3oTm9t5eZWwlqW/PrWGATBgvuzTnc/y/o5aoDJUkQZhyWMyRumzf8FLnwd4Kgw+qANaSV3gbbpE5APifcNURgjQJddWrymhSAE213DuSgKwFwZkk9xngqzshgv0CFhLNAvFeKdUsyIsjNCLtBvrTf5p8EBDICFd2WOVjgjSRAQBAjWDX2QxhJIutCbZJ1XVAa1FRtMod9O0OHNg7vyREG7zwf0PgVcoIFJspup8Y4CDqALiXsGQNjBeT0lGWMT9fmfoH2FjfszzmNZpKgrALj78+ThCTqsK5EeFA9z4tCXApOopYXMyseZvDprjEhoRGM8gWJMOxXq3WWMyc0n9CQtLHRit+7Sj6K1z9f/5davqPAK+lvj/WA+voG3hShMmQIW3AWaB4lEHj2FkV/Q659vn3vHBHEJJNS/Bj+SBAFBwESAW7x092fkTDOrZ1QCnPBOPB9TAxyQkgyLsFs6Dh4i2tDUqQiosbjYQi7QWRwYkxelSNBcIWDH4KSYBThKCgC8X7vEFQN6nqjO9QONEGrnvGVq+ScPb2Mn6pPWB4NM7SmKDD9IW8KinOoRoHEdKPBvIirMPgJE6sI86ORxEICBSimmHINyyM5zQuUP85YHwJrU/l0omrbuVHvR2RYzPihqU3yc3KOuhHvbyJbDs1MS6xRyRUBUgmChb9i9r5PS7pZStJcWP6fziv97bSNW0fWQjIJAPBDg83+5BZB34lFh9rkmt5AbD1oDxwLMDc6HNa3a3Cn8ggZ03hCCsZ8vweKjX4/CXGhFD28X/WxcwtOMyY3KN6EwsNs2MKZHzxPlecBwf9ajP6N/VEqRDIt+HEU3aPQRUAKo940+0C5YYIZNlYnKPOBGtvRXoXECXgFghBVeEH6jpCBUdGE7b6U5fowfAlUIrrSlXfvM621nw/2bozjP4w6fYgrzKIwTCIgHbxf1FjEHOsP6QXVNbXME4Igsg8SDoXHPGEV/ELYiAJfyFiRvbBBYs9UcpHqnTdJ5Jx4FzT5C1+tafWj0U8yqZ6LQdsQ78tALwGz+b1+HaJZt1Hf+cpemqCyFhMjgfHCvZ4w9UOjejXLcX/X2hDxRS5zx0+lDYBj9OEr70xc0G+RMHZHoOOZzX6MW/RiE5lh/WQAs5EHi/WdUpgXwWBFK+QGanVKKCT5RXCYNihG4uisMMCUAlkCuHFnP4ouo/GHdckVgfxsFqaINyhDgoo4xRujKJHU+TNsGNh9+YBFRj5NMYay3mzDRzuu6bJ3JOwfV/Rn1FgEYKEgqCoE4ZSpkAYZwiI5cYYIIiOjI1XEYt3wQs4v0a0dXinXkYXeBBhOj09mviPm/yJ/krl0RCWrB3dvyucXzthBlIRDfvO4qjzagJygO9OOo7INZnevg/gwa08zyERWrJ2hTadEa0/17aG97VopPlYmCohQYNDALcP88Fj/kR0qx/jEKlj/Qpad5bPmjw/u3tQtuDYySUgh9IPpChUOb9bNTIabO69tkDs9gCk163jDsN7LgocV8D8BJ5yGhZA47D4l3xZWDYgEGKpIEgRAhwAXg3ulETu1TrBMPO7PPrVmF3NoUIEnG2GzfHe7BjEdz7FuffzB3wiEqGl0e7TXf4J5mHgNRYfjVO9a3DXncn5Evqi7QMxY1k86o6e7PoJtbgKM453HxGrOPG8IiQAMHpJzvYZd5H/KEMTWUIwAzC3BTRFw+9ffHBeDh7Z4BGeYxE6VpAY3M+lmM4jwVNZ6BYdC/aJ7B5C3C7j2Hb4ErBwcFNAI06tqmnsKeJE8ROHjwEN3136fohLM+QrU9j6dE/bHUa9hZ9PXvXk87du62rUtzcwvdcc8TNP6Y92Tz454h486n391wO+3du5/4v9bWVpo+4xU66eyPduTP94xS8/PnRemYu0D30ZZAUnRy5ibsGm3O1JiWPkV17pa7toU9mMNqNge4XxHWDaBSx6JAR2VZg8YStNspJgBH0c0R7xqJu71hKSycVynsCjFFB99y9+cjR5psRD2zAEcxCBZf5oMHwFKYccEnKgqhVWxZtGLGCt43RClGgnrfC1aZngEj+rcJOBn2TUTFFR50NzBFYD4FKfIj8bYQdq+xUpTEoF8lrggIO8+waUcr6QGwYOXuW6QHncLEy605cnn55Bg/a9++A/SBj3+L3nvl12nOqwtp0MC+1KtnPTVt30k//80tdOkHv0rbd5jrBEBg/syXr6UrrrqGtm7bQVe+/0K6/NJzaFvTDrr6q9fRp7/4E0MIhjB73W9vpTPO/xS9Pm9JNi/u6dq1S/YZ513yBdqydXvHWyg1f8eNEdyxdBOkC7MIgGS3qHuSMfvb7PUWoUFoOVvSpZiBDMRxCzDmvlq6F1wKZWpgAl+2Ay+CkmQ3M1MUtLmgqIFptzGnDeftUqp7G8OnrkWF4Vf06NsGZgUbNdCkffMOPXc09uH+PGdZi0HMpGEm3Wlm7YqaImDZuhbCMlcKBATJq2PfvrrGGdwmc1hX2UK1RawInf6M9b71AFdOxHAsouYaD4+f1Vs6LfzgG5RiJM36xSh5h/B+sBjPsSRTFod9rMzlnZy+AvM8D5yp851mznAchcn9GYiKAAwUPE7NLc2USCTor7//Du1Y+xytXvQwbWl8im77+/9RTU0NPfXsbLrtrseNWt1939P0l5vvpbNOP5YWzb2b/nHDD+j2m6+lhXPuojFHDKdbb3uY7nvouY57Zr78Jn3nx3/KXnvjpduyeXHP0tfupbPPPJ5emv1G1nKsbig1v7oviltu8eJLICmaoxT1Fi6N+uANGovR6iMf2F+dAYTwG9YBbeP2VoLsXMd+AAAQAElEQVQCBHQhQYPJBXyct0t8MIMiwC5f2M4tX99Cep375wlwkmaubWEf0HW6+X4Ds3yMHmgOp1FichXtLxZwf0a+DLN2Rc0CvIi5Pw/N4+LHBZ8oYMHbfb7+AO1BJa4ci1rf8GajqRiC8AshGPRnmLI8Cu0AdCFxBWn/IjymuDIkzG0BVk/M3wUWSOAZMpZSCPuFElcEQIlS6J4gX18WogBYwNEcsXFGUtURSCXr6I5//JQ+fuW7Cft4YCKRoPe8+2y65J1n4pBefmV+dosfWIxvve2hrND8tS9dSb171eN0No0YNoi+d80ns/t33fckHYIkYx39587H6MCBg3T1Z95Ho0cNs860/fWoT9P3r/kUdelSSw89+kLWgowrpebHPVFNfP5vHxYBWtGdYoNamDXacOGB4Kpog8UbHbk6LrRNHQYxuDNXWF2aVjH354FFRHNUVCcZBlFw8QOjxgf3HmydV0U/tilm6YjI+tggLSfxOfOHD2DfQMjnwucQbJ14Lk/0Z+ty9i/D2sCWndnTkfnhVg6n+b8gOM3HiAi0CS7wFGPxAxYprhzbg7PRSfPY8kcj+nX2B2mmFAozr8DfGF8irxgBOMn6iLDyC8ACvBO2Kg3s2fne1TmnbZJ9E2GfPhamJZDwTkQABgoBSRBKU5ZwzKuzdv0meuX1RXT4iMF01NTx/DJNnnAEZdJJWri4IetGDbfol2a/mT132knTcvLDYjx86EBa3rCa1m/YkhWCS8mfU2DETvD5v44WYNaJh5nZX8GsWQN6lvZSczrykAY44QGw8rn7coSSzA0yCutc8vU+CzE3Kcbwh1mzz9+vfgzr/tadne6Olv6SEPikB1MOrI/EcidtlNu5P08eXtN2UftNWm1AZwGBVbteVssV3t3FPAK0QwAsUJhmY0QU5n6W2icABySORdT6hnls/u9wTQDmFsGoKIVgLNC/bXiC8TEA754nrgwJq8cY6Mr1iNB7P+RwTpxvCjMOoHIx844JcgRo1Dd39MJZSb4ggEBWGzZuzT77uKMnZbf4gUC7Y8duGjZ0AKVsepf+/XoT5hBv3bY9G0ALFuONm7Zmz+EaytATykBZCLaFecCl5tfLiuI+OnWdrj4Ok/j5qwjzgL6CzWcsVquvcEoy62dYsVjNgrsUGwEaOHAMomABbtzUKeSBxkIBwTiTGyVLB+hXacUGhkt9giAE1ydVjrZtlNygX1rcTDqzi37RTiGSsEjPZfhNvKws4fnTarr/IJHeV+Kd52PyoqgMaNhkuvratQENso7dJLN2hX21gA7CrB3MiV661sRleN9O9jrDLMDwrLFuC/0fHx+KtX5GqS1wDAqNkfpLTzK+Kcw8AxTCOt+HoJDFxk/RMfFyv/ML9fKp8ixbBOa8uoCeeX4ODRncn95x9okdedau20R79u6jLl26WEwW2IuOS9kdBLZKWxZgCMkQlmEx3rylycpfm51TnM2k/XSp7UIpy9IMd+ly8mtFRXKXW4D7pBO2dKa6m+f1j9/2hgCfXMECYA0owY0HZKUsqw+2KoXVpSnHAuyg/FB06ls+B3jXvlbS3cr1vGHZb+TMriXo5as7bwdh/iby0dngoDCqZ3O/orQWMI/+PHWE2f/peHGXz6gw/HDx079pCH9g9HTa9X0gFPZvQqcHtOe0/SLHCq4cC7PHlI4J9hetbqFmTf6F51BSE/gzVr+AtoC8SOgXgSX2w5waNmpEW4T0L7ItpJjg1xRid/iVTEmMPsGCoqg/vY3ghjBbgJey+b9YDgsKQtAV1FQT1IrFrV6I+vyDn/6lbd7u/7yPRg4flAPBkEH9soIrv9C9ezfq17cnP+1oMUb+vn0qz5/zQIcTs+fOpzClxg0HDEq2b11LS5atzElbNq438q3dvC9UdOrvZMlqk+a92zfk0GuHgTq3b88OA4sFyzaEEovl60wcdjWtKxqHpVYb6dbFZAienbkolDiotjFvhRm29uDuTXnx2LhurdEONjUdCjX9Coec7YItBp21zduzuDQfMCe8vrpwfSTof37WQpq1pNmgOU3OfURNyz4j76zXV0YChydmrTPoynTdnX3vqh+023atsczG2l0vzHkrtFg8PH2podRLdWumhobcsdEOh7WrV2ooECHgz6zg8wZFvatHZ5q8QI/DzHax1BobDuvaOTZA+H3qxcVFlZ3T9wQIs7mLmox3Svu3Ffwe0DY2bjC/o43b9ocWi6XrDhkY7HLgF0E3T9u2bDLuXbV+Z2hxeGau+Q0ka3flbQsG4T4diADsE/D6Y5st1eHv/nx7NvozIjR/+mOX2lp611iW4N179uq3ZvexRNJuffGt7FmiVas3kN15WH7tyik1f/tjIrU51JKgHfu6dNAEDVbaGuQ7Tmg73bUBDad376/FJnTpQHMNNe3VaLYo6FFndurWqbx/3Zngt/tA+LA4cKjG5t2XhsNhtZ1MDgDbeyDcXeyGHZoZwyKoULvo3tUUknZZ30Q0nF8t4rW/DTvMCd8927+XJOsTtu8N33egkdmxu2hD0rJwddqwMt0PkaK5I5O2U8fawc590cBhdZP5PfRJmcKtBkHHbh1rEzutb6LjYsh2Nuy0b/fFknGYNk6gX9gTYix0mlduNV2g+qdNRSry8m8CfSPOBzvlr91G3h6SxY2X3buY40RYeSfwiuAbFEpdalop6cAvqjz6Vv8ecH5PCPkm1Btp7Xazb+ydLNw34j4/U7i5Mz+Rc+nZrZYq8Je/+2d2yaJjj5pIN//p+4RIzXrxvXrWZ92ZDx06ZGlfMWzoV4k65vD2qqcB/foQ8tfXp+jQoWZqaTEZcty5b/9+got0Xd1hNHBA35Lzo4xS0vHHTKKwpEHDJxik9U4naNyY4TR2dG6aOn6IkXeX1Xlh7nZYaFX17DVonEEH5rCMHzPMlmY7HHBuxJBeRhl16d6heecKh35DGQ71zu8eNNulHumuBg4jRo0OHQ4Kj7HjJ9Leg51DRK21e/SkIXnbxXjrW9HXBEVvNWHCxNBioLDg2/W7uhvv+ajx/bK4jBpmetZ0TfaJBO1r9gw26D12dLcsvXbfAM4NHZA28tf3HhQJHDbvzRh0HT2+T14cgEX/XnWk/+s/cHhoseiSNse8wwfXFaQfGKiUSZqKkMNHjwstFnqfsGq7Ofn/hEl9c3Dp06Ob3gxo0NBRoaYdvM6m3SZNx08emEO3evf6dtK4YdSpTiPabymfj54WQD6xAO/aa+AY8532rimKfoXFhCMGGvc3J7qHtk1s3mv2+UePz/0GFN3YGoT7dFDj03PlsRYCEH5/9ft/0de/ez1NmjCK7vrnz2jokP7WFfOvT+8eVJ9JOVp0N27amo3kPMgSZhHgCnl79+qRPYdrZmmUtQrD2gtBW5VdSn5eXpSO1241FQa9zW/aIBUCgcHsW9x+GCP/NrD5jKXMYVGAJPmcnhAu98GXQColAFYHDiY/QDtDPLepkc1tKjYwWqq7ztoQRWmuH97zlp2ttO8A9toS+gEVKb6eRYGOwhxgBH6atdS02NhFf25Do+0Xcx7b9tp+gVnbXnh/EQV77Vark28nAe99UBFzHtPd229o32wLYd/YXnVqrHCsSB2mSmrbYi5s2154fzF+om0oCpIWjao/UOew5d9E2OfFr97SSpaNBaRlU8bS83Trkt0t6ofHCdgewpUjVrIxslTeqY7xTUHDoKgXaWWCA+qm7WbfWCoWVjGe/4kA7DnkbQ+E8PuHv9xJX/vO9Vnh96G7fksjhg1qu8h+Bw7oQ6NGDqWVq9fT0rfMeTTI+vxLr9HOXXvohOMmU88emWyaMG5k9ty8hW8hi5FefWMRrWhcS0dOHksQmnta95SS3ygsYgc8AJbdQKaTHAVmv9IAWMCDMzY7Qij45QTAqgdlpSU+oIVRIaIo5gJw/x6mYKvy8W2KMfxRYHJ1GsHw6sd6wLh6iwnUr0VB8HtxUbPB6PbJJKhQW+BCX9iZfbzThatN5SiiP2OKDK7lS+k687sJ81JI5UaAVvikmHIsrAy/ogfbeSvNdjGyfw1O56QM6xfD3jc0bjLpLtQncEBSXPjbzXME/7jS7wEGFL13gCKltVOODD4A7TXkfWMYAmCh6vZfKq5kk/xUAwEl/H7xa78gCJ75hF88v1fPerrwvFMJLs3fv/ZGQsAsnEdatnwVXf+n26hbt670wcvPo0QikXWXvuzdb8dl+sG1f6HGVeuy+/jZum0H/fw3t2Rdqa/64DsJbtBdutRSKflRTlSTruEHjU4RoHENKcUGtTAy+zkMfQ9QVlpKHWbmDyNj44oFmOGAQC8mMuE5amQRPuEaX0zt04zJDbPFy47eFQwX3TLOLcAbNa24XVlhOPfcApPRzRf9WdGTYULfVjM2mMoWqu1ivv5vb511dSYlzcaIsH4PYMx5HzmwCAu4jgwfJ6LgHcIF4OF97dtFzjexK4SSjvYyc/kGe7q1W4xdWMr1E00htAA3cgtwfWkYgH7OQ4axf1i6zhwjoBwEbUFPIgDne0NVurZoSQN97yd/zs7PXbtuM5127ido+MQLjTT+mPdko8GpKnz5cx8gBMh66tnZNGbaJfSRT3+PLn7//6OJx703axX+0bc/QyceN0Vlp/e8+230yasuyV6bcOxldMVV12TTEVPfTc9Mn5O9hjzqBuyXkl/dF7VtqRbgNNNihlEAfmuDORDrDH2x7zfJcAijxWf1lhaD3H5lDGbJbuYAuCM3Zp3xjCAf5AzuRSpGosjk6u+JM379NSEAS+J019zgm60mFWYlSNb9mUV/njS8MNuQ4ZbwkDP7eP+L11ovEzvtaUgf81tvP52zSXOFUEixQLuHEKwI7JVOENzAqYR/nNkP43jJyZ2/ymwXI/rZt4s0U4Rs3cVLCtcx2oNe45ItwOy7CKPSfPl68933L3KM1HHjvFMYveeWsiWQBvey/wZ0uoOwX3gkC0ItI1aHmpoay0rbNlliW9OO7NxezMnVE8KlY11fav+H+br3/Os6+tqXriREfb7lPw/RfQ89R8dMm0DPPXIjffWLH85af9uzU9euXei3P/sKXX/dV6mXZUG+454nCGlA/950+83X0p9+fU02T778+fKr+6K2zbUA56eQD+hhc2+DoLprb6cAXGv1CIXcvu0QOawrGcwQ5gaBebbLG8RziBWX6wKdKLmqyShZgMvUbnNGLwpMrt4QOOPHFUb1zPq5OcTWzxcXNxO+ZUU/3J85veqavk13N7+dbZbQpwtPet6w7M9f1dlPos7FCsC5Y4RZDsoKQ+LunsW0A05XFBTGOk1Qbq3f1vk+u9QSOVm/Mqxf2Lqz8z69zLDsN1boAs3Hyu0hc4HG+9urxYLA/GfuAVTMu+Q4oE0Vc1+Q8iwVC3CQXkew6zJuzAja8Nbj1LpjjmNq2f4yvf2s4w1CENzqZz+8mrateqbjvpee+judfsrRhvCrboJ78xc+fQWtWfxIR/5Fc++myy89sgAXXwAAEABJREFUh2oh6aiM7dtS87ffFpkNhCDNZTFLVyFhMM20umFj9jkzX6pLWxak9p8kswKHSaO7vqmV8P7bSaGMZcHCgKaOi93WcQE4pBbgnZZSRG/L6C4KfQsKoxQTfvRyVJ4wb99iWv8BTOtfb7Udnb4wB8KaPt+0cEwdYQq2Op36PtpLUvsWIPyG0bVP0YR3uF0LXgWFX99McVik2fewLWSMvsKgMScAlrpS/DbJxsvtIYwVoVP72grz+xjaJ0E1Ds0CYwpp/6B81g5DtYvvuZEpSPVYCMUQkwoxvwD6KqUfZSAlGQ5hixuCAFi6Egh9f/8i44WAfj+TZe/x8/HybEEgOAis3mJqZHumEo6DGbX/Czuz7xwAq53AEjYpjeHFbTrDiOMgJ279LScCNOjLcYEO4bwm0MEVI6W4g/N2EFaGHzjwtM6y9ugWUShJuNafH28JqaUHHhwvLzOjPxfj/qwwyzDBDxYTdS1s2xz35yLn/4LOlCX06TIRlEsQIHAtTIn3CeUwuVGzAPP5v07uz3jPPViE+LD2C6AFwp/ehkEb+kJcKzbxcSJMCnPQ2MAUAKWMkbhfpaQ2ZQbnwqYUWsKmhkARAiEYtAQ9iQAc9Dck9fMMgbUWc6s/rE9GP7LfT1vMjX4lbJ0XBjK9/ui89ONS9pNMAA7T/NfVm01Nfr8y5v8CK44BmF2cD1uqpF1kmKtflCzA3Ao20GauU33SfNthZXRnLWkmCMGKGjB4A0rQ7GeYJTzMcx6XrDWVo8McAh0prPQthF8IweocBAe4hKvjsGwbK3R5BZ06DjgOo7sn6q0Sd4sf2c+ZpYZQgKi/6l4o0vTpR+p8GLYrWVsY0LP0Wue2hdLL8POOXAzwpZdeI45D2HiGZcwjakgJysHS0XL3Duev1d3nSGmCQOARWMOCIPVOF+7Q0szKETY3v1lLTcGvFAaXv1CORZgEH24BBrPP6SvmOFcALuau4OXhg3speHDNfpjaQaE3kS8CtLq3nikA4D6rroVp+xxzf548vHB/qNOXYTiEUehT9PAI0KUyebxvDJtXxIFDRNxDCkudKHyK3aZyxsti7wxevn0HiJYw61chxQhfEiusSqEVzB2+HL4hxVx/wzZONDILcP8yleZ1LHBm2IwoS5lyMCwBsNCjiAAMFCQJAhYCOQGwipjjlWJWzzB14vfNbibdLREuTMUGdrHgyvnjwl+Yohny5T1KEfh0IJJsUN+0w7Qc6XmDvJ8zuLN5rvnqzpncMH0T7XQ5brgbqB3jl2GWz80hdIEGcz/TsgDrQEwuIvqznp/jEFZLOGhauNpUFGKuJ84Xm9LMUyhs8z9Xbzb7sXKniPDxMswW4EVsWSzEz8Dc8HxtIsPaQVi/Cd4PluMOn2S8U9hcoLkSoH8JY6TeRsL+TXALsFMQOJ3moOyLAByUNyH18B2B8lygTatImJj9216w1Poa6ieMrSHdRUu7VNRuigl/YRrQci3ARZGckwnL4CASqH5BdyPVzwd5P1cANtt5vrrXdTOvIkiGeSa8Rw05rn+5uGA+nE7hltBFgSZ6cM4hgtVP0QGFUP8S3J9xH7d2hc07BjQgQTG6Zz/22hIE+wyzbrddcf7lWIRpnABVOe2+xLaAMlRKMSEwbFgoOvj83+EOyx+p/NjydhPWb6KR9YP9taXgQGcxKcW8AcKkMEd8E919HYqPejbHuxgMkCfJ+KYwBcGCopQbD4oWgHOHTsDhaRIB2FO45WFBRgCMjl6/Ylyg9TU/cW9YmP0H5zST7poJwe2U8bUgoeyUDKlGF3NudEsEsCh3MAN4SebSFKYBDfXftY+IWyb6FOENgXtVioobsKJHbZevNy1hA2wYvyjQ/sirZvCrKSNKZxVyrV0KxYBvWfW4+/PQPqVjEXYLcK7Fj4FUwiFXlDaFNCr2/FWmV0C+AFgKngzzDuH9rMoX9C0XeqAgK7XOKcYvhMkrYs5b5rsvVTmoY8X5pjApAvjyRyVNizCHUh0Sz/ZL78k9q5o8SBDwFoFyBGDUMMOsAZu2B+DLRsXypP88b1p/jxtdQ3xAynO77SXekYdlLssbDeZgVs5grgPCl0LaGbKlPvj8X7j26fQVs8/bQlitPDqtK9mcLwg13NqN/KmQW7heXd5CnNZjjyidVeD9oj7dAjiFJS1aY/bnpbo/g84Us3Y17cLZYCa7WjVsNPtINxn+sPYN81eamBQjAHNPgK0h9A5ZvsH8HmAogNLYrt0UOsfHCd2qWuheP6/f9JTJP1X0PTCPKV0Z7yeNxTybC8BFW39RuFiAgYIkQcB/BLjwCzdG7srqVEswwvq1oA/oj7/WTBuZkH7qhMqsv6CfM3lhcYF+lgX7GTO4sp6ZD+phswA3MkGvXxnujmlm6Qhb0B+0Z55y3EBtrL/qHvQfah/bDU0m04hzQU33zDKZu6mW9TfD3mcxdef3bNkVHgx0+nigo1IDYKEsbg0Pm+sr7xMqYfjTXBmgra8MrHxORT0eniB7D3RmhdcH/+Y7r3bu8XYQJqunoqKRKUPsvGBU3kLbFHP/DYPSHLFTOP904tjSFYQKm2QIMVB1X7DK7NMH26yKoPLmbM1bcy57caL8t+ZF7eQZgoBHCKzZan6NvYtYAklVLcUsPkFn9v813WRwjx9TQ5xZVbSVsk0eZubGPBnzTPCOwMS8uKhyd0+dshwX6JCtBdzAInyWE90yh7EJIZOrv1Psr2CWj3xCQD1bCkmfboCygpqgCJy52LRsnTSuPDaBCzphtQBzAbgkK0f7i87BIkTKAMwFR7toJyW7ydf2sxny/KT4OBEyDxmQxuf/juhfnNI0w7zFgicAg7r8ya3gT3gK95ZqCvhYCX7h1mdN/gkKwnK8pEA/Ep9GhylZOB/0BDf45+abvFNJQVSL+2SqCkN5I1tVqySFCwLeI8AH+D5FLIGkaplmGrwgW4CfeqOZOK2nT3SnG0gxHMKgzX1pcXNOsB+7yL7qXRez5YP6jr3F3BWcPI0swEm/MqJbpnOUQqaCKTjUFl+TRmYZz9dOYBHSSw5LJGhYN/R6w9pZjssvykBUeQSHwT4SBKmwxEhAfZGg9EC9sY/UN5MgO7d3XMuXcr6HEAnAr7MpIpUIv8AoHQEL8Lwy5v+20Y7fzhTGOcCNbHyopD0EjnfqfDW2e3e/dIi4Z9s5R1bOP3EjCn+GbWV8PnnzM6YiAGMFks/VKunxlb+5kh4nmQWBYCKwZqtp9ehtMTrF1pR3XkEWgP/N5v4ec0QNFeO6VQwWaSb0BBkHRc8z80wN5tSRlXeJSTanJywaXYUJn/9ZDoOTymFyVenh3TYw1798uPRgFuAwMLqwbjz6qsnUnDy+su8h7BavRWypm5IsHFpTT4f4e4CSUCOFRg2ozHSTCuE4odOP/XmNJr8wvG9xmHDFWNgswOgjFq42lZn5FIHAKl9KsrYQ5ABQEErvfNHsH+H63DNV3LvPhwM3HviFQ7466teWrWuh6cz6+45pJU6jM5uRXrxn+5WNbp5VUx4kCFQXAW4V7VOCCzRnboLqAo0Oiws3p09wtwvg7jxBDmqBaMfc3XPq8MoHs2QILeHq68JyL5t2mCNTOUHB0szNMQzKEIWB0xYuX/q1fAIwF/w279DvDOb+Y682E96/ql2mjgjufeq4nG2aMbhhUATodL7BBJ1yLRxhFvpeYi7xE4ZWNmYkWd8QBk8hvU0gyKXeR8LTodjot3x8hEeE7mGgPyeI+3fMOETbmPfCgDyxEArRkMppC+bYU+h+L6//53mzf0TgrzMnlyj0OVSYe5UEPW7I3582FQFQiiE5kBfY06wnC2w9pWKCQFURWLPF7HgR2bDYB/JOPKjM/q3PmZ0WmNtSLN3F4JFiwl9TgOd3Pb/AtP4igIMbePDBLEwW4JUuubelcixe5vdVTFsKUh5ovPX6QOuvu/fq17AfxjnA97LgV8eNrpy5y7A5j2ESgBEN+8nXzT6iXHdwtAmuDAiD9Q9RXvX562jzlTK66ZD3Ddz9eViR1l+0AST0HdiqFJZvAu0AArCqN7YnlxkfAPciJRm/EFRlCIIYwv0ZdVbpVMt4kGICvLpW6jbFcQjw0mBvNrbQ7KWmB8S5pVp/AVDltgaUUlESAViHT/Zji8DabSaD3re++K8zyQZ0riENAqgzFjZTgxbcCNSdPcX9zz/JBoQgB8J6+k2TuZ08wh08OAZBVYjYtUse4KQc6y/KTTHL39aQLfsCGvSkfzs437/AvGgu+AV9DvCsJS1GbIAaq4OAex9orSSFNeotPFd+eu9Bg3S4uVYiAKdyxgmj+EAevLjIZHTHDKq8j+T9YxDHy3wvg7s/j+hXGiZp3jfuNHmPfM/28xqW/tGt1VCGvG1KZUqysLSFW1jgKyi5T3Vh5Qz1PnncELhbq2tB297wuGlIgUdIOYEBKQDNvrQvN2hvQurjKgJxLWy9Jfy2aOM8BqguJXwZyK9j1xRA7d3fmcvKxGE15Ia1U6cb+3xAC2pURzBdPLjL1BEW1w8iKkzJbmY5O0MUBGslC/RUTgAswJdiipAwKQFQf564AFxo3lt9nVkCrCfmmWAdcesvvEPA5FVayzQT+sKy7unP/nuQ9KjVcHO9/JRaSpifdknwpJnggz6opAJ8yPziYlNJOH5IBQC01z/FrF1B9hJqr7Kx4RZgKEaMDAUOuHIsDMuDof97gnlDQPiFEFyA3LyXeVsI4hq4q7e0Eqf9LEvwR5+Ql7gSLiZZ3JAg4gByYPldrMVFQH/4DheCgKFsP1IJbL4f1ZNnCgLVR2BN2xJIHQ/qU0IALNzEGZugMfszLetOIxNs3lYF6y+wSDLmJqjBHJ6d30KtmgYSbmw9kpUzd8CAa3ODPp8HdVap0SUXaM7kBe2bUPQWu13BA2AVmPdWz9oSXzey2Od6kW+dpQCc+5amAbQeWmnwK6uI7F+GKQLCwOw//loz8dgAFxxdW3GwwDRXBrC5lFnAAvQD11ysd6uqBK+A8UMqZxnRP+o9Laztel+snhfELebIIzK4qhsEgBH9dGrUFect/ybCoBT6/cOmNwTcuE8YU3lbSHFFaQCnTN34+EGDV6ivS9DxoyunXW8hOXxTQJXmf3vSbAdQlJbiLanTHIR9d99iECiSOggCJSLAA2CVahkNOmPzDxaufpylxe/fgw/aJYLmkJ0PaEF15XmWRX+eMty9rjDJLMBBVQLYvcIGpijpX8JUAL28WgtOXUN+yDIkIeiYnidM+7CA6PUt9P0gQEr3rp13NFvyZVC1+jyyKSxaxQb16aTQfi9jMYv6Fd2qqp8Pyj4CHP2OMfujByXomCOsBl1hJdPcArxb08BVWHY1bn9hodVotYKHW4JepRY/FIeRJ8mxCLgyAPVGWrDKVJwOshRhXWpxpfiUCZkiBMog7i11/lE1hD6+eKrtcyaZABy0KVNL17bQSywI3DumuUO7jkgODgFcDxk80/INnX0WFGJhti3CGtgAABAASURBVP4C/8p7dZQiSRAIMQJcAC5lDWCQjYFAZwygzQ5K4CNYdngAn7On1KLaVUlJZgHeHkB3cDC5YGQUAGDIprg0/xdlcuZu175WQ4OMPEFMWOIC2Ki6YYCrRLubZoxeWK3A+w4QcQtuIRdoYMitwJt34mywEixasHjqtTqpwsA2ellpZgEOcuAn9Ns/uvMg4X0rGqDQu+ykLuqwom3O97CrouKqfjNf/sgN66+qdJqNE0GcNqTqqm/nWwKwflyq9Rf3Ztg3AUs7zgcxYWrYny0LqF43eEthCpV+rtx9Pi8+aP3DHx4157si4vWRLiyVyPFKMkVA0JSlaAeYA67X+1jLCs7HOP16GPZFAA7DW5I6VhWBNTlrAJf+uFRAB3QevOGIgQka1AsiX+k0FnNHinXkQbQA8+BXI/snKM0sEsXQ6pQH6OrWPzDWQVGIONUZ57n7MyKhQ7mDa+WkFMM0rALw8g2mJQxTJIrBhTO6QZwH/NDcQ7Rf82rDdzBpmHtsAbd2BZnZv+2FQ7RwtfmuIfzyPq2cbwH3AFtsVdoWYAsw2sSrK0wsJg5Fz6ZqX9mWKwmDGiuCUzlvpYkJrOI8T6HjNFMMBk3o0+v/4Nxm4itkXHSsewp0eMrofSk8hdD29Dr4tY/AgPPZ+y4r2nERBATda+yx15oJU2UUKfB6OMulJaBUmX5s3Rvp/Ki9PFMQcAGBSi3AqEI6gMz+axYDo1s6Uc9qWn9RPtdkBlEAfmaeycRMcdH6CwyQ6phCZEdA5/SgrirlBsCqjOFNM0YvwEF/FAS2W+7+XIz1FwVx7XjQhD8oZu6d2YyqdqSTxtVWFOipo6D2HfQHOoMLizOY3PbLgdlgXiefKnL0qBqC+7NblQzT9zBzSTPB6qNoRzT4XunK+gNVFra5FuBO10pcD2LC98LHUzcswEEVgPGt3syCZ8L6ieUC3Xw//LsIgqIU7/pvT2maQYtgKDvGDHLvG7CK7PhDP9lxYO0EKW4I+utbWRTsk8bWuGo0sEj25U8EYF9gl4cGCYFGNu8RFp5S65dmc92C0In/+3nTfQeWTrgvlUpbKfn5YBY0wQ8RHd9abwrAk12c/6uw4lYjBHpR14K65daNAQWW+ilER5ophYK6xmMhOnj/MKBnoTvarvdItm3Vb9AEYATH27QDgkdbDaHVP9aFua5tpXX+ZljfGDRLOCxOP7rzAGGetqo1gvxceEytOnRlm2aur0EYI5wIQ9vQr01w0fqLcnnfEIY4CZhKpC8DBIUAb9ugrVDiirFtAXWFh0eE7rmE/gHzXwvRV+r1nLawt7NPKrUst/I/M6+ZoBTTy0MgPP3Yzf0UUxYHiW96YE4z6eMEpvudNtGFvrE6uoSSXosIwCXBJZmjhoD+YYM2CC74wLFfSsJ9en6/5zTBle/V5aagd+YkFzotnUibfa7JDFpQi2fY2r/Q6Lqx3AuHgpcZpAGN1xXHmPv7yCumNbCstf1QWHtKMQE4yAx/e5VtNzkRoIsMIIdooXqBQRP87n7JVJDBusO/X73+5e5nmOAXtEjQf3niIK3abDLd7z2plvQgbuTCvzRjcrcGVPABqQh8hK1K41yI/qzKwjbJsAh637BodQt9/3ZmEexbHgefZv1iED1jMB78hynQTx1fQ7xPw7usNPE+JwhxQ256yuwbMS1kSO/y3ncx+HB+ISh8E5SD/5puYnHahFri9S2Gxpw8Zpebc9mLEyIAe4GyPCOwCPD5LaVGgFaE5QxqPs/v4i4rQ/skCPN/VX2rtU0y19+guUA/+YYp5FXD/RnYpgKOA+qop9tnmIMc5v9OGFrZ8MAxCPKcRx0Lvp/jAt2zOEYoR/DbGYARv504WDd4ZNeTXAx+1f6Y7IbPAw5SJOg5y1rovtlmn3D6xBqCu2O28i7+8DEiKEIfJxHtAoH71PnkYUSIDK6O3dimrDL1coLcN2As/cJfD+QEwhvZr7h+QKdT7fO2EDTvkL8xARDKTFesfgoAbZtiyhC/eQb0BxuazL76nCMrGws1ch138Z3pF4PgNXbPzEOkC+P4bt1aIo/K/3x0mCrar/5brah6crMgUF0E3Jj/ixryTtxP5mbJ2hZ62WLsUC+VvApYoAd/wrMxjwjbIKS31rcSf98TKxTynOjiGlLdlczpHr/OYw4aBn39+RAC9ONy9lPM0uG3V0Q5NCAaJ7fQYD5kMWVxV8dNO4q5y5s8984yFR6H90/QgCIt26XWkLv+BsXyCQbzuv+aVr2BlnLjnCOr5ynDvwnetkrFthr5+bIvbkZ/VvXlOPho9VNVytnCY+NLNx0gHkgSGaEgqSQScoZNCwiSUghL/zzFFMVvn1LrukcEtf+DUNW+m934KQAjAvw/nzP7xuNG11A50+KyxJTwwwNh+T1lCP0j3OB1Es6YXEsIXKafK3vf1DGUXUwlN4oAXAl6cm/oEeACUbkWYN6J+zmv51bWgWPN0rGDE569K67dBiPh2cPzPIi7P8PCWY67e55HdFziQbCCLPzd+aJpAcvUER01qvKhgQe6CSKz3/HCHHaWa+seIssAS0DCtpjE3QU3B8QCDGUM94Q4sUrWX+CUZhaeoFi7fmYJv1D+oI5ICNZ1+SnVE37xjNxvAmeDlV5YaPYH44a4P3akmIeMnwpjO/SBwcf/sJ94FGAsDff2qbX0ibO7ELfY2ZXjdC7NlINbdjnlrPb53PJ//4gpAIJ/OKYKsQHUk5M5bUFd8X5710uHSG+LmPf8Nkv496Imdcwrwu/I6LfNaCbdgAGF7vGWMsALLLx6RuVcjlc1lecIAlVAYM1WUw3VO13eQ1KMydM70fJKLO8uBOzh87feNsXbz5wzN35rMhWST88zGbspwxPqkuvbJBvMIHS4/hAXCty1j+iBl02GB65uYPQqLT7FmDy/volK6Mhxfy7BSgr69RYGVzI90FIl9ark3gfnNNNB7ZWDsZkwpHp9BBQqen2DIAA/+moz8X4Slt9irfs6PaXso03o+YPm+ov2rrt/QikwZpD7bSPF+seg4IC10H9270H6we0HDeYf7wxBr/7n3C50xqQaSugfNi6WmDIBtQDPsJQfPNL1eUfVVkxvPnj4WOnpOKFVDGM0nwp0sqUY5MoK7RZXd1NMEbBzj6vFl1QYlNX3ztQGCevusy0+Ev2BtRuZv5rIUCKECAJlILB2qxkoqlxXlxQb0P3qxG9myxaAnkpctcqAlJJM8PHTpUnVf/6qFkJgD3UMN57xVXJ/xjO4C3RQg2Dd+eIhYx1YMCNuRQJO5SiFgEy4UsNGs3+ANaRYCsAjQ7jU8/vtDYHlPe6dZSqCMPe3UoZep5Hv58wB3mUqHXn+ah9jPcs/PGK6PmOOq2tz2/IQkCP4+IwFr+pLi822gbgR6Ct5vkqPed8QhDFi8ZoW+uQf99OTr5sYgFZYQL9wQRca1AtfNc5UljJ15v26J4J5xbsjLHv1p8dMoQdTIxAospq14LyTXxHB4TkHF2hFK7zDTncj2rEqsMCWW4C9+CacqvTP6YeIRzw/6vDoiYvRo8jpjcp5QcAGgVVbTGasd5lrHaYZs++HRhvW3xmLzMEb1l93hmwb8BxOpZgm08+OXFWRuz8jqmk1GDv1vCTDAHNJ1bWgbGHt4FreU8fXujbHJ2kphRIasdCwQwDTTgV+t4EtkTagZ2lVrk+a+f0WgJ+b30zQ7qta4Rs4rorujXhODrPvoys42t+P7jhInNGF67PeVlHvaqR0d7NU/V2YV/w5enGxqfCpxvxfUAYFoY737n1EWG8U17xOaBOY9/nFvx0g3fqNenTvRvTB02vp4uNrXesXUS5XCgXBK+K+l5sN+qEUu+jYWlS3qonzC364/qJffsCiXyf0zMm1BCGYPPqXstqa/ii/1gLGyijwEtLr8o4ja6rqBaA/y8N9qvHyYfIsQSBICCDwhO4KiMEOTHs5deT3YUAvp5xK7sGyBRjMVRl9MwmaOsL7T5xj4ZdGV+GA7bPzTcZu6ogETlctcQx27q3ao8ouGMIvhGBVANr/CWPday9AOBVwhl/R7rTlFuBSA0UFbR7wf1nE42mWVr/aTF6OAOzjfMd/P3+Ilq4z+wIw+T2SaK1OrcC982mmKA1SbAAI41juR6e2WgIwnpFmbsB+KAk3bm8lBLr6xzOHjHWgUb9RAxJ0tWX1rQYG/JvwM2YIaAW/woN9HTOqhkrxeEE55SQ+RvjRDv7+9CFDAZOx2uap490bC4vBJZmjNC/mLvfzwIsQ3gCqZHg9TB7uLRbq2dXeRpOqYlGTfLFGYO020/rbp0zrrwIxU6f22rbQKrbtefOLwB36k06f6M/nnbIsf3o9/HIHV3V4bUWLEcofDD8CYKnr1dgmA6LNdaIN6/vdPdP0FjjJEn7dXvs0FWCG3wkbdR7fLxhDdQxrKeYBquNitvWsT/DT0rPMEvx4UB+4PxdDRyV5MhYzqd/vV3+A6Phg7vS6IAr8tJHe9ZNprhDyebk8HYuZS0zFwJDeCcqw9qvnr3Q/d5yotMTS7n9ufnPW5ZnPeUUp5x5VSx99WxeL/uooRjLsm9jisys81npF1F/QjoRx4Oyp1bf+4lkpJvh5rRTCGuCPv2aOhW+fWoOqeZqSh5mP88MCbIfFO6Z50w5M6r058v4te0OXPKUIBOKeZS0LgIX5spVgwjtyL4M/QciDUKPqn7EYFzci+aryStlyocePjlyv7zMs+BWYXv16NfaTbFD3Q6udj64H5hwivU5geE4a5/5Axxl+P9zb8uGQ71rDRlNBNqCECNCq3HpmWdyyU13xfssVHpjfWe2gT4pK3g78UAT8mc1vRJ0uPsH9Nq9otttyq6dfygC7ur3E5v9WM0YCng/8sVXJy74BAs+P7zyYE+gK38Pnzu9C1bb+YXxWdGML6zu2fiS4fSMWhP7s0yfWEn8/+nU39+F5pJeHqTL6cbX3H2PCL6zeR1vW72o/l5ef5AKwD0GwYAnX6zWyf4JGD6yOEkh/jl/7IgD7hbw8128EiEeA7pOprEp8wPByUHt5mam9HzfYv087CB25/ianLzCxmeKBWzgESr0O+82YO/olX/bvnGFqvE8YU0OYl+d2ZbhSyMtvolJaGioIgKWeXc/mAGN+lbrm5RaCFg/uc3IVFB5ONGWYxQvTT5zyVuM8LPlvNpr9wHtO6lKVNk95/vExIgjBj1Bd9E9z3zLxGV+F5Y/wLJW4otTLvuGBOWb/hzrBA+bqC7vQwDIUXbi/lJRmnjEQQku53828f3vKDHxVbyntTvHY/Tfd3aQIEfPNM9U7en6B2RZOneAP75RkSnOvY6dgagjHApHxq4e8/yX786b9p1tqECEEENDk/b/aTz+yNLr3v9xMCAZVDHncAtw7U5mmiw/oYDqLqYcbeea8ZXbihSM3uvFU+zK40OMlDrxGcOvTXbsg5HmFTcaywuv18cPqpT9f7eMb4Yz3KeOrYwnLYWz2mFZVVacUl5GtAAAQAElEQVQgble4YQFmgh/cqv2glQc1QbC/sYMr6+9KoSPDGNwtHs8Dnrvc7B9H9PPHspFmgo/fcz/VO3xleYsR9RVzoqstCKaYxcsrhh9unvpcZ0xtuPLMLnTBMdXpAxXG+hbry2Is0s95bfnEsxetaSEeIPLcaTWE+pGH/1I5wp83D1++oZU4H1jt6VFOlCXZ9+B1e/jXdLOPxNx3RMd3qm8UzosAHIW3GHMaMHiDsZw+v5l+99BB+sQf9tPlv9hPP7nrIIHxw4BnB1GOBbjCOcBpxuR5JfjBmrJ8vSlYHDHQv0+bd+S6q63de6jmuWeZ+3NHMIdqPrS97KRPg3r74x03t71gavxPHFtDKdZ2HW8u8UIqoAx/MWQ0cAG4R+kCY1CUIFB66DSfOM7b/iFjWZX056PP0o+rvT+XWTf96h/5GOGl1TMfxjOXmMzvhKGlt/V85dtd432DV3M/ucvr+KE15JVSVMchzfrGrR4rhVCXG9i0AMz79iNwZoqNP17xTtziiXbQvSuQ8T5xfsHr4KFzlpl9AFYQqSoK1e9iClbf21GwYHUkgyBQOgJ88EYJYCwg/Pz2wYP0sd/vpytsBOI1W0yXr0otwLwD82pAn8OYO1g3EOgJOPiRkoeZT23yYS4LaoB17F5ky0JN8TCaIdfw+6kIAB5Ij77anF0PGfsqVdPlK8XbQoCC/ij6nbaNm8z+oX8Pp5zO5zPMAuyHFwD6QfSHqpZwzz/6cG+H/jRjcLkHgqpbtbYvLzXfJRjdaj2rULlB/CZe8mj5Ix0bv3B4gs359Gt904zPHkJwu5630vwuzjvKOyu43haSOcpiU6Gv53VznwcOnTjM235Rp4V/D172kVAQYhqEqk/PVIIQ/VkdV2XrzSvOW3X/3nbeaslFQaB4BODmWig3OhMwgkogvuy6/UYADAiMvAMqVCa/zpk8r9YC5gLwmEH+ftb1jOn32tqj3gsUI/oyP3g/hw/wTu3IB3WvXZoUDvqWW3+POaKG4O6o53FzP82sHF5p9gvQUPAy3OJ0hgDKjAxr1wULsTJA2MS91m72D2XqLvnZk1X+eZEJNwjwgv6uyo81is/pEzyMertyUyvpc68RdGdoH+/6AQMI6yA3EJZ10sc/uMHqChK0DQRIq3aVkkw55oULNLzFwAso2tKWYsYvZQjvT/R3oOpXzS3nm/DOEfSoms90KpvzXl4EEF2zpZW4l8/Eof7yTvpYAaz27Mdv9RPnIT2ZHuNfF9wBqL9vu6MasiMIlIcAH7wxn4d3pnYl8yALlS6BhGekfGL2eQCs0YP871nARAETlbzqyNXzsH3mTVO77aX7M56fuxQSzvqXMNcLg75eg9OrHPAjZTGY+vO88orQn1nOPmeMyokArZ7Lhb/NHkeC5tbPI0d6P+xD0FB4YOulJXwOj4/g4/QQ0M6x0AUyXPc6vbjI7CfHeKRATbPxcvvu6lOO6M/6U47yIdqven6a9Y1et4OXWNTvST5aP/1Qhkxnwa8O758gXg/1rrzaJn2yhM9lfaQnkZ/FAuxVs5LnRBWBmcy6gYn737i0K33hgi504TG1hGMujNlhUan7M8rkA5oXAU6gANAtSklLq455PKiPnynJOnKvLX8QuLl7kxfRn3XMk9a70I/9doH+13Rz7i/mernR7nUa+X7ONxESF+gGFyJAKywyzNVRt0aqPNXaIvLxrn2dnAaUg35YPzPMer7VQyVAjoLQZwVhmgl+Xlv+eFvjgtD4Kkd/Vs9HW1T72FbbYwpjwlNvmPMc/XJ/Br38m/ByiTRgMZdNnRrn0XsH7TylGL/ADRQ8vxvHz7PVIfxUACh6OM/ghVcElJErNnSOEajLqAEeKEn9t9OQB1QCTkmCQHUQ4IO36sT790gQgvt88PRa+tZ7utKn39GFENJ91ICEbYTD3unK65diAo8XQt8ctvzRaJ+tGwpFbv30oiNXz8aWC79w8x3e19set3s383leB7UADioBj8ZNnYMcanbGpOp3/0nG2GCwVXUK8pZHgEZ/Um59eQAoBOwrt6xS7+NujmN9Wh4tzaxdXrWDg5bO5/UG08I5zicM1Lvj44TXlj9VD2wxD7RBC/ZWY3UM44dUv1/As5NMEVDt8fIZFhBxcO8E9au3CEZlfEh+fRMgdQ6z+A3qlSDuqYJ8XqVkDu9U3Sej3WPZH/0pkzyMD6I/V9/nLtBe8AyzWXwEz2LIdLIjOgSe7nvT03lKkjwsLgiAiUIYe0UvhjK7wTthXYDV4/SJNfTRt3Whb13WNbuFAIDzGPT7VLgEEurANbrV1mjjmdy64dd8JtRFT5zJ88K9TX8+Z3amDLcagZ7Bg32uBNix178e/x/PWJKARjMin1Yi1GlF5d3FHNhabZQ5ZBlgYH3Ie1MALjYwC/AAS6FWbrXqmQUY/Va5ZZV6H+bB6/coBaF+zot9rC2qPwd9Y6sHn8NrlvALIVg9G22eu+Wra15t00zw88JTyIk2KMb0a8P7JeiwrvqZ6u0j2q7eN6BfQP9QrSe2B7/qKN7rQHAdD27f4fyCp/0C85zzq19oh4JS7JtoqvJyeTz6M/jANFPSqbp5uU0yhbEXhgNuRPFqCoSXuDo9q8bpgpwXBIKOwAw2d2lE/0RRg3eXGiJYgt8+tTZrGf6mZSF2Y+03DOZg+BVuGMwxqKtjt7e79xEtWGVaN/yy8HDauHbfS+EPgwbv1L12fwYeKTag+uUCDQ1vg2blQd3Ommx9BNjxIHHhB+/Hg8dW9AiO14Ce5StQ6pn7r1eMLqwcCAClA+GXhwj6Rt26gb7Ri6Bwc5mbZxAUhGmmEKm25VN//3yfewjYKZD5PW4ep5jgA8WIm+WrshDUbj4bK6eO9K4PVPXQtxnWDrxxhW+rwSxm9fP6vbfVovM3R2FeZQH4hYUm3xQE92egwXHwoo9EYDg8W6Ug9JGqLtXe+tsDVJs6KT/SCOS4Pw8urzlD460zZ5WAxgf0arq3zV1umdO0ysKNKclcibTLnu7yjtxLJm/6fHNwg/vz4N7lCzDlAlfHXaD3lltSZffd/LRp/UWAC7SVykot/m7eFrxk9IqvZWdOLvzCMlDXrfN6qXuc0fVqDjBf2gZKP/R1pdbfrfxpJux4MefxZba25WiPAjzlw8zLMSJfPaCcfaPR7CsnerD+r14n3jdUa5zA8m/6cxHtt5JvWi+r3H3+PVSTV9DrCEWArowFzzDEh/FRrxPqoB9XzWPMeghwXrDabPeTffAQs6qS81fHeIZqB41EW9BjRHS3xrlBPreFHFCqeKI8iaGKFZKiBYFiEMByIq+tMDsxv914UO80s/pVa0DHs7iVc8wg74U81MMuJXNceexyVeccd3+edrg/uNRZg4lOoc506OeruY9vhM91OnNybTUfmVN2in0T1bLy5Dy4zBMruPtzBdZfVIFbwDfvwNnqp1z3Z3+He275BCNaTRSgaNAt4PD88WuZF53OTEC+ByiQW7QhFPNhe6W97StzBWAdKXf24WrPoz/7NSboFGF8gGeEOgeFBDwj1HG1tjxwqBveb5XWNZdfqN78CAS/QptQdR5o9e9Y91Yd+7lNMgOG2xZgThvnIccOqiFvewBeI2+Pa7x9nDxNEHAHgTmWZl8fLHpbAzcGcHdKL7+UNLNyVDOaIe+8gjR3gzM2Xgl/YCKWrNW4OutVItqxtfH8L8WUADt9sADzyM+Y44cgF16CkftNePn00p/VyNzFK5n/i6fDAwFblTbvrB5zp56x7wARd//1KrqvqgPfclfwagvAvH88HAEQA8Dx8O+haRdHyptj7iEw3mPrL6hMsfGyGuMElID6tAMInhN8Xu8VtCNx5djG7dXvG7hizO9+AThAEYA54dhHAm+HsRz7bic+7z0Iwa8UjSkmAFc7CBYfI8YMjrT4q2Du2AZgOOioi+wIAkUj8NISU8gJQieOyqdytPs4635CRF9YOFTJmHscBOuGqg/HodpBLdRzH37lEME7QB0j6A2SOvZyyzHweu7rwtUtBOZPp/ksj62/eHaafRPV9IrA8ypNDVq0bJRVafvh9FdTKYb6IvF5XX3rEwQlIa75lbjlc2uVFQFcAA6KgpC7xFdbEeD0vrl7uB/zQPm3UQ3vkCdeN6cKTTs8OGxvDv27qisAb2hqJT7F44iArByRYsqQaoyXKJOPiZOGBUfoSzKlOerr9P1Weh7WZfAIejlB6SP1OlVzPzg9QTWpVGXLNjIIILCPTgyi2urHfu2nmQavWsz+XLaMgV/BbZxw5h35zj1OOd09/+Acxuz4HOhE12qD0l378OtN4tZfzPPC/F9vnt75lBQb1L1ShnTWoLS9BpddoPF0bgWutqWHW3nGBUCzn+bBwKrM7PMYCaMDNEUkxcaJajK6aH88wfKjW9iSVn28XiYOdUqxvsHtuZ97DxBNX2COCUcFSADmXhFbqvxNzGKGA/QLXb2dEYPXbptSVhvUL1RDUci9HqAYDILnoKIb36Hax7aawUO5knRQrwTxd4A6RDmJABzlt8toi8ohtFZ6IB0Edjm8fzC0eFyLWQ2NNt4jX/4oSMwd6sc78mrhgGepBM3umi2mBv3oUf52cXWMwauGi5+iX98uW9dCnNk508PIz3pdUt31IyI/l30xa5J7NG9lC/E2VKkFGE+pT+K3M+neG51n3dvj0X3HDfH3OwBlOZbPnThbnYTgLoiSr0qHAiJIjG6aWbu8/iYw/1dhg61f7YP3DW4rAqbPbzY8gjCdAYw+aA5CSrO+cWsVvwnQ++JiUxng13tHXXhKsrGyqQpKc7QH/blBCX6l6sQxqKYLNOchgxRDRuFR7a3/o2K1KZTyI4fAS2wNu7GDi2rGnuDAB/RqRPGDi2+ue18wFAAK5BQbzKrZkatnPsCsv1OG1xB/HyqvV9ukT4Gw7p1lMjoQ4vxwcQTOacbsV8srAs+qNN36rBkxe6xlOcX0gkrLzbH07DAVNZWWr9+PoGdBVBBmmAW4mq6/sHDqmASNueP9UjWx0HFQ+3wJwQlD/Bk/koepGrVt3VaUPvaa2Q8efURweAVQ7OU3AYs//y6CMnUMWPC24LayGAoxLvQhGjieHZSUZgoRfe6623XkPOToQcH6Ntym1668+FFsh4KcCxUCM5eYg1qQOvG0B8w+rFT6C4MbT+Eohvod1d9HoBH9KXqoff28W/tg+Ll297gx/ndvOYO6R4GwXlxkzpH3y/qL98uZ/aAKwPAs4W5hbs2Zrq8DEp2pmksAzWJujmMCwtjkzAGuorsnZ+7GDPJHwOt84+YeF3y8/CaWb2ilzUwB49c80Nzx0sSpkqP121rpTbbM05E+T4nh9GRYv1BNRcgrNssmZphSitfPy2M+TrjtDTCT8Y2IeD6oV7D6BeDNp03BjR/n3UwNG1tJF66h5A2KF6WbdBYqy38OsVAN5bogoCGAj3aFNYCrU+i+xgXIAswFHghmqq5ubfn8Zz/mdRZDS4ppsobmVgAAEABJREFU96s5uD/8iqkU6ZNJkNGhF1PhKuSpY+v6ua3VtqsytPy6wgFTBPzUdKeYN8C23Xa19v8ct/4eMTBBQ/ugh6m8bpzR3MgEkMqf0FkC95AZZ1mxO6/6t8eFnQ1N1bGCY579ojWdCiC8wVEDgsXqpHjfWOWAYPpbn7HQ7CvHDkoQGGA9j1f7fLx0UxHArb/4DjjuXtHp9Bz+TXDFhNN95ZwPar+gaEmyccJt7zk+F3yiD1HPFa35tnzaVDXmQs9eavYBQesf8+Hj5rUaNwuTsgSBaiPw/IJOxgbPwrIuYPCxH4TEB7RqMPs8emdQLDwc/xSzhrsd4EQ9D2v63T/b7NCPD4D1F/WrY4xuNYNa4HlIfJkHKIiwzASu+ZFS3clYWxBKALwzCtA/zJnm7nFnT3EvOgyfA7ylSgIwrCb6MmAQ/sYGREHYvRuR3g6rtdQJlsjT29fQvgnCswPU3CjF+sZqjBNO9HJByM8AkqkcoccdpQje/yNMKRqk6M/q3WQ8sgADj1nMMyRI83+BR8rqH7BVyU1lCKaNccPBpGHBFH9ypk3tdeebULhiy8e60ZYSDOfjloLZAuL2FoTeohGYxTRXQVnPTxGQYgLPLpc7LwTPWbXZ7BCxvqV6fpC2SYZFtYQ/dOa6dbmLJbccHZBInynG4HmxFjB3f/Z7mYeE1Sj1tgBmDEKwddqrv4LPufU5c+7vqAEJGmYJTgVvLDIDgjDpWasV7XUmi48AGnTs9Tr4sc9xqIaHDDwgdNrGBsQFXK8TF3zcZPb15/D91VtaCXPE9fPjfQyQBuW1HoV43wGiA+anqFe16P03GlsMF886S7iaPDx47G6GuSBXKxgaPCKgHFMApi2lpFveLarMSrcphoWb/AL4RijcVB3rrWehb1THQdqmGN/kNs8AZQAChuo0wwtEP47LfvB6hLggL3SWjACCOPC5XeMC4t6nE4PBRT/WhTP9fDn7nH64aeoMRDllVuueFBP+9AHYzWc+8LLJMU0dURMYi0+ONnePqbxwEweUNX9lC/H2NiYAFkA/LV7AJV96a30rcaXB2VMtLUq+m0q8lmaWnmq5OvLoz2Oz777EylYxO8eBt1U3Hg2FmF5OEK0bOd9DFedD61hc/9BB/ZCG9E5QhrVNI4MHB0k2TrihDHicBb+aYo0JHpBS8iM4r+AG7XaV4Fb/oFl/UefUYfjtTG66QL/APAcnDoNatvNZQdqrxveg0/d6g+lFibnQSHoeT/YD8ApEAPbkTctD3ECAB3HonU4QAkC5UbabZaS5e9su90rnzN2YAFo3FLVJNqBVIxI01lPlTH9Q3J+BQ64LNM5WLz2/0BzcMPc3CAqSlGVx0KmuFqOnP6PYfb5eMuaOu70mKrd8VksA5uuDj/Mpuq8T9hnWNyKmg1Pecs7z4C5wfR7q0jzucurjdE+GfQ/bPJgX/+y8Znp1udk/HBuAqMhphkWlfQMsyHwayFEB8Qiyaw9cAVGNvmEmCwA1LoCGg2oqizn9kwLq/oz2kcM3uRw4M3cKnU+SaHVtAYCyYBIBuCBEkiEoCHAtZpCiP+sY8Q6s0gFdld1s8S688xod4Lkb1cJB4YHtg2zpIyz3A6sGrgUhJVkQrGpZwRWtz7xpzoWeGBBNd4pZearh+qowKGXbuKmVOLN85mR3rb+oD5QQcPfEPhKY9J0uT4+A668eMRRufgN7+sTcgEibxC3AbgvAOf3jwGCyOFwhVA1LuIIfW3hP/elR01NmsGX9PWa0//jkjhOocfkJgj7oVSXAuhU0d19VN2zTVVYK4RvTA4diHv7oACrOk2yMcItvAt+o94twhx/RP1j9ItqBSnWMZ3B7ulCuESW4WChMqrX1v/crgrLW1lbasnU7zVvwFj3+9ExavWYjNW3fWcSdkiUqCFhNgGYFPIiDwpoPaG515FimBXOk1HNSloV1QI/gdl4pNqC5LfxBIfDQXFPgO2lcsLq0HAvwHvX23N8uXdtiuD/XWE3Dz/l9OoWc4XfTvU1/Tqn7iPyMvkXdh3lhmP+rjt3cQiDVy9u8Qz+qfH8Wt/IEzPoLCjOM2d/qoncMyudTRMYEVEGYqbM+TlS4PUEhpLfD9tOubW5+5qDRN+Dpl55YawSnc+1hJRaUYm2i0vHyideNMYGCYOXOB0mGuaC7/U28wLyC0L9BIZevTn5cg4IQwrl6NpQY+rxddb7U7fMLzPYw0bL+ov2XWo5X+ZMWX6c/y02+CTFk1mzpNL2CR4hrBGhgHCxuETXS0u49e+kn191EqYGnUt+RZ9OUE6+gcy/+PA2bcAH1GnYWDRl3Pv3uhttp7979JP+ijcCC1S20XZs/ic5yZEC1eCnm0gXmxo23w5m7IM7j0enM6chddvObsbCZdO0oBvWgrfOY7KYjQuRmYA+zZCLu/oz54fhOeD4/jtNMGbJtd+cg7Ed98My1W1tpOmOO3Iz8jGfoiUeC3uzy0jczuYJwcPCGd87swzqlY1TJ/kHLwPnmyhajCERAN04E5AAMeJ3WN0D41fsyN6sJ6999LEr+iWNrKCjK0xRj+CsRgNGe9DmOwHna4fh1E1F3y+IKc3e9AYheWmwKgEFRitqhmGLjRCVtAeW3WN3BjEUm/ZMsARjXgpo43+Tm1DEeJBGrqPi1BFoQ8A/eCNmOSuOqdXTCWR+hb//oj44C7tp1m+jqr15H517yeVq/YUv7nbKJIgL8wx07qIagvQoirbmduDu1nPOW1ZtrRQXVuqGqyHHQFRgqTyXbB5j789GjaghCMAXoX5IN6NVickEy13QHaaDnSqFKGRvQW2m65dlDBMFDlQPrL5QG6tjtba4F2D0lACLDr9vWWR4sKUGcHpFmlk83mf1XV7QQhGD13iDg8XanrgVhm2FYVGse8C/uO0gQBBTNaUtB+/Yja9Wh79sUswBvr8BLBksf6d/0qIEJ4t+d7wSzCmTqzBNbXVSMIeKvrhDAkyYEdP1b1C1ltU1sVaqkLaCMV60+AZZk7CNBIVzNPh7PqDRxnsFNvolPERlj8dGV1jfM9wdSAN61ew998vM/pvkLl3dg27VrFxo2dEA2DRncn2pqOqv+/Iuv0tVfu44O6qNfx52yEwUEZobAvU/hDAZD7WPrhrVr1z4ivr7n6IDObwPNSEk2mDVpFnxcryTBesdD+Qcp+JWi7bCuZLgZgiFxw62L2D/MZcUSJ+o0bB5w9VLHfm+r8U1UQhPaz9NsvvRZVZj7q9eRW4C3uMjo8v5xtMX413YOkXo1fN3PsD7BTWYf6//qxI0OqPuzqiNn9t3yFFLlY/vw3GZj3MC5i46tpSBZfVIuWoAfY9Gfjwpw8Ctq/5dhihA3lUKzlzaTPt4M7Jkg/rz2agRikzzMrEalwh9XCk8YUhNYw4minGNQideYKhNbTBmDkhD7KgXdiKLqWa1tAIdIohdeeo2efHZ2luZpU8fSjCduor0bX6SVCx7KptWLHqYDW2Zmz+M6Mt7136foqefa7sGxpOggAEYR0T0VRWDuA+3Gw5i8JhfcPV+2BjJdsz20byIwS/2o98K3nLFx05XngZdNt6YR/RKEAFi8DkE45oqASgd1O5peWGjigekBuoul3T1enksxK4/fc4AR+Vn/ngb1SlC1mQFuiXIz2muO+7PF6Hn5fot9Fme+3ZzvmOshE0j2pgOqNPsm3FCUdhRu7UBp+pcnDll7nX9QCgTJMwQ1y+0bOj0ZcL3Y9GZjC63XvCAg5AeNVjtauFII/I5dvnLO5fYL4J7KKcmbe1LMY2p7BbwT+vfpIVr+SCGcIwDvUVcq285b2UI8hgzGvcpKDfTdBSsXuBECAa9uv/sJwva0k4+iZx++kU4+YSrVMnU2jnEe15EP+R9+bEZBgiVD+BDgnRjmLcCyFlRKOGPjBrMfNuYO7yYXh/IYG5SlJzh6PPyKydgdF4Bopnod9f1kTlRH/ao7+y8sNN3jg2T9BYVpptl3QymEcstJWDrrqTdMhUE15/6qOmaYq6Nbc4B37yMCc6Oeg23Qlj9CnZBSlnJQZ8ERCVu3UCFPOQnBXeAGru7tYnE2QY70inqmLSywVcltC/ANjx2kXfs6+1xgcsnxtepxgdmmcvqG8qrGg19NHl5DXYJHLvF/mRwLMM9R3jEEwFksLkCQDQegMqctVCD8QSGC/gXlImF61NgAxkVA3fSUYkoAt8ZKHkNmdMzdn4G5NUxgE5y0a/deWrZ8VbZCX7n6w9SjPp3dd/rBdeTD9TfmL6Vdu7UvBiclhR6BmSEK4gCwUzkDeicTguvlpFlLTQFnzCCdjSynxOrfA50VBh31JDC6+nwcdb7U7bPzm0kvBxrTKSMC15V1kIX6dRxYO265NFlFZf82NLXSsnVm+wDzl70YkJ8Us3Y1VaDZr5QkWH/hDqbKGWRZf70QGOuT5jfrVhRozOvS53jCzZFbmxWtfm+BAJ8H7IbFizP6hw9IEAQ+v+nN9/w0+ya2uRgRG9NlHn3VVPKcObmWeBvMVz+vrqWZIqAcDxksK/bMPJPeMLg/A+MMU4y55QKNVSN0LDEODQngmtjAQKUk+yZ2VDBt6nnmFYWgoeBJ1LOCukUd4b2g6ge+SbfcqvOlbmX5o1zEAsc17tq1h1auWk8DB/ShyROPyK2xzRnkQ/5VqzfQbqjDbfLE8VQUaMacydcaTObeC2a1EuxSrBOvdEBbvr6VdFeg7t2Igj6QKfySTJtZyYCmynzQJvhVUAOioc7VwADlqvQ8i2SMNS85U6ny+rWFxwYGdvV8DOgY2NWxV1vMOX2MCQZnTfZmGORCqVsW4LC5OVaD4eceMqNDYN3g36hbLtBQhiDwlf5N9a1P0GkTvWnn+nOL2ef9YzkKEfSB6FPU87D2L6aBqOMgbzPMAgxPAFhvK60z7xdg/YUCqtJyq3m/m8aD6fNNvnHisKBT34lsHfca21uZEQX841vrTTzC0Ed2IlKdvWD2iBat3bp2pbruzJRmnbf7Qz7kP2RxVC3o/e0yyblQIjBrSbMRwRIDWz9rMC+CGN+yQHunM/tWszQslqVWDBYe/Z4xFnOX0E8EeD/lgnZfJw9zwRes6uzIgQOW9NDzBG2/zlJY6HXasVc/qnyfuz9PCugyD2mmGCqH0a0ULW79xbzx8UO9GQbTlqUH7VXRAGWQbolW50vZglGeafWR+j1BXfpH1ZHPeYRSQl0rZwsM575lWv/GDNKRLqfU6t/DvwcIPm489Z5ZhwhLH+llXXpCbWCD/9iNl7owq9PhtP94CINfKVrAK0CprY7BL7jhJZTTLwwJ/jeRZCx/uVGgF61uId3wAIyhAFAYB33LFQG6Jb+cunPr7+BeCeLPKKfcsN9TE3YCpP7RRmAmm8MyIQSdON4I1+pW4vI5hy9/NLCYgQy18D+5NaApSu5/2Zz7iyUNejDXUpU3KFuOAQQft+qGQX6BNdjr5U0eHsz2wZUhblm8dNrz7UPQevgVU1A6e5jEE4kAABAASURBVEqNEaU73/2VXsNbyWhtFcJrpYGw8O51pye0NQTIq7Su1bw/zSxeWyp0/YVCTBeY4OYbdCUp8E0z5aAbyyChP7j5abOPPGpUDWGJLzwzqKmS8RKKNB7ddtpIfG1BpTa3XhmmHNy6MzdPKWeAia4EgQAIxXkpZfiRN8U8xsoV/J5nMTFAuz4dyw/aSnlmHVMEVBpAlAvAo0OgICwFr3Lz1pR7Y7XvW7l6PR1z+odo+MQLCybkQ/5q10nK9x4BPvd1fECjm3JkOHNTrgAMxo4v9zMmBIEcFB58QKtE+AMWPHiR49JHqgIB2PIgWIjO6la1ZlgDPQQpVd4gS7PbMxVM5i/DGP7tu1WtvdneNuOQsSQIrL9eBwvrkTRprdQNejaLDYAgL8F8+51011uW8M4jokotn3OZgnDsoKAj0EZ92mUcUOofHzlEmDaEfSR4n5w3rRa7gU58vCxF8LnzxWbS+0C4PsNTLNAEs8plWFuAIoNlKekQ44J+wxEDEhQGAZArSeG6q9NR7P50Ni1oUkCVwk705PBNFbpAz13e6TWHZ44ZFFjRD9XzLAUahXXrNxPm9RZKyOcZYvIgzxCYv6qFdIGpe1ciBDfxrAIVPCjDrBzlRoJ+nc1/HmQJOJxZqKCaVb81xTSZpTA2vHJPvWkGvwLGEzxyX+V1KeU4Z1CvILAHf+6MRaZFUwl0PF8QjlPMylGuUqgcWvCsh+eaWL3Nsv6WU1Yl99SzfgGWmkrK426O40PgIYPvVqe5UmY/x0NmUDgEYLfbAhQBz8032/h5R9USvAJ0vIO4n2LKsWLHSyx79ADzCjr68ECztbbw82+iUqUQ7xcQAMr2wQE7mWIW4HKmCy3f0GoshwUSw2I4QV2RUoxv2lnBtKml61qMGDKIxwElEZ7jawpANx24nqKmpoa6lBm7HvfhfpJ/kUBg5mKmtQqR5ZMzHeW6e85eZjI0o0PC3KkGmGQDWrGMjbpf33L35yAvfaTXW5/fhfO6UgfH5aZdllYYTK9+/8ShARhV9App+3xQL/eb0Ip02s05f8eMZsMyBuuvH3OlM8zSU4kLNO5FgDyd2NEDAzek69XL7nMFXiVKAHxLi9eY48SoEGCQBcL6gYXW2nT8gZ6OgxJ3fvvgQeMOuD0fPSr47QGVzh0nigv6c/1DBwkRoFEGEpTkQVYCoo52iXvHVPJN7D1A9PIy85sYH+BxQccjyQS/chQB05kSCDwT2oX+nKDv1zG+qVxLOOjkyx+NGhCQPqG4TxwkVC0FBIlO+gb0751d+/fef/+C7rzlZ0Un5H/24RsJ93eWJnthRuAltvzRuMHBZe45zikXOnKUyTuvMSFi7lB/jkO5FmAEtdCZ/YTVFMIiAHMX6Ern8wBXpBeZgqhvJkEQ7HAtiCnFLMBuLvuSj160Oa48OWOSP0NfhlmAK1kK6SX2/uEdA+0+UT40/L/GMdhSwXxHbv0d3jdBYWJ20+yb2FrmfOhbnz1E67Z1cpSIio/AV/6/7eJqwMcJeGwUuhOCDhf03jGtlsLwDRD7l2b9wpZdne+SZS14OJcFhAvysmh2xHAheEeJHlN8+aNJIfAS4zhwDDCG8TzFHs9m02RGhyiGTLE0lpvPHy6gQG2HDR1AF190Jl128dlFJ+THfQWKlsshQQCuTY2bOgcBS96hMLmxcGa/mAGdv5pNO1pp7dZODBAtc0R/IMFzBveYd+TlCn8PsKWP0BbSzG0uqCjUMWWIGxE+QSsf6CcGfJmHFHtf5XwToLvUdNeLpvW3j6UomDLcn6GvPmnWvpI5wLOWmt4hQY/+rCjPMCt4JS7QXEE4GnPb1INCsOV9WDnfBATf/7xgBr46ZXwNYemjEECQrWKKKQKa9mRPO/7AyvmHR0yaB/dO0LGj/fmuHSta5IWcb6ICpRBXjAV92UgOUYpbPwu0Bf3+1VtaaSXjGyf51Nfr9Sp1P9nNvKNcvglxUxayIJlhmCZjUl+9o3D2FtXDQ0oOCAIvsejPEPzCpNnNdDeBLCec/yyGwRGW9ReafbPkYB9xxqYc4Q9Bo56dZzL7J4wJT9fFB/RK5vOotw0GkE8RCPpAn2FMbiVabYVDoe3Ova1032yTUca6v/AgKHRvNa73YJYeRKYu5zkIdMT7h7AwNj20SNigvVwMcC8P7jI2RF5CqH+GtYdypgX87qGDdFBr4giCd9aUWhQfmsQVAYWsfn9/+qCxzA0IhcU7XOph1LotudEO2kqycX8OSeBQVf8U450KtQV1H7Y8YOjIAQni0wyQL+gpxcbKcvgm0Dh3eTNhmTjsI8FLrJ71vzgf1xRILrJp+05CYKtSE+6L64uMGt2z2NqWsPiFiUbegZWj2efr/4bRdYVbgMvB4YnXmo15XrDgHREiNx7O3JWDAW/7s5n1D0zv4F7BZv9SjLEph9nnOBQ6vmdmM0FZoPKh7Rw50r9hL8MswPDyUHUrZcuD4/VOJwi0lVKGn3l5v1DOXD8Eu9GFZzC6QywroJ90lfrsnG+iRNfX5xc058z3fOextaGI+KtjlWRWv3x95LJ1LXSv9V3r9582oYYG9EzgVChTprtZbb1dm1fyHy1a02JEVUf7GtonXLjktIUiXaARE+OvT5rz4MPo/ow3jL4MW5XKCQaGe3M9ZALUFgJQFf84Abwdm7R5SxOdcs7HafDY80pOuA/32xQrp0KEwJ79RDy4T+jceNiAlm9Ad3o1r+aErg9Aj+FUWYfz3PpZjivPA3M084b1nDC6uXHvBbRxi5Sy//gyFxNDEOSEt4VKAqIVA9yGpla6+yWz7Zw52d8hj1s/yw12M5MpCCeE4P3r74xbvMqZ+zqHBQgcEzL3Z+CRZpaeUr+Jvzxhtu9Jw2oobFbwNhzw25ny4fCbB02a8U2FzeLdSWnbHv8eyu4XFpvBr8YN9re/a6OutN8UnzJUpAv0HS820+59nc/CmDvVR2VnZ01K38vFoHMqXCmlzWbzfwPVR5ZHUinkF8wbuK/j4MFDtGtXkS2ekYf7cD87LYchQ2AOC+IAywZcN8JEBmdstpW45umbjS05lquwrW2I95Vkg1mpbq/AYdVms6cM4zIXSWbhKBUHYKknLgAF3f0Zdc/U4bczlWvl6Cwh/97P7j1ofEP4fqb5zBBhLU49KjhcmWG5yE9J7tWZbHrE2JAxummmICxnHvActv5vGD1kuOWvFEv4jY+bga/Qti44OnAsXW7jtTmTLnKcuP/lZuJRv995XG3oLN4cAghreH/qPLxW0Deo42K3LzHFWFimRej0ceGvGOMB+o+sslMr6LQJtaF0fwYJdYxfKMUNHPcjYT70xu0m74RAibgWiJTwvxaB6y2Tye40aGDfspDBfbi/rJvlpsAgwIM4RKETLzWMfa7mLgC9RZktJHmYeWMpwt8DFsOj3w33VV6efj2o+zkuTUW6ddnRg7m/YJDUNQgTiH6rjoO8dROHfHTe9sIhgvJEz3PRscGYF5lhVr/NJQa8WbGhlTZpjA2C440aEK7+IcPmvpZq8YJwwD1kRodsiTi0zRRrC2Dkcb5QghB454umJfTsqbVUH9L5fUnG8NsJPcDmb8zFdeLQGho3OFxt3+ndpiv8JtAn6Csl4DmIG4JtmBJvC8V4jf3zuUPGNKmkxXOcPD5w4k3RrwHKECR1gz7eq3N2W/3cy2wpLIwRepl6Xl/2TdnclyoEroX0qE/TzKdvptYdc0pOuA/3+4KkPNQ1BGYx68a4IYFrpkXRmmJWjlK0+9MXmEGfxoTQvU+BlGLMTTEDGu6F0uAZFvzq+BAFvwINKvGojpUEwnphkdk2wrTuZZox/OUEh1OYOm3BBP7tSVM4wJJZYwMiINWzecClCn8zmZVnbMisv3hvGeYNUErfiPv5HGjM/8wwAQL5gp7SHIciPYV+cZ8513FwrwQh8nPQ6XWqXxdLNwUrqLoOBQdn+v/82CHSp46Amb/wmHDyBopOfZthbQECv3690D4PHIr+DsqxQvcF7Trnm5oKKIsRBZ0rys+eUht6r4Ak45tKHSdypoiEcJwosW2WnD06vUfJpMsNQURg/soWQuRWVTes6Xh4yJb+UXVPsw6sWGb/H88cMpY/QnmBcl1BhUpISUsbq2cvxgJ8wJJfvnebyeQN6JGgsFg6dXqxn2RtodyojihrxiJznhfm/eF8GBJnbkoVfArRiHbz47sOGNkQIOr8oy0O2zjr30E9s9Jt3lGaKnwWVxAOTvhHTJlPzjBhtVTmjgcIHBMQ5UapcKRZ39i0q3BbgLWrYaOZ7+ITgtO+S8VA5eeKUihA1TVY+59501T8vf3I8Fq8FV36tr7Cb2IWU4yF1nDAxkq9Heh4qf2/P20xC+rA2mKqS1gV5Vb1O/6SrG8oln9UBXAlYeCmiARg2IqWAKzevGxDi8ADc8xBLozWDQV+Ocz+0rUtBAZHlYHttMNrQq3NTHGr326TeSObfz+75yDNX2UKeieODW93VelgpiDCMg/6nFG4FMO1SV0P+pZbgAtp90ul569PHCQ+Z/y9J9cG6vvpwSw9pUSChnKQfxdjQqjZzzDvmK27SnvTLzIlUFg9ZLgypFBbwBqnUJDqaJ0+sYYGWRZg/VwY91OsTehu0L9+wFSGgt6Tx4V3PLB7P2lGfynfBOIp8GlTYQscqjApZayEtw9XjJw9JRrtguNQyjzgV5a3ELwoFKYZa8wZGLQo6YXZQFX9qm2j0VKqBk+4Cg57bWH9feoNUwAOayeOd5Figp8+oOO6XfrpveZAn7G0whcGyHplV+dC53hHXkiTecPjh4i7gE8ZXkNhjP6ssIGgqvaxhSCDbamJ4zJhaLi68BTTajeVKPjkw2vuWy107yyz/0DU56AtA4JvWqejFOvnc/NNpdCwvgnimOplB3WfYwAGvti63vXiIdKDu8AVNkxKIE4n7x91BRfPy12fESDyrMnht/6CzhSz/DW1x0K95dlDBDdX5FHpXcdFg2ZFD7Zpxi+U4h3zVzblY6Al7CA6NsoNW0qxMSKfx9jfnjL5JUyFQJyQsNFsV98k+x5KEYD5/N9AKggTdlR7ey5c3JO32MjTPEbgtw+ZnRk68BIYfI9rW/hxaabRzbe0A0rDvEVo+LGvElzb9Kix6nyYtqUMaPfPbiYwuDp9cHu+/JRwMzyVDGY6FtzyFab5v6CDK4W27XZHDQyh4br/mv3HkN4JOntK8NpNPZsDvHlncRgsWNVCf3rUpDGMy5ygHXAL8JYiXH9xHwTlf1gCEfZVwvxutR/GbYoxuk4rBtw7s5kWrjYVIJecUEuYPxtGunmdU2y8hOsrvDluZe/7hDE1FDSlFqelnON6y0qn31esYmyR1SaeeN1U/IXZOl7Ppog4GQ7mrWyh2WyZn3OmBq+/199pKftJpggoZS1g7g4fOPdnAFHcsIecVUsiAFcNWim4FAQQwh7RTfV7EOAC2n39XJj2cxkb5y8ejA0i1+r0HXNEDSFuktRuAAAQAElEQVSQhX7OeT+4V5KMwXNSBEC4+93DJoMPC8eHzugSXOKKrFmSD2Z7irxRywYPCZ0pQoCTcSGb/5liODgxNxrZRe3+4v5DpGODmy47OZjMELd+btmB2uZPa7a00rf/fdCIdIo7Jg1PYBO6lK4z671+m3PfqBMH75B92hRvCE1vC6CSQ69zoX2uKLULfrShqZW4tQuC/4h+Jo6FnhXk67xvgHLs+ofM8QBYnXNkML/rSrHl3wTvz5zKv/5hcw7sYEvxd9SocLP2PCCa7s6rcPjLEybd8IYJs8egoktteeDMfJZwdQ+2/3n+UM40oNFBDKIagK4r3F8J3rak0COAAZ/Pa4LgF2brL14KBmtsVXJi9hG452fM9RnW7/OPisZAzxkbuwBQWNbj/+7WOFsLNLgNX3lGbXFr+Vn5g/yX7Gb29nYYFKr/C2ze4/gh4eu+08zK4aQMKYSFfh3WjxkLTQvIO4+tpb4ZE3P9Hj/365nwV4jRBePzzX8dMIIDov7vPzW4NKJ++VI3S6eFpOfZtU8/yt3HslZPs0BI502rpcO6Uqj/pZnrq9048cv7Dxpz+tCGzrVoDzXhrPIphsPDc5sJMQ/0bBccXRv6900O/zJ15gXwReaZ3KPHXm0mxA3Rr6Dv04/DuJ9kSnP0gTodM5e0EDxi9HNR+x44BsWsnrF0XQvd9JSpGECQTPBSOlaB2C9O51nVqgaegzp48BA99ezsbMK+HRqbtzTRfx98lt6cv8zuspwLOAI3PHaI9CUPulitMihrdlYCXfIw826nOT3osGDh0XNfemJtZAZ6vqg7Z/Bg3fjWvw4aDF6t1QY+bFl+ewdUiKES/3E39mIGM/6I59nSWBOGdgp4PG9Qj1OMsXH6Joqt/6btrcStRCP7JyjIUUChBNDfHCxdzaZnawf5sHxcc+vBnKjwiGodNvf3DqLadzIlKAJaLHx4IKQhlqULAQLbiwvtJsVcf7fuNEl51BJyEAVZP4s5sGEX/HV6sJ9i4yWf94vVIKaMsAYGZI5g4oqQLawdcJKxJNRf2NzfqRY+UXAPT3YzqdV5hlZLcLrxcdMzYMygBEXJGwLUc/6RKwGQR08wpFx7t4kLvql3Hx8NQ4pOq1v7ge9NINx+7LM/JCTs2xG+Y+du+syXr83m2dZUhD+ZXSFyzhcE4NbJtfqnTqwhhLL3pUIuPpQPaHbWLtB/z0xTY3fC2BoKc1AXDiE6Yf2cHgQLcze/dssB0jt3CAeY8wuXJv2+MO/zwaxUCzA0uxuarJG/HQQoCMK4zAVvCxD+2kkqeQNG6Ed3HqR9B6jjXmi6Lz/ZMi92nAneDtq3LvyBDrulkHD+h3ccILx7nQoEgwvzHD9FSzpH8Ots3yqP2v53tunWBwwRH0FdD/M2zSyf+jcBBdGfHzOZ2snDayhKrp7q3aWYckydxxZKccx3xn5UExQhaNeKPgQ9OmQ6tqhL2S3mRmOedPbA+sF0sfMi6jWm804IlIq54RbJHX9Rs/6CsGQ3vTUQoT3gvFO6wVIKcFwus8ZCjIlO98T9fOAF4GJeUHNzMzVbKvSNm7bSPn2CUDE3Sx7fEIBW/5f3m4M7XH/PmBQNjRUGNB1cnbHB+azG7p6DBEYXx0hYsxRufdiPSkoxzb4atDG4f9Oy/K7dajK+mOM1MWTRjQu9q1IHM17eCwstE5h2cuzgmkAt7UNF/ksxZl/X7BdZREc2zJnH3PmOE9YOPCcyzJXQOh24v/qkWSW7QFi/ffBgTpCXsYMT9K5jef9olhWWowyzADu5fEI5xqfIHDemhhDpNiy05qtnmisCdnX2h7+yxsfdmmt4965EUXBxtcMjxXDQ84AniIJSXKeJ70PcgXeIfh4KEP1Y7WPMvGeWqTg/3eKbMiHo+xQN+bZJNk4o4Q88Azzm9HvhFYDoz/q5KOxzpbluOOD0YQUEBBDVz8MLKpDBr/RK+rwfSAF479799OFPfpeGT7yQjjn9Q7Ry9fpswj7O8TTp+Mtp0+Zt1KVLLdXU1PgMqTy+WARg+Vy1uXOwx30XHVtD0PZSBP6lmEabz/WDG49u1cMACMun1YwjQH0nCUmGA6yfEPp/fNfBnKimRx1eQ6dNjN43DBdovF+FClz+gYE6LrSdPt80BUwMofszaIQ2ulZ7vXDjA1ODa6UkBMzjQhGWvwjLvGjM4dTp3bLD7AcRCf2hueY7H9wrQe87tQsl9IakFxKyfc6s8/5RkfPnxw4R2ok6xrdkRHtVF0K6TTNmXwk9WPIMcx11si44ppaSTKGoXw/zfsqBrr71CTp9ktZphJnIAnXPsLbgFB0dyjEYEFRxMBycOiE6GPG20LSnrX98cE4zbdL6yhqrLzxnanToVu8TW/6dg2/CeZ527W2lay1Din4e30xUYsjodLm9H8iW07R9J02f8QqtWr2B1q3f3EEz9nGOJzU3+PhjJ1Gf3j068stOcBHAcha3sOUNxg1OUFgY2GKQPczS1sMtSeUFo485fTh+o6GF7pttMrhw/ca8NlyPUkKwG12oh5PG7x85SDNY4CIEPoMFL0q067QkmYWjWOvn6i2thKSXNT7EFvIUY/K4Z4ROp90+PCd+dOcBataM4mAAw2QZ4xbgLdp6yC9Y38UNj5vWHXiGfOSsLqG0+tu9Q5zLMAvwtt04ayYEunmSLfECDxkIwWbO8B5xqx8sPWBqf8+i+x4xMEFQEHJKo3Jcz5a/UXRdfHwtQdBRx1Hecgy2af2CohtKkVeWa52fdeGCo2siYzgg6x8fIxAzA7zTv6ab/SKmg0TVMyDJDQftSgALHuMPKyAorzp14b0n15LOc6nzsjURqDEPg3FUY1lxYc0tpTannXwUXfejL2WtwKXcJ3n9QQAMHqxg6un4WC+KiGufoglb3pFD6IEA+HO2Zmn/Hgl6R0SXd8jiwDpz7q4Dd8YrLOsW8kY15bhB7y2O0kdfMRUlCPgBV8ji7g5ernSZigBFyV+fOJizzMNlJ9WGKmgctwCrOcD/n73zAHCi6OL427sDgePovQnSFBERARWpIk0EpCsqIAooKnYUC/YGn4pYsIGIIoJUUUGQJkWkiCK9iTQp0nv/8h/cM8kld8kmmdvd/NHJ7s7OzJv3m7mdfdMWBp//RiYYNe9SP9F1I38pftM10Skqfv8Gfef7wosOwivL2vK1xS/noV+m+P09YCr4B54OEHMkGCmhI9Xta2Chp3/HBgx+t21uBD2DOf9nI+qCf9j3PZ3H3n7Y9M/pG+J564Nz/xFgLIPAjEG8P+E+HN4ZG1R2x3IQ6OPv/AcOvGfBmGGn/nYmzUAC3iOL5TXMIPY92iCLtmxJChfKJ0vmfCHb106R3+Z9KcWKFlQO5/Dzd4f+/kl+mvKxlCheyL6FzZylEsDop//GV/UqJUqeZBv8RaTmMjon/g0aXmo+8rzAe099hiS8wOPoVuffoHnriV7vzvWTBA98b3+3nee4wFcjc12Tr6/v1eApp2XUPF8jwOkvO/51wXuDE1/t015hrdP4X3w7BDD1Dy+BaUPb1yeX/xrgg+fUTs/+3/rFS56bdkP3LpEUv5kAew+f874t3yw6Ixt2+I50tajhvhfeXH4jn9jZHJ+38YbRqGqiYJaDt58bz3N6dZSi48ctmzqFWlb+nUJ4X/COO2ruafHfHfvGK933N+HfVmKpHPZ88GZxTcUE8X+/8r7vhnP/TnPv+oB3yHe/991DB+2gG5eQxaosbWkAQ9k8uVOkaJECyuXNkyJw5rX/MWey39sEEqCzLYG3v/P9o8UUlvqVbVsVI+KY7Ne7P2P5GZnkebHzTvS6yxKlqBN67LwzHea5f4NmRofRe3u9RPFv+M37bjrm8Hq5g17B1vTgHnp7n/zipKDXG9fezukbhOXMZnirI969+j43/C4wLXRAgJkTTtwB1H8EeOPOs9LXU96Hjp1f62aq3t4zsu2m3dBNvXD0/5v3Hu3ClL5P/b5nWd0z8osRYMR1m4OxJxJYK5T/NRXc2T76a+y9TATGbw6/TkP/8G67TvFbFuC9Lh4zJD6f7dsZio2OCufxfZ66gUmyX1v5x19nffcByCJS5xL3Gf7+Zedf/7E8wgyDdb/esyix5M5RAym+TZ2pltaj7Z+qhQrmk+W/jFYO59ztWWv9iLowbO6yebdvzXfS2r1wgfi/7I9f4Dt6hakqDVxq/HuzyuHXoJn3bqmT5JrdXE2dgh39X3KxrilQWPTs9v7khCxa7zv6hbAdajl/Kmyy30vtYo+e0BXfOx0557SgV/vF0afkoaEnpcugE9LilePS6Lnj0vr1E+L9QmjywNFpLsWvz3bTrvMjwN56YEmI00f7vfXxP0/vZX+Ix/g9fPy/dgJTY7E7vH8abrn2bye89YqHqc9KX89P8r/tRKmChlS7yPavp54cR/f/nNl80/PuFPrkx9OCdbBmCPxNNPR0npvXbjr6Dxz461anUqL4t6f+YdxwneMCXy3MDlK0kys2+74f4D06HmaJ+BKJ7MoxT5i16zdL3abdJSlvTSlctrFcdV0X2bP3gBw+clSef/Ujec7jDhwMsGNAZHwYO4oE8PI6bKZvDyZGs7CmMYpibJVUst8DzD9z7TwGjb+fG68DNWjY3CSetun3b8wCjQCjUev10Un5y6+TKKfnxejuJkmCTz44vX4k+41yYDkERrvfmHhK8IkLbA6HHXCXexp4fO4Da+YD6dzkikRx6uiH/wiwv37XXpwgV5V3TPPsn/2Qrv1fYPG5H2xwtmbbWZnst+69URXnd/ykByXQ8xHhr/MYOAVzuW+ED7oFciYHtA2B7rvZD7ql7RSCr8jqrWdlmt9mcDB+/duU86Gd/5vj346QQJqgLcT050D33ObnzwFrodf9fVa1k966XlYqQfAVBG8/25/b4LHmiBZ21Zo/pV6z7jJn/tLUMt2//5CcPHlKsl1wgaxet0kZwZOnzk+9zxP7EfjwB98eTKxvu+FKR1RByzCT/aZ7eieEqZvx8nLj/yCvWylB3LaZjXfZBjrPntX3iX/oqG8ovOA86Bn19F8bjOnxvZpmEbdM/0zOoFPIl0rgK6x1qu0xEgPftb8vpv5jylqgnF5aMkEw/TPQPbf5+Y9YYDOwt/02vkL9x1RPt+nurU/OAO0EPmUSD7ODvDng2YC2IV7aRW/dcZ4SZGO4d/x2BC+U25Cr3TUtHuqnuvQ2eWxQOdFVu+GnKh3gJIdfW7n7gMgrY3yXEKIztWUNB04HPxdAYc1etrc+zp07J+99/LXs2LlHoSlYIK86mj/YLbpLpxvFMAwZM/FHOY1vzZg3ebQNgd83nZWZy8/45Kf+pYmu39gjZzYflVMvMMULm/ekerj8BC82pororXTzdEZTT/+jNwPc8x4BHvLjaek/3rdhQxgYQ90bJblqjXTOAC/70DUjh5eifDkNKVXAEEetdQqimL/xh2Bu0Q26hOL8X/jxmZN129NO7QslLSeHSQnQnstFMwAAEABJREFUTrS92oEvtREWAjr56nsMnAiTcWx0/2cCvnk7ZekZWev3N3FDNffXjRS/mUIoVOwX487OMGiX1vkbwFgDvnWPr+WIWYSYDp82Nn0yIpCQUYDMvr//wCH5ZdFyZeB+9ekr8vv8kVKqRBGfbFW+pJzaJXrVmk2C8D43eWELAu/4bXyVz/MiW+9S21e/iNklB5jKg09atL3K/Q2YNzzzQY4X/A7XxpfuJofsWc2z88eDx0QwvbffyJPiv8MlQmD648213dfbnezp1cYIKHZ9L5bPkHJFDTV9C9Parq+SKOjNht53NkyS+25IksdbZ5EXb8kiT7XLIg+1SBJ0CPi/KIKX01yK32hP/hRDbquXFFffb8TohXe54bMe3tf4DE5JT4eHt58bz/1nCtWqmCAl8htuVDVdnS4pkRA3o3sS5J/ZVpq3P/jBt2MUjPBNaPO+W49oJ/x1u76K+98ZvXX23wXaXANshsEsqDKFHPqc8M62qZDmo+1r03HPG+Ku3XulZPHCUvfaagHxJCYmSGJCghw+fFROnfJdYxowAj21E/Bf0+jGz1kEgpozW1pfTG/M53nZTXvHvT7Jno4A8wXfvVqmr1kODwPvENv2nBVMef55je+IFzpIYAA2cOnmaDB6n2mfRR5pmST3NEmSLvWT1IguRjXQKVajXIJg5BvTnAvnNlz7qQvvz9/kuEA8HBLjYmMX77+BnH6dAN730EnSuGqit5drz707Q9C5c/3l8aG3aws0AsVy+s2Qwdp47+SaXWH713bv7Fo+xzPRO3KRPIZUuTA+dDf19mdg+uOIthH7YOCczhoBu9SmDHN/8tQpOXb8RMBwmzZvlx279gimQyd4DOGAgehpGwJ4uY2XzY/8e/bLFDYknqbwmJUudw6RzvXj7wXf1B9H/8YMO//6f+c0JbuhRjjxN4I4dO4lkOtf4w8dHp09nQCY3udebQNr5v+y7x2qYZVE13Z+eOuJc3QQ4giHXZ9RJ3BOF38EUv59LgTSvE6lBImX54T/u1M8LpvK4ddp7l0nHD+Tzncmt7dq2s5tbwDnzZNLKlcqq9YAD/18YhojeOu2XfJ4v3fUhlhlSheXnOl1KWvDGq6g+AmPhr1ZNdtXu6gVSLJnBNic6YERjTZxNvXZBIlGG9Pezet4PPpPgfZnUDSvIfc2TRIc/e/x2n0EUjydHYbn4XBz7STXbHAWbikFWvuKNLAJkps3+YGO3g7tBK6rlk6QeJjeCl3pAhMI1imUfIFIg8rxMzMgR9b/+GBteIVinoflf15xcRbsnaFZtUTBRmhxASGGStreEsmWLavc0r6JQvDygKFSvmpr2bx1h3KlK7eQkpfckLo79E031pfkHNlVWCf9LPp1pZS7/CbJVayu/P7H2qBZxzeQR4+bJhdf2VaMXNWVK16xmbzz4Sg5dizt6Dg2EPtp3q9yTcM7VFjEyVuygTzeb5AcPHRE/P+FG94/fijXeIDnzuH3IAslokPDQNPsnoYL2W9+ZaJg3SPO6eKPAAyeYFpf7nnx7dEoSZKzBQtBf7cRwAgwngnx+GJnlmWwvwmsA08wzFDuP6Z4Xlvwt3+Dp41wv7bUMD0CeC4Euo/prhhACHTPjX7JXlPBYfC5UceMdEKnh38YdJBhjwB/f8dd2+D5bnsDGIXasU1j6d61NU7l7Nn/1svhM0jK0/PTsH5Nuf3mGzxnzvkfRusLr30sNet3lg1/bhUYuKfP+O6UbGqDtc33PPSqdOzaV/buOyidb2kuHdo0kn37D0rvxwZIzwde9jGCYcwOePtzqdesh/y+fK0KizhZsiRJ/4HDpWnr+9V3lM30ww1vxgvniM86YApPOHHcEBY9unjJrRbkw/5u0JE6hEbggixpw11fJVGtgcVnwdLepY9bCZQvmiBXlXdEExyzIkjJkTZprPMrXcgGb0dpsxYzH3QKozMk2IhPzAQzYdsRyJk9bd3HCOgVZeLrWWEafxU9I78XFkzLxHYFF4MM+U+B9owHSturk2IgKT6TdMRfVBaP0Tb4rb4yatirUrZMCZ+Syu4ZXuvzYGcZN2KA5M6V0+eenS82btomtRrdIc++8qE0aXiNXHrJRelmd+zEGfLxsPHSoG51Wb1krHz24fOKx6rFY6R82VLy+Vffy8TvZqemsWDRH/LMS4PVvWU/f6XCIs6638ZLQ09nwc8Ll6mRYzNCuOHNeKEeMcLVonr8TN/x5oLNn26qyYeWNxOv87g6zZ71v4YcU+JvrZso2PgpriBQWUWAHR4i/lOgMcLVNE42+VGVwOvnslKOeB3zyjFPY0EAswH8070xDt+dcvw7cy6eN4S7wK/DHEvoAtUP//rC69AIOOaJi52eMeK5/vcJcnrfQtm5Yaoc2zVfju6cJ6+/0FtNfd7nGQ3FSGZoqmduqK/H/ygb/9wmk0a/JaOHvyYF8ucJmiHshP35V9+pT0HB2M+XN1dq2AtLFpVn+3ZX12O8voM88usf1Lro3vfcLOUuKqnu4wedBM/17aE2DPtuylw1ggz/cMMjTjgO3+28qPB/L//hxHV62BbVE4QPLaeXYnTynz3r+XSwAzA+53Nxccc8gs9nnL8kEEUCKX6jXQ0uS/Q8K+OznYgiViblYAIpXlN/oQbWhZeIw09iJV9gqF2fi+SJ7+dBSnbUAhHMIMQnsM5fueCXm2BlXIgHDh6W9p0fl8nT5qcGhjFcqGA+yYb5AB7fHTv3qDA163eRXbv3eXzs/z+mI29Z/b3c2LSOJGSw2Gn7jt3y6++rpcyFxeSKKhenUa7yJWUlJWcOMb+DjI6Anxf+ofzqXFM1TXiMGJcqUUQ2btqqNhcLN3yaBOmRLoEUv5e8dAPzpqsJoFcb3zXt1SRJ4r1hVwXNn7gnkDPbeQRqicwlCecv+EsCcUog578GD9THjIjGcfIpMOjr7VI8HK6vwudBjqyGYO8YLJHw5sPzyAnYvnYdPXpcFi5eIa1ufljGfTPDR2OM9o4aO1UqVmsj4yfNVCOe3muEfQLb7KJokQKSKyU5pFzBQD148IiULFFYkpP/fVvwionOgLx5csnefQfU5lYYMd61e6/AD/e8gqpTpIG0sBHWnr0HJNzwKhH+kAAJhE2getkE4WZXYWNzbQQqJqkjvjdyAyhWBxIQ7xHgepcmCgzBeMSCDjF8PSIedffWOYfnlb9DrUTBkinhv6gSsL0BjO/6JiUlCjaBat/5CRk2YpLA8MVGUB279pWb73hSGX2gAqMyB2oLLlzktv+9W44eOy5JSUlqGrS/almyJElOzwgwjGQYyxgx/mfPfk/4RM/ocoJ/cElKTJLkHNnl9Okzagp0uOHTJEgPEiCBkAhU5jq/kDgxUFwQUEqmeF7wLi2ZwM//KBr8iXcCF2QRwcgvRv3qXZoQ7zjiXv/GlycKZo3FPYgYALD9X1ehgnnl5X73So7s2dQO0Hfe+6LAYdQX62hNJu1bXy/fjx3kqI2wzLyHeixetKAyXP3DZ8uWVQoWyOPvHXTEGOEL5I88fBqBQTwWLlkha9dvpiMD1gHWAdYB1gGfOnDu9BGpmG+Hj198tBdsE1nOgevABUln5PKie/k3wWelHN23xZX1IIi5oNXb9gawYRhyc7vGsvinz+XiCqWVEfzpF98IRjhBCtOIv/r0FbXLcT6vzaFwz21um2ck+MjRY2nUwuj4kSPH0/hv2bpTAvlj5DdQOuGGTyOQHiRAAiRAAiQQBoGqxQ9JctYzYcRgUFcQoBJBCZTJf0xK5T0e9D5vkAAJRE7A9gawqeIlFcvIvGlDpU3L60wvad2igaz5dZx0bNs44NTg1IAOP8Fa3qSkRDl9+rSa/u2vTuoaXk8HQOGC+dXa31y5kj3hz6gOgzThT5xQHQjZs18gRQoXCDu8f3oZXde88lKpUK4UHRmwDrAOsA6wDvjUgSqXlPC5ZlvBtjIe6kB6Onaol5d/E3xOuroOZGQ36LifoENIqDJOnz4js+YskTETpgd0M2YvknY3NZRrr75c2ra6Tm5p10Tm/vxbaljERRqhynNKuPz5cqsNs4KN0GLDK6z9LeoxZrHBFUbF8+XNrdb34p6/nhgVRlr4JJKZdjjh/dPjNQmQAAmQAAmQAAmQAAmEQIBBSCDTCdjKAN79zz7p0vNZ9UkjfPookOvU7SmZt+B3GTtxhnTo8oRPWMRFGplONcoZKFI4v1xUuoRs3rpD1m3YnCb1OZ5OgEOHj8pVNSpLntwpyl1SsbTAb/mqDWnCL122Wv78a7tcXrmCwGjO44kTTvg0CdKDBEiABEiABEiABEiABEggAwK8bQcCCXbIBPOQPgFMgW7etLaa0vzcqx/JgYOHUyOs37hFBg3+SrJmzSK3dmiqpoJjunS7VterMM+/+rH8teVvdY4f7J7df+BwNZW6660tBNOgww2PdOhIgARIgARIgARIgARIgARIIGQCNgloKwO4YIG88mzfHtK9a2tLDnGRhk3YppuNVWv+lF4PvyY9er8s9z86QFas2ijHjp+Ql/oPUX64hzBmIg/d20ka1q8p02ctlPJVW6uR8ptueUQq1WivRoVffPoeubrGZWZwNUUcHDFifEn1doJPRsGVrdJKZv60WPHFNHIzAs7DCW/G45EESIAESIAESIAESIAESIAEnEIgswzggHwwEtnt9pby0aCnLDnERRoBE7eZ56bNf8vgT8bIx8PGy7ARk9SmVOfOnZMJ385SfriHMGa2sV533IgB0ufBzoJdn4eP/E4mfjdbrqx6icye/JE89sDtavTXDJ8lS5K8/fqjMmjAY2qTq9Hjpglc4UL51I7Zg9/qKwhjNbwZj0cSIAESIAESIAESIAESIAEScAoBWxnAwaAdO3ZCps38RW14debMWZ9gMAane0ZFv/thrgT6tI9PYNtciDRrVEvOHVycrkMY7yxjc6vXX+gt+7bMTI338/RPpe611XyMXzMOpjff37OjbFszOTX86iVjpUObRpKYmLboww1vyuGRBEiABEiABEiABEiABEiABJxAIK0VZMNcD/l8ojRuda+88NrHcux42m+jffjpOLmx/YPy6ReTbJh7ZikNAXqQAAmQAAmQAAmQAAmQAAmQQCYQsL0BfPjIURkz4UdJSkqUvo/cITmTc/hgwjRerI/FJlCYPuykUWAfRXgRNwSoKAmQAAmQAAmQAAmQAAmQQOYQsL0BfOjQUflz03YpVqSgXFyhdEBKpUsVkyKF8su69Zvl4MEjAcPQkwRIwBYEmAkSIAESIAESIAESIAESyDQCtjeATTIHDx2RPXsPmJc+R/jjvo8nL0iABEjAdgSYIRIgARIgARIgARIggcwkYHsDOG+eXFK5UlnZf+CQ+mzQn39t9+GFa3wyCPdLlSwiOXP6TpH2CcwLEiABEiCBzCNAySRAAiRAAiRAAiSQyQRsbwBny5ZVWjSrqzDNmb9ULrqspSTmqSnFKzZTR1zDHwHwndwUGsBAQcLLyrMAABAASURBVEcCJEACJGAzAswOCZAACZAACZBA5hOwvQEMRF063Sidb2mOU+XOnj0r2//eLTgqD89Plcrl5a7ON3nO+D8JkAAJkAAJkIDNCDA7JEACJEACJGALAo4wgPF92k/efUY+HfysFCta0Acc7vV5sLPM+eETKVG8kM89XpAACZAACZAACZBA5hNgDkiABEiABOxCwBEGMGDhc0ddb20h29ZMltP7FsrODVPl2K75cnTnPHn9hd6SKyUZwehIgARIgARIgARIgATsRIB5IQESIAEbEXCMAezNLDExQQoVzCdYH+ztz3MSIAESIAESIAESIAESsBMB5oUESMBeBGxlAJ87d05GjJ4sPXq/rI64Pn36jMyas0TGTJieoUM4hLcXYuaGBEiABEiABEiABEiABOKSAJUmAdsRsJUBvGv3Pun30gfy8bDx6ojr3f/sky49n5X2nR/P0CEcwtuOMjNEAiRAAiRAAiRAAiRAAiQQZwSorh0J2MoAtiMg5okESIAESIAESIAESIAESIAESCBMAjYNbisDuFDBvPLUY3fK5ZdVkEd73y758+WWggXyyrN9e0j3rq0zdAiH8DZlzWyRAAmQAAmQAAmQAAmQAAmQAAlkIgFdBnBIKhqGId1ubym/zftS7rmrnSQlJSoHv48GPSUZOYRDnJCEMRAJkAAJkAAJkAAJkAAJkAAJkEBcEbCVAQzye/YekEateimHc/g531EDEiABEiABEiABEiABEiABEiCBzCZgOwP45MlTsnbdZuVwntmAKD8KBJgECZAACZAACZAACZAACZAACdiAgO0MYBswYRZIIKoEmBgJkAAJkAAJkAAJkAAJkIA9CNAAtkc5MBck4FYC1IsESIAESIAESIAESIAEbEPAtgbwjl175NGnBkqP3i+H7F57c5gcO3bCNnCZERIggXgnQP1JgARIgARIgARIgATsRMC2BjDW/3759RT5eNj4kN3gT8bI/gOH7MSXeSEBEiCB+CVAzUmABEiABEiABEjAZgRsawDbjBOzQwIkQAIkQAJhEWBgEiABEiABEiAB+xGwrQGcJ3eK+u7v18Nfl1DdZx8+LwUL5LUfZeaIBEiABEiABOKLALUlARIgARIgAVsSsK0BnCslWW5sWkfa3dQwZFe/zpWSlJRoS9DMFAmQAAmQAAmQQLwQoJ4kQAIkQAJ2JWBbA9iuwJgvEiABEiABEiABEiCBdAjwFgmQAAnYmAANYBsXDrNGAiRAAiRAAiRAAiTgLALMLQmQgL0J2M4ATknJId1ub6kczu2Nj7kjARIgARIgARIgARIgARL4lwAPJGB7ArYzgHMm55Bn+/ZQDue2J8gMkgAJkAAJkAAJkAAJkAAJkIAQgRMI2M4AdgI05pEESIAESIAESIAESIAESIAESMCLgENOaQA7pKCYTRIgARIgARIgARIgARIgARIggcgIxMoAjixXjE0CJEACJEACJEACJEACJEACJEACUSZAAzjKQM8nx18SIAESIAESIAESIAESIAESIAG7EaABbLcScUN+qAMJkAAJkAAJkAAJkAAJkAAJ2JAADWAbFgqz5GwCzD0JkAAJkAAJkAAJkAAJkIA9CdAAtme5MFck4FQCzDcJkAAJkAAJkAAJkAAJ2JYADWDbFg0zRgIk4DwCzDEJkAAJkAAJkAAJkICdCdAAtnPpMG8kQAIk4CQCzCsJkAAJkAAJkAAJ2JwADWCbFxCzRwIkQAIk4AwCzCUJkAAJkAAJkID9CdAAtn8ZMYckQAIkQAIkYHcCzB8JkAAJkAAJOIIADWBHFBMzSQIkQAIkQAIkYF8CzBkJkAAJkIBTCNAAdkpJMZ8kQAIkQAIkQAIkYEcCzBMJkAAJOIgADWAHFRazSgIkQAIkQAIkQAIkYC8CzA0JkICzCNAAdlZ5MbckQAIkQAIkQAIkQAIkYBcCzAcJOI4ADWDHFRkzTAIkQAIkQAIkQAIkQAIkkPkEmAMnEqAB7MRSY55JgARIgARIgARIgARIgARIIDMJOFQ2DWCHFhyzTQIkQAIkQAIkQAIkQAIkQAIkEB6BaBnA4UllaBIgARIgARIgARIgARIgARIgARLQTIAGcFSAMxESIAESIAESIAESIAESIAESIAG7E6ABbPcSckL+mEcSIAESIAESIAESIAESIAEScAABGsAOKCRm0d4EmDsSIAESIAESIAESIAESIAFnEKAB7IxyYi5JwK4EmC8SIAESIAESIAESIAEScAwBGsCOKSpmlARIwH4EmCMSIAESIAESIAESIAEnEaAB7KTSYl5JgARIwE4EmBcSIAESIAESIAEScBgBGsAOKzBmlwRIgARIwB4EmAsSIAESIAESIAHnEaAB7LwyY45JgARIgARIILMJUD4JkAAJkAAJOJIADWBHFhszTQIkQAIkQAIkkHkEKJkESIAESMCpBGgAO7XkmG8SIAESIAESIAESyAwClEkCJEACDiZAA9jBhceskwAJkAAJkAAJkAAJ6CVAaSRAAs4mQAPY2eXH3JMACZAACZAACZAACZCALgKUQwKOJ0AD2PFFSAVIgARIgARIgARIgARIgARiT4AS3ECABrAbSpE6kAAJkAAJkAAJkAAJkAAJkEAsCbgkbRrALilIqkECJEACJEACJEACJEACJEACJJA+AasGcPqp8i4JkAAJkAAJkAAJkAAJkAAJkAAJ2IwADWBLBcJIJEACJEACJEACJEACJEACJEACTiNAA9hpJWaH/DIPJEACJEACJEACJEACJEACJOBAAjSAHVhozHLmEqB0EiABEiABEiABEiABEiABZxKgAezMcmOuSSCzCFAuCZAACZAACZAACZAACTiWAA1gxxYdM04CJKCfACWSAAmQAAmQAAmQAAk4mQANYCeXHvNOAiRAAjoJUBYJkAAJkAAJkAAJOJwADWCHFyCzTwIkQAIkoIcApZAACZAACZAACTifAA1g55chNSABEiABEiCBWBNg+iRAAiRAAiTgCgI0gF1RjFSCBEiABEiABEggdgSYMgmQAAmQgFsI0AB2S0lSDxIgARIgARIgARKIBQGmSQIkQAIuIkAD2EWFSVVIgARIgARIgARIgASiS4CpkQAJuIsADWB3lSe1IQESIAESIAESIAESIIFoEWA6JOA6AjSAXVekVIgESIAESIAESIAESIAESCByAkzBjQRoALuxVKkTCZAACZAACZAACZAACZAACURCwKVxaQC7tGCpFgmQAAmQAAmQAAmQAAmQAAmQgC+BUA1g31i8IgESIAESIAESIAESIAESIAESIAGHEaABHFKBMRAJkAAJkAAJkAAJkAAJkAAJkIDTCdAAdnoJ6sg/ZZAACZAACZAACZAACZAACZCACwjQAHZBIVKF2BJg6iRAAiRAAiRAAiRAAiRAAu4gQAPYHeVILUggVgSYLgmQAAmQAAmQAAmQAAm4hgANYNcUJRUhARKIPgGmSAIkQAIkQAIkQAIk4CYCNIDdVJrUhQRIgASiSYBpkQAJkAAJkAAJkIDLCNAAdlmBUh0SIAESIIHoEGAqJEACJEACJEAC7iNAA9h9ZUqNSIAESIAESCBSAoxPAiRAAiRAAq4kQAPYlcVKpUiABEiABEiABKwTYEwSIAESIAG3EqAB7NaSpV4kQAIkQAIkQAIkYIUA45AACZCAiwnQAHZx4VI1EiABEiABEiABEiCB8AgwNAmQgLsJ0AB2d/lSOxIgARIgARIgARIgARIIlQDDkYDrCdAAdn0RU0ESIAESIAESIAESIAESIIGMCTBEPBCgARwPpUwdSYAESIAESIAESIAESIAESCA9AnFyjwZwnBQ01SQBEiABEiABEiABEiABEiCBeCcQzACOdy7UnwRIgARIgARIgARIgARIgARIwGUEaAAHLFB6kgAJkAAJkAAJkAAJkAAJkAAJuI0ADWC3lWg09GEaJEACJEACJEACJEACJEACJOBCAjSAXVioVCkyAoxNAiRAAiRAAiRAAiRAAiTgTgI0gN1ZrtSKBKwSYDwSIAESIAESIAESIAEScC0BGsCuLdrwFTt37pz8NO9XuabhHWLkqq5c3pIN5PF+g+TgoSPhJ8gYJOA4AswwCZAACZAACZAACZCAmwnQAHZz6YahG4zfAW9/LvWa9ZDfl6+VDm0aSedbmkuWLEnSf+Bwadr6ftmz90AYKTIoCZCA4wgwwyRAAiRAAiRAAiTgcgI0gF1ewKGqt2DRH/LMS4OlfNlSsuznr2TUsFflsw+fl3W/jZeG9WvKzwuXyTsfjgo1OYYjARIgAccRYIZJgARIgARIgATcT4AGsPvLOCQNR379g5w8eUp633OzlLuoZGqc3LlyynN9e0hSUqJ8N2Wu7Nt/MPUeT0iABEiABFxDgIqQAAmQAAmQQFwQoAEcF8WcvpIwan9e+Iek5Mwhda6pmiYwRoVLlSgiGzdtlR0796S5Tw8SIAESIAEScDYB5p4ESIAESCBeCNAAjpeSTkfP48dPyq7deyVvnlxSqGC+NCGTk7NJyRKF1UZYXAecBg89SIAESIAESMDZBJh7EiABEogjAjSA46iwg6m6fcdu+WfPfjXNOSEhbZVISkyS5BzZ5fTpM5amQF9SvZ30evg1OjJgHWAdYB1gHWAdYB2wXR3gOwrf0VgH9NWBYPaITv+01o5O6ZRlKwIY5cVor3+msmXLKgXy5/H3Duv61OEdQkcGrAOsA6wDrAOsA6wDrAO2qgN8P+M7qtY6kJwtLBMiJoFpAMcEqzMT3bJ1pxw5cjxN5jHye+TosTT+oXqsWjxG/pj9Dh0ZsA6wDrAOsA6wDrAOsA6wDtioDvD9VPc7enI2I1QTImbhaADHDK1zEsba31y5ktUU57Nnz6bJ+PETJ9QU6ezZL5AihQukuU8PEiABEiABEiABEiABEiABhxGI0+zSAI7TgvdWO1dKsuTLm1ut78VmWN73cI5RYYwO45NI+fPlhhcdCZAACZAACZAACZAACZAACTiOQMK/OeYhjgnkyZ0il1QsLYcOH5XlqzakIbF02Wr586/tcnnlClKUI8Bp+NCDBEiABEiABEiABEiABEjAGQRoAKtyiu+fpKREadfqegXh+Vc/lr+2/K3O8bN330HpP3C4nDt3Trre2kIwDRr+dCRAAiRAAiRAAiRAAiRAAiTgNAI0gJ1WYrHIryfNtq2uk+5dW8u6DZsFny3q2LWvwJWt0kpm/rRY3UMYT1D+TwIkQAIkQAIkQAIkQAIkQAKOJEAD2JHFFv1MZ8mSJG+//qgMGvCYYFOs0eOmCVzhQvlk1LBXZfBbfQVhoi8581NkDkiABEiABEiABEiABEiABOKDAA3g+CjnkLTE9Ob7e3aUbWsmy7mDi5VbvWSsdGjTSBITWVVCgui8QMwxCZAACZAACZAACZAACcQNAVo1cVPUVJQESCAtAfqQAAmQAAmQAAmQAAnEEwEawPFU2tSVBEiABLwJ8JwESIC8FtUhAAAQAElEQVQESIAESIAE4owADeA4K3CqSwIkQAIkcJ4Af0mABEiABEiABOKPAA3g+CtzakwCJEACJEACJEACJEACJEACcUmABnBcFrs+pfH94O1/75ZJk3+SMROmy6o1f8qZM2djmoFTp07LT/N+VTJ37tobsazDR47KrDlLVP6ffeVD6dH7ZfVtZOizYtVGgTwrQsBmz94Dsmv33pgzCZQ/6PX3jn8EjKzqECjd9Pygs876AL1YF9Irkf/u6a4PrAv/sfc/A5t4ejZAX/3Phei1ESg//P2wnQCJyJzuuoDcsp0AhYwd6jjfGTLm5B0CzPhc8CZin3MawPYpC8fmZPqshfLY028rQ85biQMHD8st3Z6S4hWbScuOD0v7zo9LpRrtpWK1NrLo15XeQcM6n7fgd6nT5C4pVam5dL//Jdm6bVdq/N+WrZWyl7eSes16KJlFyjWWN975QtCoSpj/1q7fLI1b3SspRetKg+Y9Vf5feO1j+XjYeHm83yB1XfmqDpKtYC3p/dgAOXjoSFgSduzcI9Vq3yqFyzZWTIaP/E6OHTsRVhrhBEYjP8bTCVGjXmcxclVXehWr0FTAKGv+qwWuaev75bsf5kZkkE/XWB9YF8KpAb5hddQH1oUBYT8XUEpufDa4sS6grBzbTiDzAZzbngtQke0EKITvdNQF5MqNzwY+F1Cy9nY0gO1dPrbP3fHjJ+XNd0eoEdIsWZJ88vvBkLEyauxUSUhIkAZ1q0u321tKxfIXyoY/t8oNbXsLRk99IoRwsXDJCrmx/YMy9+ffZMvWnfLJZxOkVqM7BIYvDOFbuj2p/CGnWaNaSnafZwbJjx6jLITkU4NgpLpes+4ybeYvKo3LLi2n8t+9a2sxHfS59JKL5OzZs/LOh6Okza2PCYz+1ETCOAGTLj2flfylr5OX+g8RjP5IFP8hX2YnxOKlK9OkjE9gobH7YfrPii86GMAzTcAMPHTWB9aFDAojnds66gPrQuTPBRShG54NbqwLKBu2E3f5dECDSUZOZ11AXoK1E3xnAJ3gTkcbAek66wPrAoiH73TVhfBzFlkMGsCR8Yv72PjDWL12k1S6uIzkzZMrlcehw0fl2ylzpGiRArJi4WiZ8e0HMuS9frJq8Rj56tNXZO++gzJ4yJiwRmZPnz4jb703Qo2ovPLsvbJl1ffy7dcD1ajpo08PlP4DPxPk5fUXeis5348dJD9P/1RypSTL0M8nCuKnZjCdE4wWv/fx14JRmAfuuUUObp8ty37+SuX/o0FPiemgz/JfRsuBbbPlnrvaCXox33rvy3RSDnyrTq0rZMGMYdK6RQOlyzMvDZYCpRtK5x79ZM26vwJHCtMX+Zry43ypUa2SzJ06RE7uWSDnDi6WPxaMknx5c8nQ956V0/sWytK5X0qjBlfJzwuXSdd7ngvboNdVH1CWrAthVgKv4DrqA+tCZM8FFJdbng1uqwsoG7YT1toJXXUBZcR2AhQCugw9dbQRyISu+sC6ANrWnK66YC131mPRALbOjjE9BDD6iQeL59Tn/8MeA3jzlh3SoE51Nepr3jQMQ9q0vE5a3lBXflm0XPYfOGTeyvCIsMuWr1cG2oO9OkmJ4oWkeZPaygj++ZdlahT2xqZ15P6eHcUwDJVetcsvlob1a8j6DVvl0OEjyi+jnz17D8jMnxZLk4bXyKvP3SfJObKnGwUGNsJdVb2yMoJh/Kcbwe9mQoIhGEkeN2KAbF75nfTq3l6NOn/+1fdy8ZVtpWb9zjJj9iLL05L37T8o302ZKxdXKC2TRg+Ua6++XMzR+nIXlZSra1wmn3/1nVrLXLVKBZk87h1BBwMMeuTBL7vpXuqqD6wLZ9Mth/Ru6qoPrAvJ6vlh9bmAMnTLs8FtdQFlw3bCWjuhqy6gjNhOWGsndLURKCNd9cG3LnTi+yPgh+B01oUQshPVIDSAo4oz/hLLli2rFCqYT44cPRZwhDUpKTHVGDXpwPiC0YjNnzD9xfTP6IgpujCsCxfKJ9mzX5AavOaVl8pNN9ZXcu7t0d7nHuTDgA1HVjA5qQIDnOTOlVMZ+jD6kccAQULyKlmisLz3xuOyb8tMefHpe5QuWC/dsMU9ctFlLWXYiEmKtYTxD4yhPziBnXdUlF+B/HnUyDl6YnEvMTFBetzRRq64vKJMnjpPEB/+oTikp6M+BCsj6Mi6kH5JoTx11AfWBZFoPRdQok5+NritLqA8gj2DcC+Yi1Z9YF0IRtjXP1gZsZ3w5eR/pauNgFy3PRuC1TnoGsxpfy4Ey0gAf511IYD4mHrRAI4pXvcnnid3ilSuVNZjKM2XJb+tSlU4V65kKV+ulDLW/EeIcQ2DGcZpQkLoVRBhESdVyL8nWCM3c85iNZ36nz37//W1foCBnjNnDmXQY5pbKCkhHPQKJWwoYdBB8HSfO2XPphny2YfPS6kSRWTz1h1yxz3PS8Ey1ws248KDNpS0QgmDvKMn1gybP19uuaxSOR/D2LyX3lFXfWBdiF1dQPlGoz6wLoh6JoElmEbLOfHZ4La6gLJkOyFipZ3QVRdQRmwnYtdO4LnGdwbUMl/H54K154IvxdhemamHbn2YMXgkAS8ChmGozaFOnzmjdkXGVF0Ygxh1xVrSBYuWy5ZtO1NjnDlzVr6e8KOMnzRLjTCiAU29mcEJeskwjRcbYG3avF2FhiH9/Ksfq/W6F5Ys6jEMP5G/tvyt7uEH09T+WLleSpUsIjBq4ZeRQwNdpXI5mfDtLJn/y7KMgqv7GKX93jNais6AvF5rodXNCH4w0t35luay8Y9vZPqkwYIpytgpesjwiRKqsY/8IF/e3MwsgQ82cgEbPLhNf/Po38iZ/sGOhqGnPrAuWKsLKDdd9cEwWBdi9VxAOTrp2WAY7qoL4M92AhTOu3DaCcPQUxeQM7YT1toJXW0Eysgw9NQH1gX71wXUB50uTg1gnYjdL6v2NVXljVcekm3bdwum6hYp10Q6du0rWHOxd98Beer596TXw68pP3x2p1O3pxSUnt3aSqARXXUzwA+mytx+s8cY3LRNKlzRRn0GqfBFjeWLUd/LXV1uksnjBgm+uXbTLY/InPlLZd2GzXL/o/1l6e9r5IoqFSXFM6obINk0XsjTQ/feKlmzZpHaje9Um1H9OHOh4Pt33m7rtl0yedp8we7N1zS8Q+l7S/smgnymSTRCD0xLvq5eDfl1zgj5ff5INeUb+QslWeQH+dro4XZ9i14y7psZShcY99hoCy/p2KXbuzMCLzToXMB0ZsQPRY4ZRkd9QJ5YF0aEXRdQRmCnqz6wLsT2uYDydMqzwU11AdzZToiaJWWlndBRF1BGeNaxnQi/nQA3XW0EyklHfYBOrAv2rwuoD7ocDWBdpO0kJ8p5MQxD7uvRQX6ZOUxtqIT1haPHTZPX3hymdjUeOeYHGfzJGIEf7pUtU0LtCo0R4nCz0rbVddLnwc5qwyZ8BgmNb7ubGsqAlx6QSyqWkXcG9JFly9dL3abdlZEM2Vgv9eC9ncIShTVCXw59We0gjY2gGrXqJTDevV3JS24QfM5p+Mjv1KeQsGa3Y5vGYckJN7BhGFKlcnl5u/+j4m2wZpQO8oXPN2G6eNvb+ihdrm3UTTBqjTXA3T0dCIZhpCazc9ceWfzrKjW9HSMdqTdCODEMPfWBdcFaXUAR6qoPhsG6oOO5gDI1DGv1gXXhB7HSRoA52wlr7YRh6HkuoIzYTtj7uYAyMgw99YF1wf51AfVBl6MBrIt0HMipfkUl9dmhfzZNlx8mvCufvPuM+jwQDC98muibUW/KtjWTZd1v46Ve7WqWiGCaLtI69PdPMm/aUJXe6M9eU5vNIEE84H6a8rHawRkvNR3bNpYfvxksF5UujtvKhfrTrFEt2b5uiiB9pFu8WCG1O7MZv2CBvHL5ZRWk3xPd1e7NWLOL/Jn3MzqmpOSQbre3VLtiZ7vggoyCR3Qf+Rr8Vl+1YzZ2twabiuUvlKce66Y+8QQ9vAXkyZMiH7zdV+0GbRj/GcbeYTI6j3V9gE6sCxmVQuD7YKezPrAuJAUuiCC+bn42uKkuoPjYTlhvJ2JdF1A+eNaxnQCJ8By46WwjkLtY1wfoxLoA0uE5cNNdF8LLobXQNICtcWOsdAhgZLLxdVfLnZ1byftvPqG+m4tR2xbN6kqxogXVbs3pRA/pVs7kHFLrqioB08NnfqaMf0cZpfjmcIVypUJKM1AgrGVu3/p6GfN5f9m6+ns5s3+h+n4uvqG7a+M0+W3el/L8kz3VCEKg+On5QYdn+/aQ3nffHNZU8PTSTO8epko2b1JbTDarl4yVl57pJUWLFEgTDXo3vb5WwHtpAmfgEev6AI6sCxkUQoDbmVEfWBcCFEQAL9Rptz8b3FIXUHx4XrKdAAlrLtZ1AbnC3xTbCZAI3WVGG4Hcxbo+sC6Acngus+pCeLkMLzQN4PB4MTQJkICjCTDzJEACJEACJEACJEAC8UyABnA8l34m6n7XfS9K2SqtZOeuvTHPRSSy8G3cqTMWyKw5S9QmV8Eyi7XI17fspUWnSPQJlv9A/rrkQLYuWZHIcUVdAGyLLhJ24Yh0ghw71gUwdgI75DNU5xR97FgfnMLObnUB+YmEHeuC/d/rUMahOtaFUEn5houEm29KsbuiARw7tkw5HQL4hi12Gvb+jlw6wSO6ZUUW4jzeb5DkKVFfmtx0nzRo3lPylmwg1zS8Q1au3pgmP/j00+nTp9WumLHWCXk7ffqM2ngrTUai6KFLDrKsS5YVOYgT73XB7mWE/IXivMOgXMP9O0Icu9YF6Ib8hasT4oXrKOc8MXCwa31A3lgXzpdTuL9W2CEO68JpLe9AKE/wtmv9Rt5YF/TVBdQHK44GsBVqjON6AvjObv+Bw9PouWDRH3LZ1TfL24NHCr5pnCYAPVxHgHXBdUVqWSGH1wXLejNiYAKsD4G5xKMv60I8lnpgnVkXAnOxmy8NYLuViMPyg88a4Zu8Rq7qEo7Dp4PCVVWXLExnHjNxusoedng+unOe2vgKu1tjwytsBvDg42/IfY++rj7HpAJa+NGljy45QKBLli45bqsLbiwjt9UFltF/bUm47UT6deG/dP3bqnDloIzc9mzQxU6XHJSRLlmsC+f/tqz8HekqI11yWBes1wX8zep0NIB10nahrHPnxDMSekaLZrpkHTx4RNat3ywXVygtve5qL9mzn/9EEXYmhEG8duk4wXb9HwwZK/c+Yt0I1qWPLjmoBLpk6ZLjtrrgxjJyW11gGYGANaerLiB3jns2INPpOF3sdMmBqrpksS6AtjWnq4x0yWFdsFYPMiMWDeDMoO4imYUL5ZNe3dsrjfCpo+1rp0gort1NDVWccH50ykK+IC85ORtOfVzpUsXkx0nvC3T4eNh4ZQSfOHHKJ0woF0hfBztdcqCzLlm65EAnOMhzQ10wdXFTvUPZ6NAH7OAgL5Z1wZShQyfoQjlT1LMc3K04MIxlfUD6LCNrZeTN51ku/QAAEABJREFULtbvJ6g7kMe6ABKhOzBzU/02NYderAsmDXseaQDbs1wclSuMkt7YtI589Ol42bJtp/p2bNEiBdI95sie1rAMRWkdsnLlSpby5UrJ7n/2y/HjJwNmK3eunPLJu8+oFycYwXc/+IocOXI8YNj0PHXoA/m65OiUpUMnN9YFt5WRLn101gVdOlHO+XbKSnuksz7oeNa5sS7o0skBdQEownK66hwypUuWDjmsC9afqagLOh0NYJ20XSoLU4Tfeu1hNVX4yeffE3wGIFaq6pCVnCO71L6mqqxa86csXroyqCowgod98Jzc1vEGGTNherphgyWSPfsFooOdLjnQU5csHXLcWBfcVka69NFZF3TpRDkgYM3prA86nnWg4DY5unRiXQBp6y729e583nTIYV04z9oJvzSAnVBKDshjuYtKypD3+gk2GlixamOGOb6uXg1p2+o6SUnJkWFY/wA6ZN1xWwuBnNfeHCaHjxz1z0LqNR52H7zdVxnBqZ5hnkCODna65EB9XbJ0yHFjXXBbGenSR2dd0KUT5YhYbY901gcdzzo31gVdOrEuWP870lVGuuTYri5A8X+d1WedrufPv9nUcqABrAVzfAhp1qiWLPv5K6l1VZUMFe7S6UZ589WHJWdy+AYwEo+1rAtLFpVf534hY78YIDByITOYw/2PBj0lUye+J0Pf7ycF8ucJFjSof6z1MQXrkgN5umTFWo5b64Kbygi6wLmtLujQCTLgYs0OMuDcJMetzwY3lRHqHFysdWJdELH7ex3qARzrwsOW3r1jzQ1lEwsXLE0awMHI0D/uCcA4x87PhmFkyAJTaxo1uEoa1q8pWbIkZRieAZxFgHXBWeUVy9yyLsSSrvPSZn1wXpnFKsesC7Ei67x0WRfsX2ZxYgDbvyDclMP9Bw7J3zv+kVlzlqi1sQuXrFDXwTaUikR3XbIox3opkZ01drq4IXe6ZFEOaFtzZGdvbsgdywgUwne6uCFnumRRDmhbc2RHbtYIhBeLBnB4vJwZWkOuDx46Ii/1HyJ5SzZQrliFptKgeU9p3/lxuapBF8F19kK15OIr28rocdPkzJmzlnOlSxblsIzMSuq2ugC93KaT2/RhGVlvJ3TVBZYRywh1wHS66p3b5ICf23SiPtbfH1EfdDgawDoou1wGRnsbtewlz7w0WNBzl5CQIMWLFZKSJQqnOlzDf826v6Rj175yz0OvyqlTp8MmY0WWFVmUwzIyK6fb6gL0cptObtOHZWS9ndBVF1hGLCPUAdPpqndukwN+btOJ+lh/f0R90OVoAOsi7WI5H346TjDNue611WTFwtFyet8vsnX197J55XepDtcn9yyQpXO/lBrVKgm+nTtk+MSwqeiS5SI5irEufSBMlyzK4d8R6huc2+qCG3ViGVlv+9zGTpc+/Duyf51jGdm/jHT+vaI+6HI0gHWRdqmcffsPyndT5iqjdtyIAVLp4ovEMAJvGpWYmCBVq1SQSaMHysUVSsuYidPlyNFjIZPRJYty3FRGIpHUO7fVBfyxuU0nt+nDMrLeTuiqCywjlhHqgOl01Tu3yQE/t+lEfay/P6I+6HQ0gHXSdqEsbGyFb/9eUrGMYMfkUFQsXCif1LzyUlm3frMcPHgklCgqjC5ZlCPCMlJVThxfF86r4fPrNp3cpg8Ky206uU0flhEIWGsndNUF5FCXLMqxVhdYRiBgjZ3b6tx5Enp/aQDr5e06aQkJCZKUlCg6/umSRTnWS5PsrLHTxQ250yXLDnKgb7ScLn2QX12yKAe0rTmyszc35I5lBArhO13ckDNdsigHtMN3uriFn7PIY9AAjpxhXKeQO1dONZ152sxfZP3GLSGx2LR5u8z9+TcpU7qYpKTkCCkOAumSRTkiLCPUOBG31QVo5Tad3KZPFMsISaXr3MZOlz6AqksW5bA9Qn2Dc1tdcKNObisjXfqgLuh2NIB1E3eZvGzZskrPbm1l5669cmWd2wQbW+3ZeyCNlufOnRNMlR42YpLUa9pDNm7aJs0aXSs5k0M3gHXJopxJLKN/a7Db6gLUcptObtOHZbRXrLYTvnWB7VE4bawudrrk8O+If0eoA6bTVe8ox/r7o1lWuo40gHWRdrGcFs3qSP8Xewu+e3bXfS9KgdINxchV3ccl5K4hhcs2ljvueV42b90h7W5qKHff2TZsKrpkUQ7LyKycbqsL0MttOrlNH5aR9XZCV12wfRlZaGN1sdMlh2XEvyPUAdPpqneUY/390SwrHUcawDoou1yGYRjyyP23yeolYz2jwW2kUMF8ATXGWoJrr75cvv16oHz16atqemnAgOl4GoYeWYZBOSyj8xXRMNxVF6CVYbhLJ8Nwlz4sI+vthGHoqQssI3uXEcoHzjD01AfDoBy+M6DGifoSio53YsNwV50Tzf9oAGsG7mZxFctfKB8MfFJ2bpgqZw8skn82TZfta6fIjvVT5eSeBXJm/0KZO3WING9SW32aJhIWumRRjvVSIjtr7HRxQ+50yaIc0LbmyM7e3JA7lhEohO90cUPOdMmyiZyovW/p0odlZN0c01VGuuSgLuhw1onryB1lOJaAYRjqs0hFixRQn9TJkiUpZroYhh5ZhkE5VgvRMMjOCjvD0MMNeTMMPbIMg3LA24ozDLKzMzfkzTBYRuAQrjMMPdyQL8PQI8swKAe8rTjDiIRd6BINg3JCp/VfSMPQw+0/idE/owEcfaZMMQMCp0+fkUEffCXPv/qRHD5yNIPQkd3WJYtyrJcT2Vljp4sbcqdLFuWAtjVHdvbmhtyxjEAhfKeLG3KmSxblgLY1R3YZcAty223cgqgZsjcN4JBRMWB6BFau3ijN2z0giXlqStb8V0udJnfJdz/MlTNnzqaJdvzECRn3zQwZ+vk3cuhQ+AawLlmUwzIyK6/b6gL0cptObtOHZWS9ndBVF1hGLCPUAdPpqndukwN+btOJ+lh/f0R9iMSFGpcGcKikGC4ogYVLVsi1je6U76fOk7Nnz8qpU6dl7s+/yY3tH1SG8KbN24PGDfeGLlmUE27J/Bee7P5jEc6ZLm7Iky5ZlAPa1hzZ2ZsbcscyAoXwnS5uyJkuWZQD2tYc2ZGbNQKRxXKpARwZFMYOnQCmVLz13gjZf+CQlC1TQj58+0n5evjr8uLT90jBAnnl54XLpEa9zjJj9qLQEw0SUpcsyglSACF4k10IkAIE0cUNonXJohzQtubIzt7ckDuWESiE73RxQ850yaIc0LbmyI7crBGIPBYN4MgZ2i8FjTmC4bts+XrJkztFJox8Q3rc0Uba3dRQnu5zp/y14lt59bn7ZO++g9Kiw0NqSnQkWdMli3KslxLZWWOnixtyp0sW5YC2NUd29uaG3LGMQCF8p4sbcqZLFuWAtjVHduRmjUDksWgAR84wrlPAdOfDh4/K5ZeVl9IXFvVhkT37BfLEw13lh/HvStasWaRD5yciMoJDlRWpLMqZ61OO4VyQnTV2urihLHXJohxrdYFlZL2d0FXnWEYsI9QB0+mqd26TA35u04n6WG/3UB90OhrAOmm7UFa2bFmlUMF8arOrc+cCK3h9g5ryw4T/jOBvJ1v7A9Ely+Fy0hSCLn0gWJcsynlC+HeEGifitroArdymk9v0YRmd79C28gzSVRdYRiwj1AHT6ap3lGP93cQsK11HGsC6SLtUTp7cKVK5UllZvnKD/LX576Ba1rzyUpn2zXuSI0c26XTnU/LTvKVBwwa7oUsW5Ti5jHxrT6T1zm11AXTcppPb9GEZWW8ndNUFlhHLCHXAdLrqndvkgJ/bdKI+1t8fUR90OhrAOmm7UJZhGNKpQ1M5eOiIfPLZBDkXbBjYo3v1KyrJ5HGDJH++3OmG8wQN+L9h6JFlGJTDMjpfBQ3DYXXhfLbT/TUMd+lkGO7SB4VnGO7SyTDcpQ/LyHpbbhh66gLLiGWEOmA6w9BT7wyDcqy+P5plpetIA1gXaRfLub5+TRn+0fOSN0+KHDl6LF1NYQRPm/i+4FihfCm1NjjdCH43dcmiHJaRWfXcVhegl9t0MvWJ9TNIlxyWUSWx2k6wjOzPjmXEMsIzznS66gPlWHuv08XNrA+6jjSAdZF2sRzDMOTWDs3k2b49JGdyjgw1rVqlgiyaPVy94KCnKMMIXgEMQ48sw6AcltH5imcY7qoL0Mow3KWTYbhLH4tlZOm5ahjuYmcYevRhGYlYbcsNg2Vkd3aGwTJiGeEpJ2IY+uqCaPxHA1gjbIoiARIgARIgARKIBQGmSQIkQAIkQAKhEaABHBonhoqAwOP9BsnFV7aVXbv3RpBKaFF1yaKc0MojUCiyC0QlYz9d3JATXbIoB7StObKzNzfkTmsZaWhj3aYPywgErDlddQG50yWLckA7fKeLW/g5Sz8GDeD0+fBuFAjs2LlHjh07oT6VFIXk0k1ClyzKSbcY0r1JduniCXpTFzdkQJcsygFta47s7M0NuWMZgUL4zgq38KWcj6FLFuWc523ll+ysUBNxGzdrFILHogEcnA3vkAAJkAAJkAAJkAAJkICdCTBvJEACYRKgARwmMAYnARIgARIgARIgARIgARKwAwHmgQTCJ0ADOHxmjEECJEACJEACJEACJEACJEACmUuA0i0RoAFsCRsjhUOgerVKUqF8KcmaNUs40SyF1SWLciwVj4pEdgpD2D+6uCFjumRRDmhbc2Rnb27IHcsIFMJ3urghZ7pkUQ5oW3NkR27pEbB6jwawVXKMF5DA8eMn5d5HXpf6N/SQ7X/vVmHu79lRpk18X/Lny62uo/WjS5YuOYG4xIqdvyxdciBXlyzKAW1rjuzszQ25YxmBQvhOFzfkLBaydLVHuuQcPnJUXntzmMz/ZVnqRpmx4Iby0CWLckDbmsOGqZOnzZc/VqxPTcC/Ppw+fUZmzVniEyY1cIgnbpMTSG1/boHCRMNPl5xo5NU7DZcYwN4q8TwzCezbf1C+nTxHNWQpKckxzYouWbrk7Nl7QBq16iXvfDgqXW7nzp2TKT/Ol14PvyYvvv6J/LNnf7rh/W/qkmPKxU6Ez77yocxb8Lvp5XOELg/3fVO2btvl4x/uhdvkmPrjRXThkhUyZsL0VLdqzZ/qb8wME62jTlnRyjPTIYF4IqCrPdIl59ChozL4kzFybaNuUqB0Q3nkybdky9adMSlSXbIox3rx7T9wSO5+4BX536DPgyaSmJggHw8bL916vSCop0EDpnPDbXK8VdXVjuuS461bNM9pAEeTZmalZSO52bJllUIF88mRo8fk5MlTMc2ZLlm65IDX2nWbZfbcJcrQgYELB8MHvZUmzB9nLZTm7R5ULw39Xv5Aal3fTf7a8rd5O8OjLjlmRj4YOlZe6j9Ejh47bnr5HJNzZJf3Pv5aPhk+wcc/3Au3yUFHB14M813YQK5q0EXad3481VWq0V5KVWouM2YvChdTwPA6Za1cvVFuvuNJlX/oEMihIwgdNQEzG6KnU+VAb+gfiMesNW8AABAASURBVEsofoiLNDLChDAIG0qagcIgLtLISE56951aRpmpk672SJecIoXzy4eDnpTrG9QUGCVvvjtCPRvKXX6TDBsxSQ4cPCzR+qdLlh3kfDh0nET692lyT0+faMox5YV63LV7rxw/fjLU4JbDOUXOmTNnZdAHX0mu4nVj+s6gS47lAgsxIg3gEEExWGgE8ubJJU883FV+/2Od4OPY3oZbaCmEHsqUFWtZuuSYmo+dOEMZOjB+4GD41G3aXY2QYurP0M8nSrYLssrYL/rLS8/0kvUbt8inX0wyo4d81CHn0OGjMt1jsDdqcJXUvrpqwLxVv6KSNKhTXYVD+ICBMvBEPDfJgbqjx01TywnwN1Sx/IXS7faW0r1ra+l8S3MpVrSgWmLQqNW9Mm3mLwgekdMla9Lkn6TqtZ1k1NipapQHIz2B3MY/twnqulWlnCzH7KAKxCUUP3SiIY2M2CEMwoaSZqAwiIs0MpIT7L6TyygzddLVHumSYxiGNL2+llomdXjHHBn92WtSo1ol2fDnVrnjnuclT4n6amYU6supU6eDoQ/J3zD0yDIM/XL2b50ln3/8glStUkGxu/vBV9SIeqNWvSRSdobxnz6xkINyRfs9ZsJ0+XbKHDl46Ij8+dd2NRAAP3/3QJ//ydcTflSDLeioCanwPYHcJsejks//I8dMEbCBnsHeGZq17S1z5i/1iRfuhS454eYr3PA0gMMlxvDpEsAfXq5cydK6RX0ZMnyi1Kh/u/To/XJA9/yrHwnWyqSbYDo3dcnSJcdb1e4eQ2ft0nHyx4JRcsdtLWXx0pVqShBGUf/e8Y80a1xLWt5QTx7odbPUvfYKmfvzb2rU3TuNUM5jLeewxwDevGWHFC6UT7JnvyBgluCP+wiH8AEDZeCJeIiPdJBeoODwx32EQ/hAYTLyQzzERzpIL1B4+OM+wiF8oDAZ+eHvYvCQMZIlS5JMGPmGrFo8Roa8108+GvSUfPbh87J19ffy6eBnVTID3/syol5wXbLQU//BkLGCv6fHH+oi29ZMlrMHFsm5g4vTuA3LJqo6oxQM88fpcjDa8uvcEbJ97RRLDnGRRkbYEAZhYy0nUD6cXkaZqRP+fnS0sbrkeLPEbKD2ra+XhbOGyz+bpssHA58UvMj/OHOhtOz4sOQuUU/u9hh2mDmAWSveccM91yVLl5zcuXLKbR1vkKVzvwzIrnq926MyIhwLOVjGhenM6OzH+yJmAsBIw3Ugh2ViqJ+3dmwqeT2DLqGWvdvkeOuNdvyTzyaozWYDvTNsXvmdfPLuM6pj+bU3h1l+Z9Alx1u3WJ3TAI4V2ThN9589++Wue18UjC4CwYpVG9VaDazX8HdDP/9GDh06imCWnC5ZuuSYEJo0vEbefv1RKV+2lFSuVFbee+NxgR9G+nbu2iNHjhwXNKpJSYmSMzmHXFiyqKxbv1kOHjxiJhHSEWnGWk5CQoIgnxjNC/bCAn/cF0v/zkdymxz8Xfy5abu0a9XQ09FRVwzDOK/ov7+GYaiXHXQ0LV+5wfI6KCSnS9a+/QcFeW3b6jo1cwGj2Ibhq5dE4Z/T5RiGoTYMLFqkgFhx2GzQMDLmahh65AQqUqeXUWbqpKs90iUnEEv4oR7f1eUm+Xr469K8SW14CWbDYMrtpTU7SPmqrWXkmB/UC726GcGPLlk65fTs1kaw+WiPO9oI2sf9+w/JySgvS4M+0ZCTkpIjdYZTp/ZNlRFXulQxNeMJnfT+7vUXesuaX8fJA/fcElapu02Ot/IZteNYN92l041qcGr12k2WlxbokuOtW6zOE2KVMNONTwIF8ueRoe/3U40WGq70HMIhvFVSiIs00pNh3kM4hLciC/EQ30wrvSPCIbwVOWYcjB5iFNG8xjn8MJqIqb5Yj2Lei+SINJG2mQbO4RdNOegtvrhCafl+6jxZ9OtKU5TPEf64X75cKcHIhs/NEC/cJgcjvzlz5lCdB4YR2JhBx0JyjuwhEgoeTJcsU47ZeRM8R5HdcZucyGjYM7Yby0iXTmhf0M6k1w6Z9xAO4a3UAsRDfDOt9I4Ih/BW5ASKgyn3T7/4vhQt30SqXHOzfPfDXDWD6OH7blWjwmXLlFDTfJ/o947s/mdfoCRC9tMlS5ecPXsPyBvvfCFYQ12qUnP56NNxcvbsWalXu5rAAAwZTAYBoykHHfnP9u2hZjj97+UHpUih/GpmG2Y8BXJ9HuwsFTzvC4YRuG0MlnW3yfHW03z+4L3AMAJzwT20vxhwQJ3wjh/quS45oeYnknAJkURmXBLwJ4A/job1a0q7mxpm6BAO4f3TCPUacZFGrGXpkpPt3w3EsKEVppmYHNDrvXPXXilTupikeIwi09/7iAcbenm9/YKd65ID+ZDVs1tbOXjoiNRufKf0fmyAYD0S1ndNnbFAHnz8DcEnszDlCaOdeDgjXrjObXLQs96gbnXB7s8o+0A80BGy5LdVUuvqKlKwQN5AQULy0yXLlIM8I+8hZS6DQIFuu00OdMQsCbxwYvlDRg7hEB7xwnWIh/gZycB9hEP4cGUgvBvLSJdOutojXXJQH+BQnz4cOi7VcHt5wFBl3F5d4zL5ZtSbcmDrbHnjlYekp2dkE6N/86YNlZturK9GCxE/HKdLli452HT0i1HfyxW1O6l1v48+NVB1EKCjANPIMZ18+EcvqBlj4XDyD6tDDjpS0KHyaO/b/cVH9dptcsznT6zfGXTJiWphB0mMBnAQMPQmAd0EsJaledPaMnvur9KxS1/Bt/B+mP6z3HxHX8ERG0WdOHFKGZMrV/+pXg7QwP6xcr3HOC4uOXOGNhqoS47Jr0WzOvLOgMfUJdbuYC0Xeqeb3HSfvD14pJrW9sj9t8mdnVupMFZ/3CTHMAx57IHb1aeOnnrhPcXImwvWPz394mDZtn23PHTvrWqk2Pt+OOeGoUeWYRhyz53tBAb9I08OtLRmPRS9DMNdcqAzPvFVrfatUqxCU28X8BzhEB7xwnWIh/ixlmMY7isjw9CjU7hlavfw6Oxtc+tjynC7+8FXBJ2j6NDDNFcYbj9P/1RaNKur9kMwdcF0zlpXVZG3+z+qlguY/hkddcnSKadzj36Ss0gdub17P/lt2VrJkztFMFL+5/JvZN1v41WHAYyWjNikdx/66JCDPKDjpdZVlwum4KOjDX7+Dht/YlYADHL/e6Feu02OYYTejvd5oIvldwbD0CMn1HKMJBwN4EjoMW5QAhgZWLt+s/QfONxnAyxsjAWjLWhECzd0ydIh56F7O6kdMTEl+Ia2vaVp6/vlm+9/Ug+r5179SC67uqNau4FNscpUbqnWQS39fY3UvqaqWhccKj5dcpAfwzCkV/f28teKbwXTm1o1ryclSxQWjN73e6K7Wssz4KUHfF5wEC9cZxjOlIO/h0ateqlPf5Sq1Dz1WKfJXWqnZ/zNFK/YLNUfYQqXbSwfDxsvpUoWUd9XhkEcCi+dsvzzg5eoMRN+FKz9xWhFyYv/0xU6eTvwQF790wjl2m1yoHP27BfIZZeWU383+NvxdzAYEK5K5fJqLZ3VqY665ESnjKBx+k6XHORCpyzIc4s7dOioLFm6Sq1TxQ73KxaOlp0bpkqfBzuHZdyGwkOXLJ1y0GGO2V8d2jQSjIqj0wAj5VhDaxiBp8KGwso7DPTRIceUOeTziXLdjXfL9NkLTS+f47Ll66RFh4csff3COyE3ycFMwZFf/+BpXwtIeu8M6DRodcvDPu8T4bS3uuR4l1OszmkAx4psHKeLPzDs6FexWhvBp5Dwom66u+57UQpd1EiN/OFbYpFi0iVLlxysZf3264Gy+KfPpZ/HOHzsgc6yYMYw2fPXDMHOuVdVryyLZg+Xga8/IseOn1CbH+ETEjBow2GpS453nrChD0Z6sUMhdiT88Zv35fkne1pay+Odrv+50+ScPHlK8EkZrBHzd6h30G/f/oM+nw3CNfzxIoBdoNFbjuuMnE5Z/nnBSxQ2vkOecQ86+OtrXoMH8opw4Tq3yYH+GNXBcwF/N4EcdtTu3rW16jBpd9P1lqc66pLjxjLSpRPqA9rO0eOmqfWxiXlqipGrekBXtkorNeMCcaw4HXIwFRVTnI/smKt2uK908UVpNv2zkvdAcXTJ0inn689fl4PbZ8uoYa9KLc+oOEbHA+keiR/00SEHeUSbN+HbWYJ3HYz8w8/fofO85pWXCsIhvP/9UK4RD/HdIgfLyPDZTHRUQH//9hXX8EdnudnOmsdw2ltdcpDXWDsawLEmHIfpv/vhaBk2YpIa0cNL2cihr6hNsb745EW1LhiL7x964k3BaFCkeHTJ0iUHPNCAXVn1EmUc9n+xt2oIcqUky2vP36+MYdzD7od4YUBv7/dj3xYYtIgbjtMlxztP+PwJpjXhIertH+1zJ8nR+TkanbL8yzQc2b/OHSEI759GKNeIh/ihfN4H4RA+lHT9wyAe4sdajr/cQNeYzvfqc/dJmQuLCT6fhdkqgcJF6hctObrY6ZIDrjpljRwzRTp27St/rFivNjiCfH+HUcEypYur2UP+90K91iEHderyyypItmxZQ82WCmflR5csnXJgCGLvDPzNb/97t9pjY8yE6TJrzhLBrAQrnPzjQB8dciAXX7PAVy3w+atg7zXwx32EQ3jEC9chHuIjHaQXKD78cR/hED5QmIz8EA/xkQ7SCxQe/riPcAgfKExGfuE8f/zbLLRjiJ+RDNxHOIT3TyOUa8RDfKRjB0cD2A6l4KI87POMVOHhiyl5i2YNV7v63dyusTJ8b+3QTBnCmKaDP/iPP5sQ0TpAXbJ0yQm3GuCFAWt7DCM605yCyY+GHEyHv6bhHZK9UC21bvHKOreljkyg1xLrgWEYB8tDqP5OlGMYhqAcMXJtxSGuYYRWBwxDnyz/MjOM0GWHo5Pb5fjrF+wazC6pWEYmT50nu3bvCxYsYv9oyDEMd9UFQDUMPTph5GrYiG/VWs85P3wi+JY2pg6XKlFEfTca11g/m5BgqFlDKC/kL1ynS46ZrzXr/pKH+74pVa/t5DM9s5TXspBwpmqa6QY66pIVQzk+aqHdu6pBFylesZlgj432nR+XBs17SkrRutKhyxOCtf0+ESxe6JJjMXtxHc0wQn/++L9n4BlhGLF/hwhHjo7CpAGsg3IcycDI267de6VZo1qCXt1Aql9T8zK5ofG1EklvF9LVJUuXHPTgYt0jDMGMHMIhPDiE6xAP8TOSgfsIh/DhyvAOv/T3NYLGecGiP9RuxehN9t6Gv2qVCjJr7hIZ+80M72hhn7tNTtgAGCGuCWBq28FDR9R3UTHLJlYwdMmJVf6dni5GiNB2og299urL00wXNgxDbXyEmUJYHoH2y4rOuuQgb9Nm/iKVarSXt977Un7/Y63Pcg9zmiaOG//cpuo34lh1umTpkrNi1Ua5tlE39ZlBtK2YHoyZdzji+uvxP8oN7Xp7OsX2WkWm4umSg08h4pOIc3/+TTZt3q5k+/9pLGumAAAQAElEQVRs2rxdcB97YOTMmcP/dkjXbpMTktIM5EOABrAPDl5ESgCjhYUK5lONVDDDyTAMNS0rnE/3BMqXLlm65KCXVscOrLrkoMxg6PZ/+zO1c/VXn76iNje5pV0T3Ep12NwHnSIYubL6suY2OSYcrMHDbpftbu+jRkXQs29Oa8NOmHgJQBgzfCRHpKNLFp4N6FxBJ0sgh3sIE4k+iIs0kFYgGfDDPYRB2Egc0kBaSDOQwz2EiURGsLgwSDdv3SEPPP4/tSaucqWykjdPrmDBLfvrkmM5g3EWEe2nYZwftcG62TNnz6pd44EBM6wwpXL12k1q00T4WXWxloNnPgx15A+7Om9Z9b2aMYbN8n6b96XgutvtLSVP7hQZ83l/KVwoH4Jacrpk6ZKDZwqWPGAPCOwZgk9FYW8NfDsXR1zDH53D738yxhIzRNIlB7IwnRufRNy4aZtc36KXjPN0jGNQBW08nqMTv5stN7Z/UHAfRn6KRQPY0XIAKojT1Y7rkhNEzah40wCOCkYmYhLAixc+5TNzzmLB5wxMf+8jXtzRO4oNDgoVzOt9K6xzXbJ0ydG1A6suOShMrPVdtny9tG5RX9q2aphmtAJhcibnkAtLFpVIXtbcJgdcDhw8rD6BhcZ+7MQZalRk4eIVcujQUdyWxb+uknrNesi0mQvUdSQ/umRhWuWDj78hSXmvUp89Cfa5HXQEoaPGqk5uk4NPR2FDo0CbHWXNf7VcWOlGwVICjPjcfWdby+sp7SDHX0fojXxZqQuIh/j+aQa6RjiEtyIHcRAXaQRK298P4RAe8cJ12OG7TOliavkQjALEL1G8kOzctUfWbdiMS4HBgntwVmcD6JKDZw+e/Wgjet3VXqBLjuzZJCkxUdCZjutXnr1PihTOL+hMhU5KSQs/umTpkoN275dFy6VJw2vkiYe6Ctp2byy4xieRsNHTLM87mdl56h0mlHNdcsy84JOIeI7hHbLtbX0EXz3Iku98m3HTLY8IRqOtbP5ppm8e3SYH9Q6fzYz1O4MuOWY5+R+jdU0DOFokmU4qAexIjB7pbr1eSLP2ZO++g+qzSDB6HrqvU0CDKDWhEE50ydIhBz3cbtrpFcWHUaPDh4+qTzRhJAF+wRxebKy+rLlNDhh9MGSsjJkwXVreUFdWLvpajYrA33QN6lZXO2iPGjtNvfCa/laOumRhM7m3B49UWSxerJDaKA8XRYsUEFxj4x78Hdx28w2CF3Dcs+LcJgd/OxeVKR70M0j4LFLXW1vIHwtGqW+mWmGGOLrkYOAy0WPgQGZ6DqM00Bv5Si9csHu65EC+LlloO+vXqS6TJs+Rnxcug2i5vH" id="104" name="Google Shape;104;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8AAAAKMCAYAAAAkO9E4AAAQAElEQVR4Aex9BYBdxdX/ebtJyD7ZuCshbgR3K6VoW6AUqpT6V6Pt969R14+2VKlCW0qhglPcLRBIQoLGE5LduGfjurv/+3u7sztz3r1P77t6kp13be7cOb87d+bYnKlp3TGnVZJgIG1A2oC0AWkD0gakDUgbkDYgbUDagLQBaQNRbwM1FOt/QrwgIAgIAoKAICAICAKCgCAgCAgCgkBcEBABOC5v2o5OOScICAKCgCAgCAgCgoAgIAgIAoJAjBAQAThGL1tINRGQI0FAEBAEBAFBQBAQBAQBQUAQiBcCIgDH630LtYKAQkC2goAgIAgIAoKAICAICAKCQOwQEAE4dq9cCBYEBAEiwUAQEAQEAUFAEBAEBAFBII4IiAAcx7cuNAsCgkC8ERDqBQFBQBAQBAQBQUAQiCkCIgDH9MUL2YKAICAIxBUBoVsQEAQEAUFAEBAE4ouACMDxffdCuSAgCAgCgkD8EBCKBQFBQBAQBASBWCMgAnCsX78QLwgIAoKAICAIxAkBoVUQEAQEAUEg7giIABz3FiD0CwKCgCAgCAgCgkA8EBAqBQFBQBAQBEgEYGkEgoAgIAgIAoKAICAICAKRR0AIFAQEAUEACIgADBQkCQKCgCAgCAgCgoAgIAgIAtFFQCgTBASBdgREAG4HQjaCgCAgCAgCgoAgIAgIAoKAIBBFBIQmQaATARGAO7GQPUFAEBAEBAFBQBAQBAQBQUAQEASihYBQYyAgArABhxwIAoKAICAICAKCgCAgCAgCgoAgIAhEBQFOhwjAHBE5FgQEAUFAEBAEBAFBQBAQBAQBQUAQiCQCMROAI/kOhShBQBAQBAQBQUAQEAQEAUFAEBAEBIEiEBABuAiQIpNFCBEEBAFBQBAQBAQBQUAQEAQEAUEgxgiIABzjlx830oVeQUAQEAQEAUFAEBAEBAFBQBCINwIiAMf7/Qv18UFAKBUEBAFBQBAQBAQBQUAQEARij4AIwLFvAgKAIBAHBIRGQUAQEAQEAUFAEBAEBAFBgEgEYGkFgoAgIAhEHQGhTxAQBAQBQUAQEAQEAUEgi4AIwFkY5EcQEAQEAUEgqggIXYKAICAICAKCgCAgCCgERABWSMhWEBAEBAFBQBCIHgJCkSAgCAgCgoAgIAhoCIgArIEhu4KAICAICAKCgCAQJQSEFkFAEBAEBAFBwERABGATDzkSBAQBQUAQEAQEAUEgGggIFYKAICAICAI5CIgAnAOJnBAEBAFBQBAQBAQBQUAQCDsCUn9BQBAQBOwQEAHYDhU5JwgIAoKAICAICAKCgCAgCIQXAam5ICAIOCAgArADMHJaEBAEBAFBQBAQBAQBQUAQEATCiIDUWRBwRkAEYGds5IogIAgIAoKAICAICAKCgCAgCAgC4UJAapsXARGA88IjFwUBQUAQEAQEAUFAEBAEBAFBQBAQBMKCQKF6igBcCCG5LggIAoKAICAICAKCgCAgCAgCgoAgEAkEIi4AR+IdCRGCgCAgCAgCgoAgIAgIAoKAICAICAIuICACsAsgBrYIqZggIAgIAoKAICAICAKCgCAgCAgCgkAHAiIAd0AhO1FDQOgRBAQBQUAQEAQEAUFAEBAEBAFBQEcgUALwRz79PUrUH1tUGjTmXFresEanJWd/7msLKTXg1KLKw3N/9ut/5JQRxxOtra00fcYr9MWv/YJ27d7jCMG69ZtpxMSLHPE984JP5b3fsWCbC4WehXogj82tgTqFOqKuaG9VTsTxR/vO90xc9wusQt8qp8Wverr13AWLltMnPv8j2rBxq1tF0g033eP4Lar3ft4lX6C9e/cX/Uz0BR/9zA/yllvT4zh69MkXiy6z0owPPDI9b30wjlT6DLnfewT87Bu9pzbaT8Q3qPocuy2+4WgjINQJAoJA0BEIlABcClhgHJevyC8Az3llIe3Zu6+UYmOdF8zurDnz6ISzPkJnnP8pen3ekljjIcSHGYFg1n3x0kZ69/v+lyYdfzk98fQsamlpca2i7zj7RBoyuH/e8l5+ZT41rFybN49+ce26TfTM9Dn6qZz9Y6ZNoBOOnZxzXk4IAoKAICAICAKCgCAQRARCKwBDWHvmeWfGDNdnvvxmEDEPZJ1gkTr34s/TiW+7il5+ZUEg6yiVEgTCisDqNRsJltTxx7yH7n94elXIGDl8EJ1z1gltZTv8bt22g6bPeNXhau7phYsbaOXq9bkXtDMXnncq9epZr52RXUFAEBAEBAFBQBAQBIKLQGgFYEAKa+XuPXuxm5O2bN1Os+fOzzkvJ0wEDIvUM7PMi3IkCAgCFSEAt87PfPlaGjbhArr5Xw9UVFahmxOJBF3xnnMokUjkzfrEMzPp0KHmvHnUxfsffo6gTFTHfJus607vPP80ftr3Y6mAICAICAKCgCAgCAgCTgiEWgCev/Atxzl0KxrX0orG/C7STqDE5fzrby6h4874cNUsUnHBUegUBOwQwDSNU9/xcfrz3+62u1yVc8ceNZEmjDs8b9kzX55Hq9ZsyJsHF7c17aCXZuf3ojnt5KNo4rhRyC4pOAhITQQBQUAQEAQEAUEgDwKhFoDXb9hCsGDa0ffKa4tKCvZiV0bUzx1qbqbmZvfmIEYdr7DT9/Uvf4Rad8xxTLgedhqDVH/M7y3W0upWvfv26UnvveTteYtbs3YjvTl/Wd48uLhoSQO9MX8pdh3TRZb1t67uMMfrckEQ8B4BeaIgIAgIAoKAIJAfgVALwCDthZdew8ZIcNmbPuMV45wcCAKCgCAQBwTOPftE6tata15S733gmbyuzbh5+oxX6cCBg9i1TQMH9KEL3nGK7TU5KQgIAj4hII8VBAQBQUAQKIhAaATgKZNG2xIzY+ZrOUvtYP7va28uycnfpUst9eyRyTkvJwQBrxAYNLAvNS540NEKCwvt2iWP0vChA/NW6YxTj6ad66bnLefZh2+kdCqZtxy5GD0Epk0ZR2eddmxewhAgcOOmbY55sFRSoejPZ552TMF26vgAuSAIMASkb2SAyGFZCMhNgoAgIAgUg0BoBODJE46g3r1yI43CBZozck7zfyFUHHXkuGJwKZhn1eoN9Mvf/TMbNbn38LcZ61J263MiIdrrF7/2CwKjefDgoYLlIQPWYbVbMw/n9HVQ4bb84qw36H0f/Sbpz67teXx2CaN/3/moo/s3gvKMmHhRtr7Hnv7hvMtEPffCK5QZdHo2L+qQGnAqYb1W1LXUBKUE8Jp2ygcI+KA8pAFHvIP+50v/5+jKXupzVP7b7nq8o954Dk8jJ72T4Aqq8vPtwsUrqM8I873qZbz/Y98sOpAQL9uv45/9+h95McH1YuqG9ocAdP97za8I71Nvgwqj/qPOyX4bP//NLbRk2cqC1sZinsvz4Lv6/rU35qUJ9Tli6rsJ75Pfr47zfcu4f/DY8+jt7/ps9nvHEkLwMFH38u2u3Xuy6y+r+/JFUMY1lI28KrmxPiZcki9551m8asYx+s18btCgE0smGTexg/dfdh5BqchOG4f5sEU/UE4/aTygyAPgqjC222LdUruiyrkP35HdM3BO78fRflE+1mZODzytox0DlxPfdhXd9d+nCHl4vdCHf/tHf6TRR17ccQ/KxvH3/u8GQl/L7yl0jOc8/vRMuup/vk+HT34XYSxBmSqhfnhXn/7i/2XXfN6370ChIkNxHeMZxjVFp77FeVwHITNmvk6Yz69wwTtC3/fDn/6Ftu/YhSy2KV/7x7Pw/Rfbt6gHoE6oG+7nCedxXeXF8+3aCsY/nEdbUnkLbdHvYbUIjNdDxp3f0faAydST3kfo60spr9Dz5HpZCMhNgoAgUCQCoRGARx0+hOyswJgHPG/BWwa5TvN/IfwO6N/byFvqAQaAk87+KA2feCF95Vu/IQgC25p2GMWAmQCDef2fbyPk7TvybPrdDbc7CqXGzQUOIEycdPZVdMo5H6Pb736c9GdjziEiX3/w49+mo0/7YF6mv8BjXLu8f/9Buu63t9CgMedm8ULgLeCjHrBx01a64aZ7sgqDH//8b7YMn8pbyvas04+l8WNHOt4C4QNLvDhleOX1RYQlY5yuv/uCMwsy/073hvU8GKC773uaRk15V1a4/fUf/k14n3obVLRt2rwt+218/bvX07ijL822x+kzXnFNEEZd8PwfWAKweqbddtTIIfTgnb+xDQxVzLeMMsHUPfXs7Gz7hXCAb8tNWvAMt1OhNYGBHyI8Oz13+oxX87Z/fFv51v4tBlv0A9XqJ53oCsr5N+YtJQgN77rif+mxp14ifTUD4IJx5b1Xfp3Of8/VhDEO9cZ5CBlDx19AP7nuJnprxWqc7kg4hkA2fMKF2cCGeMcdFx12YOlH/9xj6Bl07sWfp3/8+0GC8gNjiX4L6od3dePf76HzL72a6oecTl/99m9px87derZI7qPPO/28TxKEYIUL3gX6Piiiu3XNnW5QTPsHWNXqW/C+rv7qdVk+xa6tNK5al21DIyZdRLf856GC/TLGwiuuuia7fjnGa6wPjvojARMo09DXozy0p/0HnKdO4B5JgkB1EJBSBYHiEQiNAJxJp+iUE6fZUvaktnwPgs5gmQ+7jOecdSLZDVZ2efk5WL1++6f/0JQT35e16vLr+Y7BJGAwwiAK5iJf3nzXMACfcNZH6OVXFuTLlr2GADaXfvCrtHrNxuyxHz+btzRZVupr6Gvfub4owfY7P/4TQWngRl2h6LjiPe9wLArMoZMAgGtPPjPb8V4w/xCwHTNE8AIYqo999od02Ye/VnBdWDvyX3tjCZ1x/qcsZcitrgReu+f+Z+ia7//e7lEd55yE30q+ZRSuaPnG935XVLvGPV6nYUMG0Gkn2/eXqi6I8GynvMjXh6p7zz7zeOrfr5c67NhWgq1b/WRHZQK68+AjL2QVo+ijC1XxKUvx8qFPfifrrYLvD0IGBI589+3Zu48u+cBX6Enr3nz5MBZhTEL/DEE4X15+DQLgL66/lY4+9YOE74Ffj8rxnFcW0ic+/yNywvyqD76T4HGh6K2k/aMMYIl+spK+BR4A77z8y1mlO8rMl/AeP/qZH9ADjzzvmA08xLmWcuTOe590zKMuoDy0Jyjn1TnZCgKCgEcIyGNKQiA0AjCocrI4IFIpXA+Rp2n7Tsvy2YBdI8FVb9KE8pbrgEAE990vff2XjgOh8TCHgzmvLqB3vPvz1GhpXx2yOJ7G0iUXvfdLBPocM7ELYLD+est/2VnvDucvXE75BEm7msCqBxd2u2ulnrvs3WdTvjnfTgIAGAhY0p2e58T8O+UP+3m4+ME18uZ/PVAxKWDg8S3hmyq3MLybfEwpynUSfvFcPL/SbxnPgDXu6q9dF0ghGP3dRz5wESUSCVTVNr325mLCN8ovYokk9Df8vDpG2e+zlEuJhFm2W9hW0k+qOgZ1C1w//Knv5J16wuv+lCXIHnvGh+mftz/MLzkeQ2D7zo/+5OieizEIYxGwdiykiAuwOp/z7s9SPuocvAAAEABJREFUpeUU8SjPsxw4eJC++5M/O465XBHqVvsHoeX2LXv37adLP/BVKjR/H89QCW3l/35xk21bgWLkM1++NpLvV9EvW0FAEIgGAqVSESoBePLEIwiRRzmRcL/BXBech9C3ZFkjdo00dvSIvC6xRmZ2UIy1id3ieLj0rZX08c/9yHawcbzJurB//4Gy5pxCawtLrFVEKP4wL/fxp2a6UlcwKOedc5JjWU4CgFMbQkFOzD+uRTGBqfvF9bdm5yO6RR/cliHEllNeo6U8+tAnvuPIlKLMMUcMp8f++3tbt2dYOq4pYDlGGcWmG/9+Lz3yxIvFZvc031FTx9O4MSMcnwlLL7xKeAb0p/gO+Xl1fMy0CbbTUYLQT6o6BnVbbj+u3KBLoQtzQfEu+T1QFn/y8z8mjEX8WjnHGF+++f0/5ASjLKesIN2D7wNTdJzqBA8jeBqp60HoW9Bfw1tH1anYLfrjl+fmepbd99Bz9OCjztbhYsuXfIKAICAIBA2BUAnAGGwmTTgiB0PMT2kLckNZiwYGLp5pwriRea2BPL86hmANdyRoSdU5vsVSIPNn30Et21+mXeufp//73ueopsYZWmj0/3PnY7yYqhw3NK4ty+JclcoUWeiLs14vMmf+bBBW81nB0E7sBACcwzW70o9xYP7t8kbhHOZC/+p3/8pLChQNiDh9YMvM7Dew9LV76V0XnO54D1w0f/zzv5U8J76paVdWeZSPcYfw+/Ddv6XRo4blPB/M7Dd/8Pu8Xhz/8/H30Ip592fpwPeMfZzLKaz9BPoFJ+tJexbfNugvwaTnq8AjT8wwBBcw0AiGlO8eBNjqUZ82soS9nzSIicgB+rDZc+fnUPPP2x6hJ7RpQzzDEYcPpbv/+XPau/HFbJR5bHGM8zyvOkZ5cO1Wx1HfwrMIHkaKzrD3LfjuoTBR9GAL628hr59hQwfQ4/f9gQ5tm01Nq5+l71/zKdwqSRAQBASBwCPgLKUFsOqpZB05uUE/+/zcrIX0iWfsrYeY/wuBqFSy7nv4OVq2fJXjbXCH/fdNP6GJ40dl3Q1Rx2v+30fpHzd83/EeXMDAAtdS7JeSpk0dS6+/+J8sg7654Sn6zCcu67zdZg/Chh6wYpC2DM+c6bdSsq67zV1tp/hSO7s3vEAQANuuFvcLRQAUAlAMYJDEYIlBM9/dsPLBSpEvT7HXTjp+Kh1/zCTH7FwA2LfvAE2f8Ypj/vPOOZk48++YOQIX/vGvB/O6ax45ZSw9cd8fCW2la9cu2W8Awudtf7+WLjrvNEcEnn7uZVqweLnjdX4B7+X/fevX9NSzznOz8wm/KO/p5+ZkFWTYt0top3/81Tdo5PDBWToSiUR2H+e+/bWP292SPQch4+V26wmWnYIyoJjlrBCVHkteIa9K7zzfWXGQfViJP+eefSJ169bV8a7X31xKDY3rOq7D/T+f+yQY/wvPPbUjv9oJWj+p6hXULfolpTRd/ub9dNrJRxWsqt6XQtl04/XfyqtoRYEIxoStShhzMPaoY74dNXIIPfnAH+nSd72Nunfvlr2MLY4fvfd3hPEje9Lm59bbHiJ8pzaXQn8KCj28JyjF1ix+hO645acExZ8izIu+RT2rmC3G9Vv/8kNCO0HCPs7lu5e3FcwRzxcJHv3Kv/76YzrnrBOotrYmOy5+9xufzBoA8j1HrgkCgoAgEAQEQiUAA7CzTjs2y5xiX0+YzwnL0KuvL9ZPZ/fr6g6jo6eNz+6X8gMh7K7/Ogd+6NKllqDxtBOIwMg6Ceuow9zXFpKdexquOSUwJ/f++xc0dfKYLAZ9evega7//eUelgFM5Xp7/8Xc+Q9/436sIigEMkhgsf/7DL1alCnaF4t186H0X2F3KnuMCwNr1mwhWz+xF9gPmX9f6s8uRO9zWtIPwXTkRlkgk6Kc/+DwNHdI/Jwu+uc996r3Z9452e/ml5xCYI7TfJa/eQ2uWPFKSMgVRce+454mc56gTaFvXX/cVW8sv8sDCgWi72LdLmFoBa2kiYc5rRd5EIkEXX3Smo7IIZT/z/BxkDVyaNmUcoc90qhhiCsDjQV3P5/6PPOjTuCUwaP0k6hnkhO/h3zf9uENpeviIwQQlC/qXfPX+wqev6OhLoWz6xEcupm9+5aP5bsmZnw5lbr5x532XnZtV+tgVivd+7tnOU0rQb6L/tLs3zOeOO3oi3fTH7xHeUyKRoMGD+mWFPoz/oAvff5D6lkQiYdX3u/ShKy4gtBMk7H/1S1eiukUntBV41zndgH7l2KMmGpcTiQShDQ0ZnDsmGBnlQBAQBAQBnxEInQCM5ZDg2sdxW96wmp574RXbCLWHjxiSHbz4PYWON27alnd92nzziiF4wTrs9Ay4p9kFoHHKj/OIPAzrFPZVwnPyzfNT+fzYZtJJgnt4ImEKFWNGD3MUJqpRT1isnAZkLgBgSS2n+XZ2zH816ltmma7fBhzwXTkVDEZw8oTRTpfpvLefnJ0S8NYb99HtN19LP/jmp7OCJCy1hZh9x0IdLiD66k9/dbPhzqtnxXvGu9XP6fug9Yip76ZEvaVgs0nHnv7hvJbw195YHEjrFxQRF53vbIkHBoiGrix3mM+Mvgnn7dKH33+BEfUWeYLWT6JOQU52/fiQwf0clTegBcLWZRefnVV84hgpkUjk9W5BHp6g4IBXED+vjuHO7/QN1PQ4jvJZjzds3ErLV6xRRUVm+/ErLyYom50IClrfcrilUDnTMhTw+h5TohFgwaIVvAjj+JijJuT0BcgwaEBfOtJS0mNfkiAgCAgCQUUgdALw4IH96Ogjc6250FRi/Tk75m3alLF5BzCnlwML2I4du50uU7++PTvcxOwy1WdSdqc7zmHg7DgoYgdu1nbZnM7b5fXyXL++vWigNRjyZ+Id9u3Tk5+u2vHI4YMIFjynB8BtXrWbJ/PMjbNj/p3KjMJ5MMpKMLKjZ/SoodSzZ9rukg/nKKsA+++Dz9o+G3Rs3LTV9pobJxF45lDzITeKcr0MKKFg4XYqWFnu4B6bz8UcSqSTTzgyp5ig9ZM5FQzYCSiAeJVgpUuluvPTHccYS/IJYR0ZC+xgSZsCWcq+DEvo3n37yr4/iDdCiXvicZPzVi1ofcvhI4dQOl2XU2coLAu5QefclOcE2qTd5e7du5GX47tdHeScICAICAKFEAidAIzOddrUcbZ0LW+w1z6ffsrRhubc9uYQnBxzxLAQ1LKzipjrm4+p68xZ3b1EIkEfvPw8x7mQcAFduXo9gZF3cvl1Yv6rW3MpvVQEfnLdTb6sfY0gULt3+8j85wEKc43PPO0Yxxywfr80+41srIN87rGYvgBlkmNBcqFqCGBuec8emaqV71bBS99yjpfh1jO8LKdXz3rq36+3l4/MeVapfcuQQf2yU09yCpITgoAgIAgIAh0IhE4ARs0x9ySRMN1qcd4uQeN57NET7C7JuRghMG3KOMe5kBAA4B4LBcqCRfaBmU47eRoNGzIgRoiFk1S4eN7w97sJ1igvKYAHASJCe/nMYp8F99l80dBRDpY6mT7jVUc370QiQVe855zAKhJBQzXS2nWbq1FsZMs8eDCYXhDlAn74yMGUySTLvd2V+4Lct7hCoBQiCAgCgoAPCIRSAEb0RbjzFIPXyBGDacSwQcVkzckD7W99vbMb86bNTXnn/eVbSxMPswsehPOS3EcAcyGv+uA7HQu+94FnCJF84fbLMyUSCYIAAUGCX4vycZfa2mx0TycaC7V/rA965Mnvp8Fjz6O3v+uzdPVXr6N/3fEIzZ47n+CO3Nzc4lR03vO9e9Vng7s4Zfrz3+6mBYvM+WvwHMlnyYGFf9XCh7PLvqiIzKVsGxc8SIMG9nWqku/njyqwJvCTz8ymG/9+j2M9J4w7nHjAG5U5yv3k/IVvKTKDvC26boXGnJ9897NlfwP4Xr7+5Y8UXZeoZIxq31KorezYaT89DNNB1qzbFJXXK3QIAoJARBGoCSNdmF9SbJAFLIFT7typ/v16Ub4AU0uWNRIsTnYYYj4dGH27azgHyzQEeexL8gYBBJ9xwnz6jFfo7/+837YiaAMQIGwvRvgkhMJhQwc6Uoj2n89lds6rC7KRztet35xdvuh3N9xOH/rEd+iEsz5CA454B335G790LNvpwqQJo2ju8/+kz37ivU5ZCIL3D356oxEBN5NO0YjhzrRgqbB5C5c5lhn2CwgciKVsnOgAZk59Ge7BHHr0u9jnKQr95JsLlhGWgNJpwzIwDz32gn4q9PtQBudT5E2f8WrJ63P7D4q/NYhq31KorcyY+Zpt0EEEQ4ua4sjfFiZPFwQEgWogUFONQqtdJjSumNdbzHPeftbxZbvtYd6VXTRF9Vy4Jn3/2hsJwq46p7aPPvFi1tKljvl2yqTReaN+8vzVOB7Qrw/1sqxpTmXDQtfa6nQ1fOchBGCpG7uaw/3ZSWEBwQH32t0X5XNQHEGB5EQj2v9PfnGTbfuHMPHdH//Z0RU5kUjQBeee4lS07XlYIB+95/fZZVo+edUleQOt3H3f0/TsC3M7ygHTf9m7395xzHfgMv2L6/9pSwsC7L3tov+h3sPfRtNO+QB9/HM/pJ//5hZCwK2lb60kp2B26XSShg9zFrqbW1oI3xivS7WOLzrvVMd58PmeifU+ca9TnjD0k126dHGqfvY8ls+DhwLaLdrCG/OW0iUf+AqhX8hmiMgPxp1jpjlPCXrimVn08OMzcqgFJrff/TglB5xCQ8dfQBe///91eHQ8+/xcgtATNffnHBAcTvjRtxhVqdIBgrWNHjXMsfTnX3wtZ5k81U4wrcjxRrkgCAgCgkAAEAilAAzcMIgnEvnnAbthZYXrKyxheKZdQtTUKz/13WwAGXT+EIav/eXf6QMf/7Yj849yPv/pywlLGGHfr4S1U2trnJvAK68toldfX5SlA4wh3CSx5qdf9XXjuVjHt5RgMoWYfzfqFNQyEokEfeDy86gmTxtB+z/zgk/Ri7PeyApzEOhee2MJvf1dn6GXX1ngSNrppxxFp540zfE6vzBq5BC689afdqw5PHH84fTBy8/n2TqOMR/3J9f9zbBQvO2MYwkW5I5MbAe0vOuK/81arUEHGHqs73n8mVfSM9PnZIOkvf7mErrp1vvp69+9PisgjT3q0qw1+/kXX2WlkaV4o7wu5LA6P/vCnCxu+K6ee+EVgrWcqvQPws9Jx08puXTcg3vz3Rj0fnLwwL6UsRQS+Wj4952PUt+RZxOW+4HrPtpxvvxhvIYxJ99UEHw37//YN+n3N97RoQyCcHv1166j9330m1nrMKb23PfQc6Q8Os668NM0cPQ76IOf+LbhdRFGfMqts9d9S7n1LOW+/v16Ub6lHNFWLr/yG/SIpexHfwnX55/+6mb69o/+VMpjKs4rBQgCgoAgUA4CztJPOaV5eM+EcSMJ0U3zPRLLA42yGOd8eQpdw5p6P/3B5/Nmu//h6TRm2iVZxqnn0DPpmz/4A953iPAAABAASURBVGFwcLrpovNOo/e862yny56dL2ShwnzYM87/VJYuMIZXfeb71NS0y7P6VeNBcIE+75yTii76qKnjCO2o6BsilvGs046lT330krxUQVA45ZyPUZdex2fTUad+gHDO6SYoFX707c8QLIdOefh5RBTXXXATiQQVsgJDoPznbY90FIU5wN/52icswTTRcY7vTJ/xCk096X1ZOrr1OZHOu+QL9NaK1TybcQxa7IT5VLKOhgzqb+TVD6Aw+/Anv5t9VmbQ6XT+e75Aq9du1LO4ug+8L7v47SWXiXtwb74bg95PwhI/bszIfCTE5tr733sunXbyUY70QvHzha/8nDCWYU1gCLe/v+EOx/y4AGvhdT/+Yt65+cgX1eR13+IFjolEgj76oXcSDAlOz4P3ywXvuTrbh6UHnlaQ9yH55zYCUp4gIAiUiUBoBeAB/ftQoejOkyceQaVY+5wwvOLSd9D/+8KHnC6XdB4WqN//8mtUV3dYSfdVIzMsIhDwii1727YdtGHTlmKzBzIf3NVgrUoknIUgveIfet8Fvlvq9fp4vQ+8fvqDL+S1BJRaJyeBsdRyClmBUd4vf/dPwjIi2EeCO/snPnIxdl1JH7riAvrcp95rK1QnEgkqdqoGKrN3735av2EzdquWCq0JzB/cu1c9nX3Gcfy07XGQ+8lePevpwvNOta13vpNo/4cd1i1fltBdgxX4Fz/5ErkxNoJ4lPPHX32j7GCTKCMKycu+xSu8jj5yPP3vFz7o1ePkOYJAiQhIdkGgfARCKwCDMTnu6El5Ka9k/q9ecNeuXehnP7w6m/Tzpe7DnejJ+/8UKEbhIx+8KK+GV6cRFuGNm7bpp0K5f9LxUynf3FZFFBi7M089Rh3GdguG+Y5//JTA4FUCAlypf/Oz/5dVJiUSxSkg8j0vkUgUtAIvW76Kbrz5nqwbP8rCt/yHX36d/ufj78FhRQmupH/+7TV519yEwJlvHh2vwNIqr6MKr5l8awLz+iBw3JgjhvPTtsfANsj95CeuvJjgAWJbeZuT+P4fvPM3dOJxk22uhvsU+r8n7v9D3nn0xVAIr4y7//lzwlhbTP4o50H797Jv8QLLRCJBX7n6wyUrQN994RmBUPJ7gZE8QxDwDQF5cEUIhFYABtWnnHgkdelSi92cBOvm5AlH5Jwv9wTmy37tS1fS/Nl3WAzRlJKK6de3F/37pp/QY/f+ngYO6FPSvdXODA3vH3719bzzPPU6bN22XT8M5T4EOlh2C1X+7DOPK4lhLlRemK/DEgghGO0Y7blUWo47eiK9OfM2+uJn3p93Xmyp5RZjBf7V7/5Fr7y+qKNoMKqwWN329/+jcmjBPcDhr7//Tl7hFw+E6/affn1N0dY2zLXHfdVK6C/ff9l5RRePwGG4p9gbgtxPDh3Snx6449d554ErOtFeZz3zD8IYo85FbYugcm/OvJ3ee8nbyyIN9736wr/pbUV6CJT1kJDd5GXf4hU0GC+h5HAKIKnXoz6TIvSr3/7axylh/devyb4gIAgIAm4iUGlZoRaAYZmARcMOBMz3wrwvu2uVnMN80Jee+jutXPAQwY3shGMnE9zr9DIxCI4bM4Ku/p/30cynb6Z1Sx+j9192rquMv/68SvYTiQTBkrXg5Tvp0x+71HZeNRj+I6eMpU999FLfI1dXQqt+74Xnnkr5gpshb6nMP+6JcoJwg3aM9jxn+q303W98ktD+0T443Zj/ijbzza98jBa/cg9BmMC3w/NVepxIFLYCw3PhZ7/+hxGgJ5FIEBg60IJv9Muf+wChvvxbRv1wDteQB3lxD3AAHrheKME6hu/rW1/9WPb7gSVcvwflo7+48v0XWsq16lsb8c6KsYRiGZTTTp6mV7XofbzrIPaTsMa//Oyt9K+//TjrBaK/C7wHtIkn7vsjvfTUzTR2dHGW76JBCWBGKGSh2Nrc8BRBoQPLHfpFHRdUG8c4j+vIh/y4D0oFXJfUiUAi4V3f0vnU6u5BCP6PpcSHAQD8Ar4V9UTwO+hT0C5WLXo4268mEgl1WbaCgCAgCAQSgUAJwP+44QeOi/DbLbA/oH9veuuN+2zvefm5W3IEU7yBUp+Be+wSLDuYFwyGeOvKp406HNgykxbNvZt++/OvZAWEYhll0Ni6Y45Rln78zvNPt6sKlXufXhgY8D//5pvUuODBnOdvXP4EvTbj33TDb7+ZpUfdN2hgX9v8qs7PPnyjbaCjcu4rdA/qjTyqboW23bp2oS619t4DuBfM3gk+uT6CDtCjcLTbOmGLujulQu0E153u1c+jPR8zbQL94Jufzip40D54HXetfz7bZn7y3c9mBYlEIj9DhPJ2b3ghp+2pcvPRi3n1m1Y86XgvygCzDkZNpwP7oAXM26+u/d9sffm3jHtxDu0feZAX9+DeUhLe6Y+/81la+tq91Nw026grykd/gb7J6Rsv5VmF8g7o35sWzrnLqAPo5Klh/gMFlUSFnlWNfhIY8brqx8AxX70Qf+ED7z0vq5TR3wXeA6xXUFiod4zgX2h7evn6vt2z8B3pefg+rvP6FXoO+gO0IX5fpVio8rDk2cevfDf99z+/pNWWEKPjgvrjGOdxHfmQX93r5RYYAAvUySnhfQHPYupVSb9TqHy0IfQX6DfQf6B98TrjHK4hD/LinkLlFqqzXZtEmeXeh3uREolENiDk3//0PUK9FS3gd8AHoV3AAoy8hZ6Fdot8kgQBQUAQ8AuBQAnAfoEQ2udKxctGAGsYNq5a53j/xRedSSOHD3K8LhcEAUFAEBAEBAFBQBAQBAQBQSB8CIgAHL53JjVuR6DczfYdu+iPf73T8fZEIkEXnXcqJRL5rZaOBcgFQUAQEAQEAUFAEBAEBAFBQBAIJAIiAAfytUil3EBg1px5dOe9T9LGTVs7ogCvaFxLV37qu/T8i686PgIRUhEp2jFDMC5ILQQBQUAQEAQEAUFAEBAEBAFBoEQERAAuETDJHh4Edu7cQ1dcdQ0NOOIdVNPjOErUH0ujpryL7n94el4iEOQDQT/yZpKLPiMgjxcEBAFBQBAQBAQBQUAQEARKR0AE4NIxkztCgkCvXhmq635YSbXF8idY3qOkmySzIOA1AvI8QUAQEAQEAUFAEBAEBIGyEBABuCzY5KYwIDB4YD/q26dn0VXt2SNDv//l18mvCKdFV1QyCgIxR0DIFwQEAUFAEBAEBAFBoFwERAAuFzm5L/AIYNmbdDpZVD2POHxodgkQzP8t6gbJJAgIAoKAPwjIUwUBQUAQEAQEAUGgAgREAK4APLk12AhgLcirPnhRdu1irEcKgVivca+e9XTu2SfR/bf/Krsu6hmnHq1fln1BQBAQBASBwCEgFRIEBAFBQBAQBCpDQATgyvCTuwOMQPfu3eirX7ySZj59M61c8BAd2DKTWnfM6UhbVz5Nj977O3rn+acTF44DTJZUTRAQBAQBQSCuCAjdgoAgIAgIAhUjIAJwxRBKAYKAICAICAKCgCAgCAgC1UZAyhcEBAFBwA0ERAB2A0UpQxAQBAQBQUAQEAQEAUFAEKgeAlKyICAIuISACMAuASnFCAKCgCAgCAgCgoAgIAgIAoJANRCQMgUB9xAQAdg9LKUkQUAQEAQEAUFAEBAEBAFBQBAQBNxFQEpzFQERgF2FUwoTBAQBQUAQEAQEAUFAEBAEBAFBQBBwCwG3yxEB2G1EpTxBQBAQBAQBQUAQEAQEAUFAEBAEBIFAIhAyATiQGEqlBAFBQBAQBAQBQUAQEAQEAUFAEBAEQoCACMAheEkdVZQdQUAQEAQEAUFAEBAEBAFBQBAQBASBshEQAbhs6ORGrxGQ5wkCgoAgIAgIAoKAICAICAKCgCBQCQIiAFeCntwrCHiHgDxJEBAEBAFBQBAQBAQBQUAQEAQqREAE4AoBlNsFAUHACwTkGYKAICAICAKCgCAgCAgCgkDlCIgAXDmGUoIgIAgIAtVFQEoXBAQBQUAQEAQEAUFAEHAFARGAXYFRChEEBAFBQBCoFgJSriAgCAgCgoAgIAgIAm4hIAKwW0hKOYKAICAICAKCgPsISImCgCAgCAgCgoAg4CICIgC7CKYUJQgIAoKAICAICAJuIiBlCQKCgCAgCAgC7iIgArC7eEppgoAgIAgIAoKAICAIuIOAlCIICAKCgCDgOgIiALsOqRQoCAgCgoAgIAgIAoKAIFApAnK/ICAICALVQEAE4GqgKmUKAoKAICAICAKCgCAgCAgC5SMgdwoCgkCVEBABuErASrGCgCAgCAgCgoAgIAgIAoKAIFAOAnKPIFA9BEQArh62UrIgIAgIAoKAICAICAKCgCAgCAgCpSEguauKgAjAVYVXChcEBAFBQBAQBAQBQUAQEAQEAUFAECgWgWrnEwG42ghL+YKAICAICAKCgCAgCAgCgoAgIAgIAoFAIOACcCAwkkoIAoKAICAICAKCgCAgCAgCgoAgIAhEAAERgIP8EqVugoAgIAgIAoKAICAICAKCgCAgCAgCriEgArBrUJZW0MGDh+iu/z5Fx51xJSXqj82m9MDT6PNf+Tlt3tJkW1hzcwvdcc8TNP6Y92Tz474h486n391wO+3du5/4v9bWVpo+4xU66eyPduTvNews+vp3r6cdO3fz7FRq/pwCXD4hxQkCgoAgIAgIAoKAICAICAKCgCDgJgIiALuJZpFl7dt3gD7w8W/Re6/8OjWuWkdXvv9CuvzSc6iltYX+cOMddOYFn6KNm7YapUFg/syXr6UrrrqGtm7b0XHPtqYddPVXr6NPf/EnhhAMYfa6395KZ5z/KXp93pJs+XhO165d6Oe/uYXOu+QLtGXr9o5nlJq/40bZqRYCUq4gIAgIAoKAICAICAKCgCAgCLiMgAjALgNaTHGHmg9Rs2XN/fdNP6F1Sx+jf9zwA7r95mtpwct30qiRQ2j+wuX0xDOzjKLuvu9p+svN99JZpx9Li+be3XHPwjl30ZgjhtOttz1M9z30XMc9M19+k77z4z9lr73x0m3Z8vGcpa/dS2efeTy9NPuNrOVY3VBqfnWfbAWB6iAgpQoCgoAgIAgIAoKAICAICALuIyACsPuYFiwxnUrSPf+6jt5/2blUW9v5CkYOH0ynnjQte//qNRuzW/zAYnzrbQ9RIpGgr33pSurdqx6ns2nEsEH0vWs+md2/674n6dCh5uz+f+58jA4cOEhXf+Z9NHrUsOw5/PSoT9P3r/kUdelSSw89+gLBgozzpebHPZIEAUGgSghIsYKAICAICAKCgCAgCAgCVUGgU/qqSvFSaCkIQHjdvWdv9pahQ/pnt/hZu34TvfL6Ijp8xGA6aup4nDLS5AlHUCadpIWLG6hp+86sUPvS7Dez505rF6j1G2AxHj50IC1vWE3rN2wpOb9eluwLAoKAIOA2AlKeICAICAKCgCAgCAgC1UKgploFS7mlIYA5uHff9xTd+8CzNH7sSDrjlGM6CoCVdseO3TRs6ABKpbpBi4xUAAAQAElEQVR3nFc7/fv1pl4962nrtu3Z4FawGGMOMc7hmsqntigDZSEQFuYBl5pflSNbQUAQEAQEAdcRkAIFAUFAEBAEBAFBoIoIiABcRXALFX3bXY/Tp67+CX38cz+kCcdeRu//2Lfo+GMm0X23/YoMC/C6TbRn7z7q0qVL1g2al4vAVmnLAgwheVvTDoLFGJGk4eZcU5P7irvUdqFUsi7rLl1Ofv58ORYEBAFBQBAQBNxBQEoRBAQBQUAQEASqi0CudFTd50npGgJPPjsrG9jqplvvp8VLG7PLEEEgfe2NxdkgWVrW7O6QQf2ygmv2QPvp3r0b9evbUzvTtgsrL6y9bUedv8jft0/l+TtLzL83e+58kiQYSBuQNiBtQNqAtIECbUDGS+EXpA1IG4h4G8gvNXhzVQRgb3C2fcpff/8dat0xJ5s2NzxF137/87S8YU12qaNf/u6fWYFYv3GNZQlWc4T181giaffuffqp7P6q1RvI7rw+1zibsf2n1Pztt8lGEBAEBAFBQBAQBASBihGQAgQBQUAQ8AKBGi8eIs8ojECf3j3oG/97Fd30x+9mM1//59uoYeW67D7m8sKd+dChQzlCMTJ0zOHtVU8D+vXJzgeur09lXZxbWlqQxUj79u+nzVuaqK7uMBo4oG/J+Y3CijiAW7ekSVn3dsFBcJA2IG1A2oC0AWkD0gZs2oDwCcdIu4hDuyhCdKh6FhGAqw5xaQ8489Rjacjg/rRt245sUCvcDeG4PpMiJwstAl7BdXqQJczC5Rl5e/fqkY3ujGsoQ0+wCqMsLImkyi4lv16W7AsCgoAgIAgIAoKAICAICAKVISB3CwLeISACsHdYF/UkLGO0e/deqq2toS61tYR/Awf0oVEjh9LK1etp6VsrccpIz7/0Gu3ctYdOOG4y9eyRyaYJ40Zmz81b+JaRFwevvrGIVjSupSMnjyUIzT2te0rJjzIkCQKCgCAgCAgCgoAgIAgIAoKACwhIEZ4iUOPp0+RhWQQeeeJFuuQDX8kKodkT7T979+6n3/zx3wQh+IxTj6Gxo0dkr8AF+sLzTs26NH//2htp+45d2fP4WbZ8FV3/p9uoW7eu9MHLz8tGiYa79GXvfjsu0w+u/Qs1rmpzpcaJrZZl+ee/uSXrSn3VB9+ZdYMuNT/KkSQICAKCgCAgCAgCgoAgIAgIAoJApQh4fb8IwF4jbj2vZ480Pfz4DBo15V00/pj3ZJdBuuKqa2jw2PPob7fcR4je/KNvfyYrnFrZs39f/twH6Owzj6ennp1NY6ZdQh/59Pfo4vf/P5p43HuzVmHkP/G4Kdm8+HnPu99Gn7zqkuy1Ccdelg2shWccMfXd9Mz0OdlryIO8SNgvJT/ukSQICAKCgCAgCAgCgoAgIAgIAoJAmBAImAAcJujKr+tJx0+lN166jT79sUtpW9NOwjJId9zzBCWT3elrX7qS5s26g6ZNHWs8APN17/nXddnriPp8y38eovseeo6OmTaBnnvkRvrqFz+ctf6qm7p27UK//dlX6PrrvpoNcoXykQb0702333wt/enX1xDylJtf3SdbQUAQEAQEAUFAEBAEBAFBQBAQBMKCgAjAPr2pcWNG0J9/803a8Nbj2WWQsBzSmsWP0M9+eDUhiJVdtXAe17eteqbjnpee+judfsrRhvCr7kWU5y98+gpaY5WL8pEWzb2bLr/0HMIcY5VPbUvNr+6TrSAgCAgCgoAgIAgIAoKAICAICAJhQEAE4DC8pZjUUcgUBAQBQUAQEAQEAUFAEBAEBAFBoJoIiABcTXSlbEGgeAQkpyAgCAgCgoAgIAgIAoKAICAIVBkBEYCrDLAULwgIAsUgIHkEAUFAEBAEBAFBQBAQBASB6iMgAnD1MZYnCAKCgCCQHwG5KggIAoKAICAICAKCgCDgCQIiAHsCszxEEBAEBAFBwAkBOS8ICAKCgCAgCAgCgoBXCIgA7BXS8hxBQBAQBAQBQSAXATkjCAgCgoAgIAgIAh4iIAKwh2DLowQBQUAQEAQEAUFAR0D2BQFBQBAQBAQBbxEQAdhbvOVpgoAgIAgIAoKAICAItCEgv4KAICAICAKeIyACsOeQywMFAUFAEBAEBAFBQBAQBAQBQUAQEAT8QEAEYD9Ql2cKAoKAICAICAKCgCAgCMQZAaFdEBAEfEJABGCfgJfHCgKCgCAgCAgCgoAgIAgIAvFEQKgWBPxDQARg/7CXJwsCgoAgIAgIAoKAICAICAKCQNwQEHp9RUAEYF/hl4cLAoKAICAICAKCgCAgCAgCgoAgEB8E/KZUBGC/34A8XxAQBAQBQUAQEAQEAUFAEBAEBAFBwBMEfBaAPaFRHiIICAKCgCAgCAgCgoAgIAgIAoKAICAIkAjAfjYCebYgIAgIAoKAICAICAKCgCAgCAgCgoBnCIgA7BnU8iCOgBwLAoKAICAICAKCgCAgCAgCgoAg4CUCIgB7ibY8SxDoRED2BAFBQBAQBAQBQUAQEAQEAUHAYwREAPYYcHmcICAIAAFJgoAgIAgIAoKAICAICAKCgPcIiADsPebyREFAEIgQAvNXtZROjdwhCAgCgoAgIAgIAoKAIOALAiIA+wK7PFQQEASigsD8lSIAl/ouJb8gIAgIAoKAICAICAJ+ISACsF/Iy3MFAUEgEgiIBTgSr9FLIuRZgoAgIAgIAoKAIOAjAiIA+wi+PFoQEATCj8Cbja3hJ0IoEAQ8Q0AeJAgIAoKAICAI+IuACMD+4i9PFwQEgRAjsKGplXbubaVDzSEmQqouCAgC3iEgTxIEBAFBQBDwHQERgH1/BVIBQUAQCCsCq7e0WX93WEJwWGmQegsCgoAg4BUC8hxBIO4I7NoXdwSCQb8IwMF4D1ILQSB0CLRast/G7dZP6GruXoVXbmqjf8ce98qUkgQBQUAQEAQiiYAQJQjQvEYJnBmEZiACcBDegtRBEAghAg0bW2n77jYBMITVd6XKKze3DWQ79sQbB1fAlEIEAUFAEBAEIoyAkAYE3hABGDD4nkQA9v0VSAUEgXAisGJjC22PueVTXKDD2Xal1oKAICAICAKCgKcIWA9DvJAFq9sU59ah/PmIgAjAPoIvjxYEwoxA1gIcc8vnys1tll9xgQ5zS5a6CwKCgCAgCAgC1UdglcUzxNVzrvrolvYEEYBLw0tyCwKCQDsCDVkLcJsA2H4qVps9+4m27myjH5GgY0W8ECsICAKCgCAgCAgCJSGwanML7dhb0i2SuUoIeCwAV4kKKVYQEAQ8R2D5htZYu0CvtAYyBboMaAoJ2QoCgoAg0InAW+vblISdZ2RPEIgvAis2tmaXTkQQ0fiiEAzKRQD28j3IswSBiCCw7wDRhiZLAI5xEKxVmzsZOwmCFZGGLWQIAoKAqwi83tDsanlSWHgROHAovHV3q+ZYOQLCr3iNuYVo+eWIAFw+dnJniQhI9uggsGJjWxCHOAfBMgTgvZ3CcHTeslAiCAgCgkBlCLy6om2sqKwUuTsKCCxYJW1BeKfgtGQRgIPzLqQm0UYgUtQ1bGwT+LbHOAjWSsMCHKnXK8QIAoKAIFAxArB0vSYCcMU4RqWAZetbCLEzokJPqXS0WPL/mq1tvJN4jZWKnvv5RQB2H1MpURCIPAKdWsy2zrwwwdHLscqYAxxfHKL3ZoUiQUAQcAMBLBOH6TJIbpQnZYQbASjO4yz4QWkOIRhvUeKGAAV/kwjA/uIvTxcEQonAig1tAl9cXaAxiIG5Uy+v4DJIKqNsBQFBQBCICQINHVNl2saLmJAtZDog0LixlZpi7DXWuMkyAbdjE2fvuXYIfN+IAOz7K5AKCALhQ6DBGshQ67iuZ7e+qZUgBAMDpKYYBwMD/YWSXBcEBIH4IdC4qU3wFWY/fu/ejuIGSwCMs7IYAbAULhIESyHh31YEYP+wlycLAqFEYNdeS4urCXxxdGnSBzL1EnfvU3uyFQQMBORAEIglAivaFaXbdsWSfCFaQwCrRsAVPs7KYmU4ACzbd+NXkp8IiADsJ/rybEEghAgsY+s6xtENeqU2/1e9wh2WYkDty1YQEAQUArKNKwKN7S7QcRZ64vruOd1K+IuzN0CjZQFXuAi/oJDwbysCsH/Yy5MFgVAioAYyVfk4WoD1+b8KB1jG1X4ct+LSFce3LjQXRCDGGRrbXaCF2Y9xI2gnvbFd+IujwrwdAmps/x5wHGdXcNAfhCQCcBDegtRBEAgRAg3tWn1V5TgGtVipLYGkcIjzwH7gENHiNW3z/RQeshUEBIH4ItDQ7v4MBJrE3RMwxDqp9hBHhTlePJ82JUohoOJvEgHYX/zl6SFFQHXmIa1+RdVW87pUIXHUZOqaXIVDnC2gKy3t/jZtXrjCRLaCgCAQTwQarT5BUR5jF2gFQey3imeKa1vQvwc0hji7goP+ICQRgIPwFqQOoULgoGXtWrauM5x9qCrvQmWXbzBpj9uAhsjXdu7OcbYAN24yA6O50MykCEFAEAgxAkrgAQlxGyNAsyQg0JlWtHuOxdUbQP8egEqc+QXQH4QkAnAQ3oLUIVQIYP5nHN1+8ZJUJEfsqxQ3C7Cd+zOwiLNLEwRgifSKViBJEBAEgMAKzQV6m7hAA5LYprVbW+lQcxv5sbJ8tpGc/cUYmd1p/4EreKvMGmpHw5+NCMD+4C5PDTECa7e2UFNMl3XQmRr1CuOmDIACRNGubzGg6cdx2m/cZH0T4gIdp1cutAoCeRFQEaCRCV4z2EqKJwK69TO+ArDpOQfhd/e+aEvAQW/tIgAH/Q1J/QKHwLptrRTXTryh3Y1JfylxE/xW2QTAAh479+I3nmnlpvh+E/F840K1IJAfAV1RGNfxMj9C8bkKBamidvc+tRevbYPmEaEo3xFjnkFh4Oe2ygKwn6TJswWB6iCAgX3rrnhq7lZsyKU7bnNZVm42NbmqlcWVyYNrG74JcYFWLUG2gkC8EVi+3hwn9h8k2nsg3pjEmXruObZ1p9k+oo4NFMR2NMaVZ7DDwo9zIgBXE3UpO5IIrM1agCNJWkGiGjblCn9iAW6DbVdMNdsr2y3icXOFb3vr8isICAIcAbtxQtygOUrxOdYtwKBalOZAgSjOXmNtCPj7KwKwv/hH+ulRJW7NllbaFkMLMOas2FmA4xThExHA1261117HCQf921Zz/eL4Teg4yL4gIAi0IWDn7hnX/rENkfj+gm/gFtC4tQW77wEtIm44gOYgJRGAg/Q2pC6hQGDj9lYqouMKBS2lVBJzXzGY8Xvi5Nq2xkH4BSY799oLxrgW5dS4qY1uuELv2R9lSoU2QUAQKAaBRhtPoaY9xdwpeaKGAKbHYGzQ6YrbigmN7WOkjgH248ozgPYgJBGAg/AWpA6hQUBpMg8cIoobs8/X/9Vf2qYdbUJQ57lo7q10mP8LatEe7BQEuBbl1KAN7mIFjvKbFtpKQQBM/5K1uVNGSikjrHnj7ikU1vdWjXqvsAmcGbe1gBttFELAOm6uig8E4gAAEABJREFU4KA5SEkE4CC9DalL4BHQ3V/jZgV2cuPBS4vLWsCwgoNep9TRJpwyRPD8Sm1w3yZLIUXwDQtJ5SCwbH0Lbd5Rzp3hvgeCP1ZK4FTEsW/kGMTxuNEm+nGc2kKLpQNz4hskCJa/X4QIwP7iL08PGQJrtlq9WXud48bs22ly26GIzbJQTgOZwiFuyxpgcF+juYUrxkbhIVtBIK4ILFnTSnEbI/CuV2zoHCNxrNL23WpPtnFCQPcQUnTHKXAmxkcohRTt+jYuhgOd5iDtiwAcpLchdQk8ArpmO24DeqPm6spfVFwGNMxn4rTrx3Gb07NycytBCFYYxM21TdHNtnIoCNDitS2xjBXhNE6ItSueH4XuIaQQiJOieGWeaVNx4xfU+w/KVgTgoLwJqUcoENAFoDhp96HBRPRrp5cUF8GHD+bD+yYMSOKm0W1g87vEAmw0h5geCNlAYPGaFtq6Mx6xEUCvSitsXF5xLU7jJeiVRISYGHYKkTjFimhw+B7QPkQpBBT8SyIA+4e9PDmECJgW4PgwN05ubeoVxiGq4xaLmdUjXtd1I+pbzwTgmEWCXmlZgFUbwFYEYKAgKdYIWMTvO0AExj+OkY8btZgAFhQdfxLwpwOK2Ow0bmrNCsGc4DjwC4rmlRYGap9v42QJV7T//N6D9LkbD9BvHzyoTvm2FQHYN+jlwWFEIK5BsJy0+uodxkGTyef/9uuRoKQlBCsMsI2LKzhoReKDe1w8AUC7JEHACQEV/TlOli6FhZPFa7sEyFMQxWbb6KQMidF88AYHDNAI4ughsmB1C6F/fHBOMyDwNYkA7Cv88vAwIaALv6j3thh14lwA7scsn3GYD82tncCg7jDTArxzL1pGfBJncMQCHJ93L5Q6I4D5v7gat+8BHjIbmuw9o2KCBV67pHYEnJQhW3fZt5H22yK1Wc28pDhxWD6Rn4vqMWjNN5XOa7pFAPYacXleaBFAND+98nEa0LkL9OEDTMEvHhZgM7pp30yC4Aatt4k4uXaBbs7gxOmbAP2SBAE7BBavaWPw48ToAweuEMM5lQ4cIgIDrI5lG0UETJq44ly/umtv2zein4vaPowmaPeKrkwdUa+0yTvFyWvsrfUmD6Vw8WsrArBfyMtzQ4cA11zFyb2NCzoj+5udeBwEYO7u27eeKHmY2YzjYAlXFDfazG3auktdla0gEF8EFq1pY/R27yNCAMG4IMHHCU63KMg4ItE+bmBBEnVqIzk/XifQ2m9gAbD620ybatoTfUWABUX2T3nGZA8C8CMCcABeglQhHAis3drG1KjaxmW+IzS1CACl6MaWRz+OQ4ATPge4bz3mAJuKgDhZgBtt5jZhWQdE/kQbkSQIxBEBzHXV3YB53xllTBoZw89pFQGYIxLdYyh+uNFApxbfiX4cxX0+RvYHz8CU5lFaOaLQO1y2LljCvgjAhd6YXBcE2hHQI0DjVBysnqCTuzEN7pWgHklT8It6MIf9B4k27TA7b7hAcwswBEBgFofELeKKZlnuRCEh2zgisIQxeXES+jjDz99/nJh9Tnvcjp3GB4VDHCIgNzIvKViAUzlxQ0y+QuETxe3SdaYRyW8aXRaA/SZHni8IVA8BPgcYT4qDG/SKDWYH3b9nm/DbrQsQ6Ey79nXuR21v1Waz48ZABhq5AByHQR10I/HBHeeQ4uQGDnolCQI6Aovb3Z/VuW0xmhbAlaXD+raNFR1YSCRoBUXktyvyuD+D+DgohvgYmV05IqYWYBgRCilF0C68TCIAu4m2lBVpBFbZRPOLg+svD+M/oF0ATjJNZpSDOazaYioBEAEajT1TZzJ4UbeEg2aVVtq4QOOaWICBgqS4IpAjAMdE6EOAq83MSyZ3qozZj8a1jcSBbi78cZqjzC8oWvkYCcV5Dt8Ug2BgwGMZC4A1qJfJOyGP10kEYK8Rj/Dzokza+m32A3cconwu5xbgHm0dV5JpMqOs0V3JXJn6ZDpbe9fazn3sgRHENsqpxTKINzBMFL1x8IpQtMpWEOAILGyPAK3Ox2GMAK3c4jfQUpSmu7eNFbiOFCdrOOiNc+LtAVOndDyiHgRr7dZW0iNAp7tTdtUIvnJElPkm/X0vWWvy0DyQqp7Xq30RgL1CWp4TagTs3J9BkNZ54TCSiYeuH9CjjcwUE4CjPL9rJbP+IwBWGwqIBG0yeXGYB4zvAUKwwkDfxuGb0OmVfUFAIYDgVzy4T1wUQjwAFqxdfIyQvkG1lOhveXvgAg//TqKGCI8ADfdn0MgNB1Hmm0CvSsvY/N+R/f0XP/2vgUJHtoJAgBGANs+uelEf0Ddtb6V9Bzopx7xfFQArabhAE0U5KNgqNgdYuUADGa7RjYNrV6OD+zPw2LYbv5IEgfghYLfMR1ysng1szmdWAGYW4CiPEfFr7fkp5kFDcwTgiC//w8dIfA9AjPNNcVk5ggfAOpwtpQlsvE4iAHuNuDwvlAisdXCBjvpSSCvYshb6vA249OgvM8odOV/OQQ1moD8JSzh22lMcAmFxl/B20rObOCgAsoTKjyDAEOBufrgclznxjWxKxICeRHyMiPp4ifftlOLiCQD6l6xtwaYjwWOqnq0cEfX4KTnfg8PUsSjzTaoBwBWcB1M9XCzACh7ZCgLBRmDNFrNDV7WN+qC2wkarr2iv62a6/kaVuYEmGx24ohtMHSzh6jjJLOFxEAD5/F+FBbZxmfMIWiUJAjoCi1bnjhNRHyMU/SuYsrR/fYKSTDkYdY8phYXd9vkFuW3DLl8UzjXYtYVuJmVRbwtcAFZeY/ybiMOqCctZAKxe6dy+wWwd3hyJBdgbnOUpIUcAQpAdCVF36eLzeBDYROGQ6q722rZRFfxW8wjQ7ZrcNqoxB1jttW137m3bRvm3MY8LdBwGdPZuOw6j+g10ECg7eRHgli9kjqpiELSptGtvK3FBv3cmQSnmAr1lpxkIR90f9S3mhvMouFGmmQvA8AbgbSHqvNNKNkYqr7F6tnJEHL6JZevN735Ib9N44te3IAKwX8jLc0OFAIL+2FU46vO7nCJAAwuuyYyqRpcPZH0txg70q1THNNtRH9gR/Golc3dUWGAbF5dP0MrT3OXxsfJ00p6798LC5tyTET+Db2KvFi9BkbtrXysdijgc3PqrIv4iQr7uLQNMdu3Db7zSvJUtFAdBR73VBuY5Busn2kGtJnEgtkhUvwvEjNG9xlKWsUDnl4CFwgpbu34D56OSuGJQn0rnJ41ac/SzGvJsQSC4CGza0UoHD9nXrynigRx48CfDAsxcf6M6pyfHAlxvai+TDIedFsNr31qicRbeEDrjclhXk66oKkJMKu2P5r4lAjCQeeDliEt8IFKl9q1dAKz2SxT1aQENzOV1QM/OPjLFrMBx9JKYv6rFspCr1hD9bSNTkKr2kGZtIarKUijD9LesrL/qHOcZov5NLFsnFmD17mUrCIQKgTXMBVav/GZLONaPo7S/anOrsY5dpo6ou2btTLL5XVG1fPLBHAE99Pec1DDB+ai7APMloYb16WR2Qf/+g2REDse5uKRZS0QAxjJgr65ooSj3jXbtedEa53cfZQEYWDRwi582TYQvhcRdpXF/1FOcLMCw7G7c3inwJKzhARZgvGPOM0RVWdrA3Z+50pzxDFEWgKEsX8H6hyGMZ0Db8COJBdgP1OWZoUIA7ixOFcbHHVX3Fd5pcS1milk+oyoAQxGgv/9+9foRUR3DAQKAmSNaR418cLeYXbU0lqI06gy/olPfgmYwdFH9DnRa8+0/N7+FWi3+F3jkyxe1a0vWWEQ7ENW0y+FCRE43MIufPlakmKIU30hEyAYZBdOe/USIgAtrJ76LgjeEPMPyDaYiqJ8l/EEIBlm8LURVWdyY53sADnXsm4iq9xxoXWG1B/DJ2EcCr9CdeY3hvB9JBGA/UJdnhgqBfAIwCInqgN7A3Np092fQjU7cUu5iN5t276Ms45s9iMgPlBv6++1i9Zg9UzrVRNwCHPVlkHi76GcJwOnu5gvXMTOvRPdI4bJlR3RpLIay6Qva3J+37iwmdzTygMFbxiKd6pRB+NGPo7a/YoMp/A/o0Ukhd4Fu2tN5LQ57sP6CTgi/0WsHoMxM+YQ/3haiqizkwUN1hRDQSjGleZSXQlrK3J8HByQAFt6Dxc5hI0kQEAScEHAKgKXyR5XZ50wN78QhBkIIVjhgGzX3thWW9hJ0qcTdn3Geu3VF2Z0J9OYwOJaGP5UjACNnvFJDu5vX5phGusXbhvfD6w1tFqAtu0yhCNejmmD1ghDsRF/U+kWdTtCG967OIcCPriRMMWtXVMdLRT/fYv6vOrc1Bn1DPs8xPlaGXgBWL5ZtOQZQEutZON+0I8JKoaXr2sYDRb8IwAoJ2QoCIUAAQX/0auZ24vrV6Ow3MldXbgEGpWkW1CJq1k8eAIsrAYBBkmlzd1qWcJyPalq12RzQgAlvB1FlbPK904Z2j4k4RXvleLywsIUQJRznIRhhG4e0ZG1+YT/KQh+PCYD+QH/nabbsS9z6hgWrOvvLbbt1ZKK5zwNADejZSWfuONF5LSp7WPJKV4YlLQUQVwKlOM+wN3//EVRsiqnXsoAugYS6iwUYKEgSBPIg8BZzbRve1/xsosjooQNftdnslAdokT0VXHwJoKgxenww75NRlHduERgM1nB1Bmtiwt1NHUdpC2UQglwpmtKW5Rf0cwtwFL8JRbPTdkW7AIyo8U55on7+2Xlt7s+gM06KgMUsAJZaBgg4IG2N8BzgFcz9mQvAfIpIHNZFxjtHarZkX10AjkNgONUPgn4kzAHGFim3LZg8BvKEPXH6+fcA+nJwiOhqIuCDlnELcC+dWwIa/iWTky+5HnKDIBBtBHggFyz50o8FQYqa0Ic3uqLdnRP7SL3TCdLX8KP2f1yTGTXt/qotFgfTTis2di7Q6M4hBOK6SlHDQdHlNLeJt4MofhMKA6dtQ/s3Ewcm1w4DuMG+1u7+jOu878S5qCa+BNK4IegVOqmN8txP7inEGf4U8xKKU9+wdG2LsZJC1L8J9AG6mzd4hr6Zzm8B1tDOr4IoisGfCn0PoJ/jEFUX6BWWUhjGFNCMlKlLUMpSmmM/CEkE4EregtwbeQTWbTU1lOjMU2xAjyJzwwUdO/dnvPwU68yi1pFzF+h+9Z2DOehXKcXaxM696kq0tiuZ+/OAHm14wBKsUxq3QDdY9gPLfwCDqDO5oNEu6e7PuB5lqyfoUwkeEdwKOm6IyVpFWehrsJhchQW23FOI9w1RVQ6Cdp70+b+4FnXPmEab6McqAjTo5+NkFONlcK8xNUaCfpU4DlAcqGtR2nLr7xA9AFYb6+AruWYv7WtV5OFhQyAO9eUBsHpb2szUYSblUVziYnmOW5tJszrimswoMTeYy5gjALcLfIp+teWu4FHCQdGILWd2lUWcD+hRZ/SAhZ707yWuLtDPze90fwY2cXGBXmJZ+UCvSrCA9mKR4qMcEXsZmyLUn83aeBkAABAASURBVHlI8TEiiuOlevd8O2+lqUDfEvHI6FwRxBXGOW1ht4kPxy+Mx3yM5BiAJs4vRHVaAO8bB/UC9e0pAK9eBOD2dyEbQcAOAS4A9U4TtTP7HdmjaAFuaHfnVET2t5n/i2tJFswhSpYOKD8gBINOJKxfh2WQsM8Tn9MTNUu4otdOw49rOUqhCDI2oNMp6d9LHJdBggXj1RXmdIG4KEH4/N8hfRKEKK+6gWPXvlbSXQGd2lHYzkPJoTwfUHdEgK5P6pQTpZl3TBTHS9Bul95oNL+JqHuHNLDAmVAG6bikGL8QRRfo5WzlCI4B8EgyI0pUl0FaFuAlkPAeRAAGCpIEAQcE+BrAfdIJa0A3M0dJ6FOUYe6G2sc2140HZ4lyOvIIhfPn7r79mGWjDYG23zo2sEd1QOODu3J3TDNX+DhEO217822/DZobKKz/CH7TdiUev9z9GVRD4AMW2I9yWswiQA/tnaCERXC6zvrR/qKoENDbPUi1myqDeaCInYHrSAiMA4UJ9qOcwDtwF18oDKJMM5861b+HSW3dYZT9Nqj9H9oB2kP7Yeg3PAI0LL0pNjaCyCTjF6LYN+C9cu+QIC2BhPcgAjBQkCQIOCCAqLf6pT6ZhCUAg73pPBs1LeaufUQ8kE9/B9ffXI1uAPxaOl9NRXurWRRsYy0/VnLqMPMEBnbzTPiP+OCOgR0DPChDcAtsVdoeOwuw2e7596Nwiep2+gLT/VnRuS3C0Y8VjXYWYFzLxMDy2cgtfg6eQinG8EfVQwbvXaV5K03rL85HUdABXSoVUoiAc0pqAiGEJK4kUGWFcdvI5kArBTGnpWstEZI6D2XhgUPqKBpbrCKC+AiKGvAL9XVoAe1ntN32M55vajx/ojxQEAgRAqtY0B/MAc5EXLPfwNyf7bT66hWmmOAXJWXASi4AOwTAAhZ13czePIoMnj64g+Z+DI+6bjjbmeIkBPN+Ik4CMJb9mrMsl9lHS4i6xQvMO1eSqkAvYPiAgUpRVAY0aJ4PoNNJUZrrIWIqjHBv1JKdAAwhZ7elYI4araAH/b3u8QEBr1faHBeRL8WUIVEKmNjIFUIOhgPgwK3AOna4Hva0lC1/pPrFDroC0AWIANzxNmRHEDARQIe+90DnOcz/VAM5X/YmSm7QPJCFE1MDZJI5AnAAejVUzIXEBWBY/52K5ThE0QW60OCezrF4OaEV+vMGAassRQkYW/1knAJhvbDIXvgFHlEXgHPcn/t0Mvz8e4ji/E8uADtPlenEBe0iSuMl6LFLPAK0yhPVb4JPm3LymOJjJfgshU3Yt/x76M+UxDp9XGEcNaX5EjY1ZHAvsw/QsfBrXwRgv5CX5wYeAQRB0iupIt7iXJprMXfjbDRSA7MAO7nxgNpkDg7REYAbGQ798s0BZtbPqA1meNcN3NrDBndu8YoDkwtcVrB2gnObd0bnOwA9ZjKPprPoz/rVKAp9On057s+9O5m8tObqiXui+D3wtu+kLM3tG4BIdNOe/UR8ORxFbVS/iZzxwcH6mWsBjk5f2chcoJ2UAGgLyQgbD0AftwAP0vpGXA9CEgE4CG9B6hBIBBDEQq+YbgHMHdCj04mvYIKOk1Yf2CDqJ4KcYB8Jc1kw+GM/zAlztXTrP+jM6PNXGHFJpgiIogWYM3R8cOeMTVyivTay7wVNIy6RoPGtz13ubAGOJLOPF9yeFrMlkIZqFuAU94jYFZ0xAuRv3N5KegRoWLS40I98SCnG7EdRGQA6VXqjwfmbiKoFuJG5/zrxDUnWFqKkLF7JMHBSCKGdpDjPsCda/cMS1jfmuEADBJ+TCMA+vwB5fHAR4HO7+mQ665pmzE2UBnQuAA/U127rhKBjj2MRhQBQfPmrfAMZgOCDehQwAF16Wsnmw3MGh0e93R4hrwgdB77fwLT+uL4lYsIOaLJLLyxsJn2pMJ4nivNedRoXrzGZViyBpK5nWKyIqKz1qehrZO0+n6cQHyMwd1qVE8Wtk/szaI2qYrDY9pBmnhFRmfu6yVII6UrzfAohtAM9GBiOd+zFbzTSmi2tpAfAAn+EZSSDRp0IwEF7I1KfwCDAhaDeWkCHFOvEo7LsC4L3IKiNegmwfBbquNC5qfzYRmGA54N530ynayNo5AmDnX4uSsHAQBcGd1j7sI+EdsG/Aa7Rjrr1DzggrWDrPuIc8MI26uk55v58+ADzO4mqtQvvFe8YniLYR0LQn37atIA0U5JGTSnC230+JWHuGAHEQpmKqvSbNhGg1Y1R9Q7hLq/9HKYM1THLZ1SMB9xwkO97QFtI5kybMpVpyBPWtIQFwBoUwPm/wFYEYKAgSRCwQYC7QCMCtMqWYm48OiOk8oRxy+fx5NPqK/o4cxMFlyYENlL0YavP/8YxT0k2qEfNwsGtnHYDWpophaLC2PB3rR/D5Z8rynA9DnOAoRCZvdR09TxprMlSRFkJkuP+3NcU/rmCKCpjBNo3ElcS5mP4U0wZEOW+AWuAL1ptfhfAS6VwfxOKCnMLRZfuDg8Fac+U+T2oOzjvFBVlcSnuz8CCKwKiYgkHbUtZAKwguj+jnuZohTOSBAFBIIvA2m2mRq6v5gKdYfNBoyLwNLA5LNzNNQsM+0kz5iYKWKzeYjIw/XswotkhrD9dajtPQjDSXYA6r4RzbxVzf+5vE+AkzQTgKA3oTm9t5eZWwlqW/PrWGATBgvuzTnc/y/o5aoDJUkQZhyWMyRumzf8FLnwd4Kgw+qANaSV3gbbpE5APifcNURgjQJddWrymhSAE213DuSgKwFwZkk9xngqzshgv0CFhLNAvFeKdUsyIsjNCLtBvrTf5p8EBDICFd2WOVjgjSRAQBAjWDX2QxhJIutCbZJ1XVAa1FRtMod9O0OHNg7vyREG7zwf0PgVcoIFJspup8Y4CDqALiXsGQNjBeT0lGWMT9fmfoH2FjfszzmNZpKgrALj78+ThCTqsK5EeFA9z4tCXApOopYXMyseZvDprjEhoRGM8gWJMOxXq3WWMyc0n9CQtLHRit+7Sj6K1z9f/5davqPAK+lvj/WA+voG3hShMmQIW3AWaB4lEHj2FkV/Q659vn3vHBHEJJNS/Bj+SBAFBwESAW7x092fkTDOrZ1QCnPBOPB9TAxyQkgyLsFs6Dh4i2tDUqQiosbjYQi7QWRwYkxelSNBcIWDH4KSYBThKCgC8X7vEFQN6nqjO9QONEGrnvGVq+ScPb2Mn6pPWB4NM7SmKDD9IW8KinOoRoHEdKPBvIirMPgJE6sI86ORxEICBSimmHINyyM5zQuUP85YHwJrU/l0omrbuVHvR2RYzPihqU3yc3KOuhHvbyJbDs1MS6xRyRUBUgmChb9i9r5PS7pZStJcWP6fziv97bSNW0fWQjIJAPBDg83+5BZB34lFh9rkmt5AbD1oDxwLMDc6HNa3a3Cn8ggZ03hCCsZ8vweKjX4/CXGhFD28X/WxcwtOMyY3KN6EwsNs2MKZHzxPlecBwf9ajP6N/VEqRDIt+HEU3aPQRUAKo940+0C5YYIZNlYnKPOBGtvRXoXECXgFghBVeEH6jpCBUdGE7b6U5fowfAlUIrrSlXfvM621nw/2bozjP4w6fYgrzKIwTCIgHbxf1FjEHOsP6QXVNbXME4Igsg8SDoXHPGEV/ELYiAJfyFiRvbBBYs9UcpHqnTdJ5Jx4FzT5C1+tafWj0U8yqZ6LQdsQ78tALwGz+b1+HaJZt1Hf+cpemqCyFhMjgfHCvZ4w9UOjejXLcX/X2hDxRS5zx0+lDYBj9OEr70xc0G+RMHZHoOOZzX6MW/RiE5lh/WQAs5EHi/WdUpgXwWBFK+QGanVKKCT5RXCYNihG4uisMMCUAlkCuHFnP4ouo/GHdckVgfxsFqaINyhDgoo4xRujKJHU+TNsGNh9+YBFRj5NMYay3mzDRzuu6bJ3JOwfV/Rn1FgEYKEgqCoE4ZSpkAYZwiI5cYYIIiOjI1XEYt3wQs4v0a0dXinXkYXeBBhOj09mviPm/yJ/krl0RCWrB3dvyucXzthBlIRDfvO4qjzagJygO9OOo7INZnevg/gwa08zyERWrJ2hTadEa0/17aG97VopPlYmCohQYNDALcP88Fj/kR0qx/jEKlj/Qpad5bPmjw/u3tQtuDYySUgh9IPpChUOb9bNTIabO69tkDs9gCk163jDsN7LgocV8D8BJ5yGhZA47D4l3xZWDYgEGKpIEgRAhwAXg3ulETu1TrBMPO7PPrVmF3NoUIEnG2GzfHe7BjEdz7FuffzB3wiEqGl0e7TXf4J5mHgNRYfjVO9a3DXncn5Evqi7QMxY1k86o6e7PoJtbgKM453HxGrOPG8IiQAMHpJzvYZd5H/KEMTWUIwAzC3BTRFw+9ffHBeDh7Z4BGeYxE6VpAY3M+lmM4jwVNZ6BYdC/aJ7B5C3C7j2Hb4ErBwcFNAI06tqmnsKeJE8ROHjwEN3136fohLM+QrU9j6dE/bHUa9hZ9PXvXk87du62rUtzcwvdcc8TNP6Y92Tz454h486n391wO+3du5/4v9bWVpo+4xU66eyPduTP94xS8/PnRemYu0D30ZZAUnRy5ibsGm3O1JiWPkV17pa7toU9mMNqNge4XxHWDaBSx6JAR2VZg8YStNspJgBH0c0R7xqJu71hKSycVynsCjFFB99y9+cjR5psRD2zAEcxCBZf5oMHwFKYccEnKgqhVWxZtGLGCt43RClGgnrfC1aZngEj+rcJOBn2TUTFFR50NzBFYD4FKfIj8bYQdq+xUpTEoF8lrggIO8+waUcr6QGwYOXuW6QHncLEy605cnn55Bg/a9++A/SBj3+L3nvl12nOqwtp0MC+1KtnPTVt30k//80tdOkHv0rbd5jrBEBg/syXr6UrrrqGtm7bQVe+/0K6/NJzaFvTDrr6q9fRp7/4E0MIhjB73W9vpTPO/xS9Pm9JNi/u6dq1S/YZ513yBdqydXvHWyg1f8eNEdyxdBOkC7MIgGS3qHuSMfvb7PUWoUFoOVvSpZiBDMRxCzDmvlq6F1wKZWpgAl+2Ay+CkmQ3M1MUtLmgqIFptzGnDeftUqp7G8OnrkWF4Vf06NsGZgUbNdCkffMOPXc09uH+PGdZi0HMpGEm3Wlm7YqaImDZuhbCMlcKBATJq2PfvrrGGdwmc1hX2UK1RawInf6M9b71AFdOxHAsouYaD4+f1Vs6LfzgG5RiJM36xSh5h/B+sBjPsSRTFod9rMzlnZy+AvM8D5yp851mznAchcn9GYiKAAwUPE7NLc2USCTor7//Du1Y+xytXvQwbWl8im77+/9RTU0NPfXsbLrtrseNWt1939P0l5vvpbNOP5YWzb2b/nHDD+j2m6+lhXPuojFHDKdbb3uY7nvouY57Zr78Jn3nx3/KXnvjpduyeXHP0tfupbPPPJ5emv1G1nKsbig1v7oviltu8eJLICmaoxT1Fi6N+uANGovR6iMf2F+dAYTwG9YBbeP2VoLsXMd+AAAQAElEQVQCBHQhQYPJBXyct0t8MIMiwC5f2M4tX99Cep375wlwkmaubWEf0HW6+X4Ds3yMHmgOp1FichXtLxZwf0a+DLN2Rc0CvIi5Pw/N4+LHBZ8oYMHbfb7+AO1BJa4ci1rf8GajqRiC8AshGPRnmLI8Cu0AdCFxBWn/IjymuDIkzG0BVk/M3wUWSOAZMpZSCPuFElcEQIlS6J4gX18WogBYwNEcsXFGUtURSCXr6I5//JQ+fuW7Cft4YCKRoPe8+2y65J1n4pBefmV+dosfWIxvve2hrND8tS9dSb171eN0No0YNoi+d80ns/t33fckHYIkYx39587H6MCBg3T1Z95Ho0cNs860/fWoT9P3r/kUdelSSw89+kLWgowrpebHPVFNfP5vHxYBWtGdYoNamDXacOGB4Kpog8UbHbk6LrRNHQYxuDNXWF2aVjH354FFRHNUVCcZBlFw8QOjxgf3HmydV0U/tilm6YjI+tggLSfxOfOHD2DfQMjnwucQbJ14Lk/0Z+ty9i/D2sCWndnTkfnhVg6n+b8gOM3HiAi0CS7wFGPxAxYprhzbg7PRSfPY8kcj+nX2B2mmFAozr8DfGF8irxgBOMn6iLDyC8ACvBO2Kg3s2fne1TmnbZJ9E2GfPhamJZDwTkQABgoBSRBKU5ZwzKuzdv0meuX1RXT4iMF01NTx/DJNnnAEZdJJWri4IetGDbfol2a/mT132knTcvLDYjx86EBa3rCa1m/YkhWCS8mfU2DETvD5v44WYNaJh5nZX8GsWQN6lvZSczrykAY44QGw8rn7coSSzA0yCutc8vU+CzE3Kcbwh1mzz9+vfgzr/tadne6Olv6SEPikB1MOrI/EcidtlNu5P08eXtN2UftNWm1AZwGBVbteVssV3t3FPAK0QwAsUJhmY0QU5n6W2icABySORdT6hnls/u9wTQDmFsGoKIVgLNC/bXiC8TEA754nrgwJq8cY6Mr1iNB7P+RwTpxvCjMOoHIx844JcgRo1Dd39MJZSb4ggEBWGzZuzT77uKMnZbf4gUC7Y8duGjZ0AKVsepf+/XoT5hBv3bY9G0ALFuONm7Zmz+EaytATykBZCLaFecCl5tfLiuI+OnWdrj4Ok/j5qwjzgL6CzWcsVquvcEoy62dYsVjNgrsUGwEaOHAMomABbtzUKeSBxkIBwTiTGyVLB+hXacUGhkt9giAE1ydVjrZtlNygX1rcTDqzi37RTiGSsEjPZfhNvKws4fnTarr/IJHeV+Kd52PyoqgMaNhkuvratQENso7dJLN2hX21gA7CrB3MiV661sRleN9O9jrDLMDwrLFuC/0fHx+KtX5GqS1wDAqNkfpLTzK+Kcw8AxTCOt+HoJDFxk/RMfFyv/ML9fKp8ixbBOa8uoCeeX4ODRncn95x9okdedau20R79u6jLl26WEwW2IuOS9kdBLZKWxZgCMkQlmEx3rylycpfm51TnM2k/XSp7UIpy9IMd+ly8mtFRXKXW4D7pBO2dKa6m+f1j9/2hgCfXMECYA0owY0HZKUsqw+2KoXVpSnHAuyg/FB06ls+B3jXvlbS3cr1vGHZb+TMriXo5as7bwdh/iby0dngoDCqZ3O/orQWMI/+PHWE2f/peHGXz6gw/HDx079pCH9g9HTa9X0gFPZvQqcHtOe0/SLHCq4cC7PHlI4J9hetbqFmTf6F51BSE/gzVr+AtoC8SOgXgSX2w5waNmpEW4T0L7ItpJjg1xRid/iVTEmMPsGCoqg/vY3ghjBbgJey+b9YDgsKQtAV1FQT1IrFrV6I+vyDn/6lbd7u/7yPRg4flAPBkEH9soIrv9C9ezfq17cnP+1oMUb+vn0qz5/zQIcTs+fOpzClxg0HDEq2b11LS5atzElbNq438q3dvC9UdOrvZMlqk+a92zfk0GuHgTq3b88OA4sFyzaEEovl60wcdjWtKxqHpVYb6dbFZAienbkolDiotjFvhRm29uDuTXnx2LhurdEONjUdCjX9Coec7YItBp21zduzuDQfMCe8vrpwfSTof37WQpq1pNmgOU3OfURNyz4j76zXV0YChydmrTPoynTdnX3vqh+023atsczG2l0vzHkrtFg8PH2podRLdWumhobcsdEOh7WrV2ooECHgz6zg8wZFvatHZ5q8QI/DzHax1BobDuvaOTZA+H3qxcVFlZ3T9wQIs7mLmox3Svu3Ffwe0DY2bjC/o43b9ocWi6XrDhkY7HLgF0E3T9u2bDLuXbV+Z2hxeGau+Q0ka3flbQsG4T4diADsE/D6Y5st1eHv/nx7NvozIjR/+mOX2lp611iW4N179uq3ZvexRNJuffGt7FmiVas3kN15WH7tyik1f/tjIrU51JKgHfu6dNAEDVbaGuQ7Tmg73bUBDad376/FJnTpQHMNNe3VaLYo6FFndurWqbx/3Zngt/tA+LA4cKjG5t2XhsNhtZ1MDgDbeyDcXeyGHZoZwyKoULvo3tUUknZZ30Q0nF8t4rW/DTvMCd8927+XJOsTtu8N33egkdmxu2hD0rJwddqwMt0PkaK5I5O2U8fawc590cBhdZP5PfRJmcKtBkHHbh1rEzutb6LjYsh2Nuy0b/fFknGYNk6gX9gTYix0mlduNV2g+qdNRSry8m8CfSPOBzvlr91G3h6SxY2X3buY40RYeSfwiuAbFEpdalop6cAvqjz6Vv8ecH5PCPkm1Btp7Xazb+ydLNw34j4/U7i5Mz+Rc+nZrZYq8Je/+2d2yaJjj5pIN//p+4RIzXrxvXrWZ92ZDx06ZGlfMWzoV4k65vD2qqcB/foQ8tfXp+jQoWZqaTEZcty5b/9+got0Xd1hNHBA35Lzo4xS0vHHTKKwpEHDJxik9U4naNyY4TR2dG6aOn6IkXeX1Xlh7nZYaFX17DVonEEH5rCMHzPMlmY7HHBuxJBeRhl16d6heecKh35DGQ71zu8eNNulHumuBg4jRo0OHQ4Kj7HjJ9Leg51DRK21e/SkIXnbxXjrW9HXBEVvNWHCxNBioLDg2/W7uhvv+ajx/bK4jBpmetZ0TfaJBO1r9gw26D12dLcsvXbfAM4NHZA28tf3HhQJHDbvzRh0HT2+T14cgEX/XnWk/+s/cHhoseiSNse8wwfXFaQfGKiUSZqKkMNHjwstFnqfsGq7Ofn/hEl9c3Dp06Ob3gxo0NBRoaYdvM6m3SZNx08emEO3evf6dtK4YdSpTiPabymfj54WQD6xAO/aa+AY8532rimKfoXFhCMGGvc3J7qHtk1s3mv2+UePz/0GFN3YGoT7dFDj03PlsRYCEH5/9ft/0de/ez1NmjCK7vrnz2jokP7WFfOvT+8eVJ9JOVp0N27amo3kPMgSZhHgCnl79+qRPYdrZmmUtQrD2gtBW5VdSn5eXpSO1241FQa9zW/aIBUCgcHsW9x+GCP/NrD5jKXMYVGAJPmcnhAu98GXQColAFYHDiY/QDtDPLepkc1tKjYwWqq7ztoQRWmuH97zlp2ttO8A9toS+gEVKb6eRYGOwhxgBH6atdS02NhFf25Do+0Xcx7b9tp+gVnbXnh/EQV77Vark28nAe99UBFzHtPd229o32wLYd/YXnVqrHCsSB2mSmrbYi5s2154fzF+om0oCpIWjao/UOew5d9E2OfFr97SSpaNBaRlU8bS83Trkt0t6ofHCdgewpUjVrIxslTeqY7xTUHDoKgXaWWCA+qm7WbfWCoWVjGe/4kA7DnkbQ+E8PuHv9xJX/vO9Vnh96G7fksjhg1qu8h+Bw7oQ6NGDqWVq9fT0rfMeTTI+vxLr9HOXXvohOMmU88emWyaMG5k9ty8hW8hi5FefWMRrWhcS0dOHksQmnta95SS3ygsYgc8AJbdQKaTHAVmv9IAWMCDMzY7Qij45QTAqgdlpSU+oIVRIaIo5gJw/x6mYKvy8W2KMfxRYHJ1GsHw6sd6wLh6iwnUr0VB8HtxUbPB6PbJJKhQW+BCX9iZfbzThatN5SiiP2OKDK7lS+k687sJ81JI5UaAVvikmHIsrAy/ogfbeSvNdjGyfw1O56QM6xfD3jc0bjLpLtQncEBSXPjbzXME/7jS7wEGFL13gCKltVOODD4A7TXkfWMYAmCh6vZfKq5kk/xUAwEl/H7xa78gCJ75hF88v1fPerrwvFMJLs3fv/ZGQsAsnEdatnwVXf+n26hbt670wcvPo0QikXWXvuzdb8dl+sG1f6HGVeuy+/jZum0H/fw3t2Rdqa/64DsJbtBdutRSKflRTlSTruEHjU4RoHENKcUGtTAy+zkMfQ9QVlpKHWbmDyNj44oFmOGAQC8mMuE5amQRPuEaX0zt04zJDbPFy47eFQwX3TLOLcAbNa24XVlhOPfcApPRzRf9WdGTYULfVjM2mMoWqu1ivv5vb511dSYlzcaIsH4PYMx5HzmwCAu4jgwfJ6LgHcIF4OF97dtFzjexK4SSjvYyc/kGe7q1W4xdWMr1E00htAA3cgtwfWkYgH7OQ4axf1i6zhwjoBwEbUFPIgDne0NVurZoSQN97yd/zs7PXbtuM5127ido+MQLjTT+mPdko8GpKnz5cx8gBMh66tnZNGbaJfSRT3+PLn7//6OJx703axX+0bc/QyceN0Vlp/e8+230yasuyV6bcOxldMVV12TTEVPfTc9Mn5O9hjzqBuyXkl/dF7VtqRbgNNNihlEAfmuDORDrDH2x7zfJcAijxWf1lhaD3H5lDGbJbuYAuCM3Zp3xjCAf5AzuRSpGosjk6u+JM379NSEAS+J019zgm60mFWYlSNb9mUV/njS8MNuQ4ZbwkDP7eP+L11ovEzvtaUgf81tvP52zSXOFUEixQLuHEKwI7JVOENzAqYR/nNkP43jJyZ2/ymwXI/rZt4s0U4Rs3cVLCtcx2oNe45ItwOy7CKPSfPl68933L3KM1HHjvFMYveeWsiWQBvey/wZ0uoOwX3gkC0ItI1aHmpoay0rbNlliW9OO7NxezMnVE8KlY11fav+H+br3/Os6+tqXriREfb7lPw/RfQ89R8dMm0DPPXIjffWLH85af9uzU9euXei3P/sKXX/dV6mXZUG+454nCGlA/950+83X0p9+fU02T778+fKr+6K2zbUA56eQD+hhc2+DoLprb6cAXGv1CIXcvu0QOawrGcwQ5gaBebbLG8RziBWX6wKdKLmqyShZgMvUbnNGLwpMrt4QOOPHFUb1zPq5OcTWzxcXNxO+ZUU/3J85veqavk13N7+dbZbQpwtPet6w7M9f1dlPos7FCsC5Y4RZDsoKQ+LunsW0A05XFBTGOk1Qbq3f1vk+u9QSOVm/Mqxf2Lqz8z69zLDsN1boAs3Hyu0hc4HG+9urxYLA/GfuAVTMu+Q4oE0Vc1+Q8iwVC3CQXkew6zJuzAja8Nbj1LpjjmNq2f4yvf2s4w1CENzqZz+8mrateqbjvpee+judfsrRhvCrboJ78xc+fQWtWfxIR/5Fc++myy89sgAXXwAAEABJREFUh2oh6aiM7dtS87ffFpkNhCDNZTFLVyFhMM20umFj9jkzX6pLWxak9p8kswKHSaO7vqmV8P7bSaGMZcHCgKaOi93WcQE4pBbgnZZSRG/L6C4KfQsKoxQTfvRyVJ4wb99iWv8BTOtfb7Udnb4wB8KaPt+0cEwdYQq2Op36PtpLUvsWIPyG0bVP0YR3uF0LXgWFX99McVik2fewLWSMvsKgMScAlrpS/DbJxsvtIYwVoVP72grz+xjaJ0E1Ds0CYwpp/6B81g5DtYvvuZEpSPVYCMUQkwoxvwD6KqUfZSAlGQ5hixuCAFi6Egh9f/8i44WAfj+TZe/x8/HybEEgOAis3mJqZHumEo6DGbX/Czuz7xwAq53AEjYpjeHFbTrDiOMgJ279LScCNOjLcYEO4bwm0MEVI6W4g/N2EFaGHzjwtM6y9ugWUShJuNafH28JqaUHHhwvLzOjPxfj/qwwyzDBDxYTdS1s2xz35yLn/4LOlCX06TIRlEsQIHAtTIn3CeUwuVGzAPP5v07uz3jPPViE+LD2C6AFwp/ehkEb+kJcKzbxcSJMCnPQ2MAUAKWMkbhfpaQ2ZQbnwqYUWsKmhkARAiEYtAQ9iQAc9Dck9fMMgbUWc6s/rE9GP7LfT1vMjX4lbJ0XBjK9/ui89ONS9pNMAA7T/NfVm01Nfr8y5v8CK44BmF2cD1uqpF1kmKtflCzA3Ao20GauU33SfNthZXRnLWkmCMGKGjB4A0rQ7GeYJTzMcx6XrDWVo8McAh0prPQthF8IweocBAe4hKvjsGwbK3R5BZ06DjgOo7sn6q0Sd4sf2c+ZpYZQgKi/6l4o0vTpR+p8GLYrWVsY0LP0Wue2hdLL8POOXAzwpZdeI45D2HiGZcwjakgJysHS0XL3Duev1d3nSGmCQOARWMOCIPVOF+7Q0szKETY3v1lLTcGvFAaXv1CORZgEH24BBrPP6SvmOFcALuau4OXhg3speHDNfpjaQaE3kS8CtLq3nikA4D6rroVp+xxzf548vHB/qNOXYTiEUehT9PAI0KUyebxvDJtXxIFDRNxDCkudKHyK3aZyxsti7wxevn0HiJYw61chxQhfEiusSqEVzB2+HL4hxVx/wzZONDILcP8yleZ1LHBm2IwoS5lyMCwBsNCjiAAMFCQJAhYCOQGwipjjlWJWzzB14vfNbibdLREuTMUGdrHgyvnjwl+Yohny5T1KEfh0IJJsUN+0w7Qc6XmDvJ8zuLN5rvnqzpncMH0T7XQ5brgbqB3jl2GWz80hdIEGcz/TsgDrQEwuIvqznp/jEFZLOGhauNpUFGKuJ84Xm9LMUyhs8z9Xbzb7sXKniPDxMswW4EVsWSzEz8Dc8HxtIsPaQVi/Cd4PluMOn2S8U9hcoLkSoH8JY6TeRsL+TXALsFMQOJ3moOyLAByUNyH18B2B8lygTatImJj9216w1Poa6ieMrSHdRUu7VNRuigl/YRrQci3ARZGckwnL4CASqH5BdyPVzwd5P1cANtt5vrrXdTOvIkiGeSa8Rw05rn+5uGA+nE7hltBFgSZ6cM4hgtVP0QGFUP8S3J9xH7d2hc07BjQgQTG6Zz/22hIE+wyzbrddcf7lWIRpnABVOe2+xLaAMlRKMSEwbFgoOvj83+EOyx+p/NjydhPWb6KR9YP9taXgQGcxKcW8AcKkMEd8E919HYqPejbHuxgMkCfJ+KYwBcGCopQbD4oWgHOHTsDhaRIB2FO45WFBRgCMjl6/Ylyg9TU/cW9YmP0H5zST7poJwe2U8bUgoeyUDKlGF3NudEsEsCh3MAN4SebSFKYBDfXftY+IWyb6FOENgXtVioobsKJHbZevNy1hA2wYvyjQ/sirZvCrKSNKZxVyrV0KxYBvWfW4+/PQPqVjEXYLcK7Fj4FUwiFXlDaFNCr2/FWmV0C+AFgKngzzDuH9rMoX9C0XeqAgK7XOKcYvhMkrYs5b5rsvVTmoY8X5pjApAvjyRyVNizCHUh0Sz/ZL78k9q5o8SBDwFoFyBGDUMMOsAZu2B+DLRsXypP88b1p/jxtdQ3xAynO77SXekYdlLssbDeZgVs5grgPCl0LaGbKlPvj8X7j26fQVs8/bQlitPDqtK9mcLwg13NqN/KmQW7heXd5CnNZjjyidVeD9oj7dAjiFJS1aY/bnpbo/g84Us3Y17cLZYCa7WjVsNPtINxn+sPYN81eamBQjAHNPgK0h9A5ZvsH8HmAogNLYrt0UOsfHCd2qWuheP6/f9JTJP1X0PTCPKV0Z7yeNxTybC8BFW39RuFiAgYIkQcB/BLjwCzdG7srqVEswwvq1oA/oj7/WTBuZkH7qhMqsv6CfM3lhcYF+lgX7GTO4sp6ZD+phswA3MkGvXxnujmlm6Qhb0B+0Z55y3EBtrL/qHvQfah/bDU0m04hzQU33zDKZu6mW9TfD3mcxdef3bNkVHgx0+nigo1IDYKEsbg0Pm+sr7xMqYfjTXBmgra8MrHxORT0eniB7D3RmhdcH/+Y7r3bu8XYQJqunoqKRKUPsvGBU3kLbFHP/DYPSHLFTOP904tjSFYQKm2QIMVB1X7DK7NMH26yKoPLmbM1bcy57caL8t+ZF7eQZgoBHCKzZan6NvYtYAklVLcUsPkFn9v813WRwjx9TQ5xZVbSVsk0eZubGPBnzTPCOwMS8uKhyd0+dshwX6JCtBdzAInyWE90yh7EJIZOrv1Psr2CWj3xCQD1bCkmfboCygpqgCJy52LRsnTSuPDaBCzphtQBzAbgkK0f7i87BIkTKAMwFR7toJyW7ydf2sxny/KT4OBEyDxmQxuf/juhfnNI0w7zFgicAg7r8ya3gT3gK95ZqCvhYCX7h1mdN/gkKwnK8pEA/Ep9GhylZOB/0BDf45+abvFNJQVSL+2SqCkN5I1tVqySFCwLeI8AH+D5FLIGkaplmGrwgW4CfeqOZOK2nT3SnG0gxHMKgzX1pcXNOsB+7yL7qXRez5YP6jr3F3BWcPI0swEm/MqJbpnOUQqaCKTjUFl+TRmYZz9dOYBHSSw5LJGhYN/R6w9pZjssvykBUeQSHwT4SBKmwxEhAfZGg9EC9sY/UN5MgO7d3XMuXcr6HEAnAr7MpIpUIv8AoHQEL8Lwy5v+20Y7fzhTGOcCNbHyopD0EjnfqfDW2e3e/dIi4Z9s5R1bOP3EjCn+GbWV8PnnzM6YiAGMFks/VKunxlb+5kh4nmQWBYCKwZqtp9ehtMTrF1pR3XkEWgP/N5v4ec0QNFeO6VQwWaSb0BBkHRc8z80wN5tSRlXeJSTanJywaXYUJn/9ZDoOTymFyVenh3TYw1798uPRgFuAwMLqwbjz6qsnUnDy+su8h7BavRWypm5IsHFpTT4f4e4CSUCOFRg2ozHSTCuE4odOP/XmNJr8wvG9xmHDFWNgswOgjFq42lZn5FIHAKl9KsrYQ5ABQEErvfNHsH+H63DNV3LvPhwM3HviFQ7466teWrWuh6cz6+45pJU6jM5uRXrxn+5WNbp5VUx4kCFQXAW4V7VOCCzRnboLqAo0Oiws3p09wtwvg7jxBDmqBaMfc3XPq8MoHs2QILeHq68JyL5t2mCNTOUHB0szNMQzKEIWB0xYuX/q1fAIwF/w279DvDOb+Y682E96/ql2mjgjufeq4nG2aMbhhUATodL7BBJ1yLRxhFvpeYi7xE4ZWNmYkWd8QBk8hvU0gyKXeR8LTodjot3x8hEeE7mGgPyeI+3fMOETbmPfCgDyxEArRkMppC+bYU+h+L6//53mzf0TgrzMnlyj0OVSYe5UEPW7I3582FQFQiiE5kBfY06wnC2w9pWKCQFURWLPF7HgR2bDYB/JOPKjM/q3PmZ0WmNtSLN3F4JFiwl9TgOd3Pb/AtP4igIMbePDBLEwW4JUuubelcixe5vdVTFsKUh5ovPX6QOuvu/fq17AfxjnA97LgV8eNrpy5y7A5j2ESgBEN+8nXzT6iXHdwtAmuDAiD9Q9RXvX562jzlTK66ZD3Ddz9eViR1l+0AST0HdiqFJZvAu0AArCqN7YnlxkfAPciJRm/EFRlCIIYwv0ZdVbpVMt4kGICvLpW6jbFcQjw0mBvNrbQ7KWmB8S5pVp/AVDltgaUUlESAViHT/Zji8DabSaD3re++K8zyQZ0riENAqgzFjZTgxbcCNSdPcX9zz/JBoQgB8J6+k2TuZ08wh08OAZBVYjYtUse4KQc6y/KTTHL39aQLfsCGvSkfzs437/AvGgu+AV9DvCsJS1GbIAaq4OAex9orSSFNeotPFd+eu9Bg3S4uVYiAKdyxgmj+EAevLjIZHTHDKq8j+T9YxDHy3wvg7s/j+hXGiZp3jfuNHmPfM/28xqW/tGt1VCGvG1KZUqysLSFW1jgKyi5T3Vh5Qz1PnncELhbq2tB297wuGlIgUdIOYEBKQDNvrQvN2hvQurjKgJxLWy9Jfy2aOM8BqguJXwZyK9j1xRA7d3fmcvKxGE15Ia1U6cb+3xAC2pURzBdPLjL1BEW1w8iKkzJbmY5O0MUBGslC/RUTgAswJdiipAwKQFQf564AFxo3lt9nVkCrCfmmWAdcesvvEPA5FVayzQT+sKy7unP/nuQ9KjVcHO9/JRaSpifdknwpJnggz6opAJ8yPziYlNJOH5IBQC01z/FrF1B9hJqr7Kx4RZgKEaMDAUOuHIsDMuDof97gnlDQPiFEFyA3LyXeVsI4hq4q7e0Eqf9LEvwR5+Ql7gSLiZZ3JAg4gByYPldrMVFQH/4DheCgKFsP1IJbL4f1ZNnCgLVR2BN2xJIHQ/qU0IALNzEGZugMfszLetOIxNs3lYF6y+wSDLmJqjBHJ6d30KtmgYSbmw9kpUzd8CAa3ODPp8HdVap0SUXaM7kBe2bUPQWu13BA2AVmPdWz9oSXzey2Od6kW+dpQCc+5amAbQeWmnwK6uI7F+GKQLCwOw//loz8dgAFxxdW3GwwDRXBrC5lFnAAvQD11ysd6uqBK+A8UMqZxnRP+o9Laztel+snhfELebIIzK4qhsEgBH9dGrUFect/ybCoBT6/cOmNwTcuE8YU3lbSHFFaQCnTN34+EGDV6ivS9DxoyunXW8hOXxTQJXmf3vSbAdQlJbiLanTHIR9d99iECiSOggCJSLAA2CVahkNOmPzDxaufpylxe/fgw/aJYLmkJ0PaEF15XmWRX+eMty9rjDJLMBBVQLYvcIGpijpX8JUAL28WgtOXUN+yDIkIeiYnidM+7CA6PUt9P0gQEr3rp13NFvyZVC1+jyyKSxaxQb16aTQfi9jMYv6Fd2qqp8Pyj4CHP2OMfujByXomCOsBl1hJdPcArxb08BVWHY1bn9hodVotYKHW4JepRY/FIeRJ8mxCLgyAPVGWrDKVJwOshRhXWpxpfiUCZkiBMog7i11/lE1hD6+eKrtcyaZABy0KVNL17bQSywI3DumuUO7jkgODgFcDxk80/INnX0WFGJhti3CGtgAABAASURBVP4C/8p7dZQiSRAIMQJcAC5lDWCQjYFAZwygzQ5K4CNYdngAn7On1KLaVUlJZgHeHkB3cDC5YGQUAGDIprg0/xdlcuZu175WQ4OMPEFMWOIC2Ki6YYCrRLubZoxeWK3A+w4QcQtuIRdoYMitwJt34mywEixasHjqtTqpwsA2ellpZgEOcuAn9Ns/uvMg4X0rGqDQu+ykLuqwom3O97CrouKqfjNf/sgN66+qdJqNE0GcNqTqqm/nWwKwflyq9Rf3Ztg3AUs7zgcxYWrYny0LqF43eEthCpV+rtx9Pi8+aP3DHx4157si4vWRLiyVyPFKMkVA0JSlaAeYA67X+1jLCs7HOP16GPZFAA7DW5I6VhWBNTlrAJf+uFRAB3QevOGIgQka1AsiX+k0FnNHinXkQbQA8+BXI/snKM0sEsXQ6pQH6OrWPzDWQVGIONUZ57n7MyKhQ7mDa+WkFMM0rALw8g2mJQxTJIrBhTO6QZwH/NDcQ7Rf82rDdzBpmHtsAbd2BZnZv+2FQ7RwtfmuIfzyPq2cbwH3AFtsVdoWYAsw2sSrK0wsJg5Fz6ZqX9mWKwmDGiuCUzlvpYkJrOI8T6HjNFMMBk3o0+v/4Nxm4itkXHSsewp0eMrofSk8hdD29Dr4tY/AgPPZ+y4r2nERBATda+yx15oJU2UUKfB6OMulJaBUmX5s3Rvp/Ki9PFMQcAGBSi3AqEI6gMz+axYDo1s6Uc9qWn9RPtdkBlEAfmaeycRMcdH6CwyQ6phCZEdA5/SgrirlBsCqjOFNM0YvwEF/FAS2W+7+XIz1FwVx7XjQhD8oZu6d2YyqdqSTxtVWFOipo6D2HfQHOoMLizOY3PbLgdlgXiefKnL0qBqC+7NblQzT9zBzSTPB6qNoRzT4XunK+gNVFra5FuBO10pcD2LC98LHUzcswEEVgPGt3syCZ8L6ieUC3Xw//LsIgqIU7/pvT2maQYtgKDvGDHLvG7CK7PhDP9lxYO0EKW4I+utbWRTsk8bWuGo0sEj25U8EYF9gl4cGCYFGNu8RFp5S65dmc92C0In/+3nTfQeWTrgvlUpbKfn5YBY0wQ8RHd9abwrAk12c/6uw4lYjBHpR14K65daNAQWW+ilER5ophYK6xmMhOnj/MKBnoTvarvdItm3Vb9AEYATH27QDgkdbDaHVP9aFua5tpXX+ZljfGDRLOCxOP7rzAGGetqo1gvxceEytOnRlm2aur0EYI5wIQ9vQr01w0fqLcnnfEIY4CZhKpC8DBIUAb9ugrVDiirFtAXWFh0eE7rmE/gHzXwvRV+r1nLawt7NPKrUst/I/M6+ZoBTTy0MgPP3Yzf0UUxYHiW96YE4z6eMEpvudNtGFvrE6uoSSXosIwCXBJZmjhoD+YYM2CC74wLFfSsJ9en6/5zTBle/V5aagd+YkFzotnUibfa7JDFpQi2fY2r/Q6Lqx3AuHgpcZpAGN1xXHmPv7yCumNbCstf1QWHtKMQE4yAx/e5VtNzkRoIsMIIdooXqBQRP87n7JVJDBusO/X73+5e5nmOAXtEjQf3niIK3abDLd7z2plvQgbuTCvzRjcrcGVPABqQh8hK1K41yI/qzKwjbJsAh637BodQt9/3ZmEexbHgefZv1iED1jMB78hynQTx1fQ7xPw7usNPE+JwhxQ256yuwbMS1kSO/y3ncx+HB+ISh8E5SD/5puYnHahFri9S2Gxpw8Zpebc9mLEyIAe4GyPCOwCPD5LaVGgFaE5QxqPs/v4i4rQ/skCPN/VX2rtU0y19+guUA/+YYp5FXD/RnYpgKOA+qop9tnmIMc5v9OGFrZ8MAxCPKcRx0Lvp/jAt2zOEYoR/DbGYARv504WDd4ZNeTXAx+1f6Y7IbPAw5SJOg5y1rovtlmn3D6xBqCu2O28i7+8DEiKEIfJxHtAoH71PnkYUSIDK6O3dimrDL1coLcN2As/cJfD+QEwhvZr7h+QKdT7fO2EDTvkL8xARDKTFesfgoAbZtiyhC/eQb0BxuazL76nCMrGws1ch138Z3pF4PgNXbPzEOkC+P4bt1aIo/K/3x0mCrar/5brah6crMgUF0E3Jj/ixryTtxP5mbJ2hZ62WLsUC+VvApYoAd/wrMxjwjbIKS31rcSf98TKxTynOjiGlLdlczpHr/OYw4aBn39+RAC9ONy9lPM0uG3V0Q5NCAaJ7fQYD5kMWVxV8dNO4q5y5s8984yFR6H90/QgCIt26XWkLv+BsXyCQbzuv+aVr2BlnLjnCOr5ynDvwnetkrFthr5+bIvbkZ/VvXlOPho9VNVytnCY+NLNx0gHkgSGaEgqSQScoZNCwiSUghL/zzFFMVvn1LrukcEtf+DUNW+m934KQAjAvw/nzP7xuNG11A50+KyxJTwwwNh+T1lCP0j3OB1Es6YXEsIXKafK3vf1DGUXUwlN4oAXAl6cm/oEeACUbkWYN6J+zmv51bWgWPN0rGDE569K67dBiPh2cPzPIi7P8PCWY67e55HdFziQbCCLPzd+aJpAcvUER01qvKhgQe6CSKz3/HCHHaWa+seIssAS0DCtpjE3QU3B8QCDGUM94Q4sUrWX+CUZhaeoFi7fmYJv1D+oI5ICNZ1+SnVE37xjNxvAmeDlV5YaPYH44a4P3akmIeMnwpjO/SBwcf/sJ94FGAsDff2qbX0ibO7ELfY2ZXjdC7NlINbdjnlrPb53PJ//4gpAIJ/OKYKsQHUk5M5bUFd8X5710uHSG+LmPf8Nkv496Imdcwrwu/I6LfNaCbdgAGF7vGWMsALLLx6RuVcjlc1lecIAlVAYM1WUw3VO13eQ1KMydM70fJKLO8uBOzh87feNsXbz5wzN35rMhWST88zGbspwxPqkuvbJBvMIHS4/hAXCty1j+iBl02GB65uYPQqLT7FmDy/volK6Mhxfy7BSgr69RYGVzI90FIl9ark3gfnNNNB7ZWDsZkwpHp9BBQqen2DIAA/+moz8X4Slt9irfs6PaXso03o+YPm+ov2rrt/QikwZpD7bSPF+seg4IC10H9270H6we0HDeYf7wxBr/7n3C50xqQaSugfNi6WmDIBtQDPsJQfPNL1eUfVVkxvPnj4WOnpOKFVDGM0nwp0sqUY5MoK7RZXd1NMEbBzj6vFl1QYlNX3ztQGCevusy0+Ev2BtRuZv5rIUCKECAJlILB2qxkoqlxXlxQb0P3qxG9myxaAnkpctcqAlJJM8PHTpUnVf/6qFkJgD3UMN57xVXJ/xjO4C3RQg2Dd+eIhYx1YMCNuRQJO5SiFgEy4UsNGs3+ANaRYCsAjQ7jU8/vtDYHlPe6dZSqCMPe3UoZep5Hv58wB3mUqHXn+ah9jPcs/PGK6PmOOq2tz2/IQkCP4+IwFr+pLi822gbgR6Ct5vkqPed8QhDFi8ZoW+uQf99OTr5sYgFZYQL9wQRca1AtfNc5UljJ15v26J4J5xbsjLHv1p8dMoQdTIxAospq14LyTXxHB4TkHF2hFK7zDTncj2rEqsMCWW4C9+CacqvTP6YeIRzw/6vDoiYvRo8jpjcp5QcAGgVVbTGasd5lrHaYZs++HRhvW3xmLzMEb1l93hmwb8BxOpZgm08+OXFWRuz8jqmk1GDv1vCTDAHNJ1bWgbGHt4FreU8fXujbHJ2kphRIasdCwQwDTTgV+t4EtkTagZ2lVrk+a+f0WgJ+b30zQ7qta4Rs4rorujXhODrPvoys42t+P7jhInNGF67PeVlHvaqR0d7NU/V2YV/w5enGxqfCpxvxfUAYFoY737n1EWG8U17xOaBOY9/nFvx0g3fqNenTvRvTB02vp4uNrXesXUS5XCgXBK+K+l5sN+qEUu+jYWlS3qonzC364/qJffsCiXyf0zMm1BCGYPPqXstqa/ii/1gLGyijwEtLr8o4ja6rqBaA/y8N9qvHyYfIsQSBICCDwhO4KiMEOTHs5deT3YUAvp5xK7sGyBRjMVRl9MwmaOsL7T5xj4ZdGV+GA7bPzTcZu6ogETlctcQx27q3ao8ouGMIvhGBVANr/CWPday9AOBVwhl/R7rTlFuBSA0UFbR7wf1nE42mWVr/aTF6OAOzjfMd/P3+Ilq4z+wIw+T2SaK1OrcC982mmKA1SbAAI41juR6e2WgIwnpFmbsB+KAk3bm8lBLr6xzOHjHWgUb9RAxJ0tWX1rQYG/JvwM2YIaAW/woN9HTOqhkrxeEE55SQ+RvjRDv7+9CFDAZOx2uap490bC4vBJZmjNC/mLvfzwIsQ3gCqZHg9TB7uLRbq2dXeRpOqYlGTfLFGYO020/rbp0zrrwIxU6f22rbQKrbtefOLwB36k06f6M/nnbIsf3o9/HIHV3V4bUWLEcofDD8CYKnr1dgmA6LNdaIN6/vdPdP0FjjJEn7dXvs0FWCG3wkbdR7fLxhDdQxrKeYBquNitvWsT/DT0rPMEvx4UB+4PxdDRyV5MhYzqd/vV3+A6Phg7vS6IAr8tJHe9ZNprhDyebk8HYuZS0zFwJDeCcqw9qvnr3Q/d5yotMTS7n9ufnPW5ZnPeUUp5x5VSx99WxeL/uooRjLsm9jisys81npF1F/QjoRx4Oyp1bf+4lkpJvh5rRTCGuCPv2aOhW+fWoOqeZqSh5mP88MCbIfFO6Z50w5M6r058v4te0OXPKUIBOKeZS0LgIX5spVgwjtyL4M/QciDUKPqn7EYFzci+aryStlyocePjlyv7zMs+BWYXv16NfaTbFD3Q6udj64H5hwivU5geE4a5/5Axxl+P9zb8uGQ71rDRlNBNqCECNCq3HpmWdyyU13xfssVHpjfWe2gT4pK3g78UAT8mc1vRJ0uPsH9Nq9otttyq6dfygC7ur3E5v9WM0YCng/8sVXJy74BAs+P7zyYE+gK38Pnzu9C1bb+YXxWdGML6zu2fiS4fSMWhP7s0yfWEn8/+nU39+F5pJeHqTL6cbX3H2PCL6zeR1vW72o/l5ef5AKwD0GwYAnX6zWyf4JGD6yOEkh/jl/7IgD7hbw8128EiEeA7pOprEp8wPByUHt5mam9HzfYv087CB25/ianLzCxmeKBWzgESr0O+82YO/olX/bvnGFqvE8YU0OYl+d2ZbhSyMtvolJaGioIgKWeXc/mAGN+lbrm5RaCFg/uc3IVFB5ONGWYxQvTT5zyVuM8LPlvNpr9wHtO6lKVNk95/vExIgjBj1Bd9E9z3zLxGV+F5Y/wLJW4otTLvuGBOWb/hzrBA+bqC7vQwDIUXbi/lJRmnjEQQku53828f3vKDHxVbyntTvHY/Tfd3aQIEfPNM9U7en6B2RZOneAP75RkSnOvY6dgagjHApHxq4e8/yX786b9p1tqECEEENDk/b/aTz+yNLr3v9xMCAZVDHncAtw7U5mmiw/oYDqLqYcbeea8ZXbihSM3uvFU+zK40OMlDrxGcOvTXbsg5HmFTcaywuv18cPqpT9f7eMb4Yz3KeOrYwnLYWz2mFZVVacUl5GtAAAQAElEQVQgble4YQFmgh/cqv2glQc1QbC/sYMr6+9KoSPDGNwtHs8Dnrvc7B9H9PPHspFmgo/fcz/VO3xleYsR9RVzoqstCKaYxcsrhh9unvpcZ0xtuPLMLnTBMdXpAxXG+hbry2Is0s95bfnEsxetaSEeIPLcaTWE+pGH/1I5wp83D1++oZU4H1jt6VFOlCXZ9+B1e/jXdLOPxNx3RMd3qm8UzosAHIW3GHMaMHiDsZw+v5l+99BB+sQf9tPlv9hPP7nrIIHxw4BnB1GOBbjCOcBpxuR5JfjBmrJ8vSlYHDHQv0+bd+S6q63de6jmuWeZ+3NHMIdqPrS97KRPg3r74x03t71gavxPHFtDKdZ2HW8u8UIqoAx/MWQ0cAG4R+kCY1CUIFB66DSfOM7b/iFjWZX056PP0o+rvT+XWTf96h/5GOGl1TMfxjOXmMzvhKGlt/V85dtd432DV3M/ucvr+KE15JVSVMchzfrGrR4rhVCXG9i0AMz79iNwZoqNP17xTtziiXbQvSuQ8T5xfsHr4KFzlpl9AFYQqSoK1e9iClbf21GwYHUkgyBQOgJ88EYJYCwg/Pz2wYP0sd/vpytsBOI1W0yXr0otwLwD82pAn8OYO1g3EOgJOPiRkoeZT23yYS4LaoB17F5ky0JN8TCaIdfw+6kIAB5Ij77anF0PGfsqVdPlK8XbQoCC/ij6nbaNm8z+oX8Pp5zO5zPMAuyHFwD6QfSHqpZwzz/6cG+H/jRjcLkHgqpbtbYvLzXfJRjdaj2rULlB/CZe8mj5Ix0bv3B4gs359Gt904zPHkJwu5630vwuzjvKOyu43haSOcpiU6Gv53VznwcOnTjM235Rp4V/D172kVAQYhqEqk/PVIIQ/VkdV2XrzSvOW3X/3nbeaslFQaB4BODmWig3OhMwgkogvuy6/UYADAiMvAMqVCa/zpk8r9YC5gLwmEH+ftb1jOn32tqj3gsUI/oyP3g/hw/wTu3IB3WvXZoUDvqWW3+POaKG4O6o53FzP82sHF5p9gvQUPAy3OJ0hgDKjAxr1wULsTJA2MS91m72D2XqLvnZk1X+eZEJNwjwgv6uyo81is/pEzyMertyUyvpc68RdGdoH+/6AQMI6yA3EJZ10sc/uMHqChK0DQRIq3aVkkw55oULNLzFwAso2tKWYsYvZQjvT/R3oOpXzS3nm/DOEfSoms90KpvzXl4EEF2zpZW4l8/Eof7yTvpYAaz27Mdv9RPnIT2ZHuNfF9wBqL9vu6MasiMIlIcAH7wxn4d3pnYl8yALlS6BhGekfGL2eQCs0YP871nARAETlbzqyNXzsH3mTVO77aX7M56fuxQSzvqXMNcLg75eg9OrHPAjZTGY+vO88orQn1nOPmeMyokArZ7Lhb/NHkeC5tbPI0d6P+xD0FB4YOulJXwOj4/g4/QQ0M6x0AUyXPc6vbjI7CfHeKRATbPxcvvu6lOO6M/6U47yIdqven6a9Y1et4OXWNTvST5aP/1Qhkxnwa8O758gXg/1rrzaJn2yhM9lfaQnkZ/FAuxVs5LnRBWBmcy6gYn737i0K33hgi504TG1hGMujNlhUan7M8rkA5oXAU6gANAtSklLq455PKiPnynJOnKvLX8QuLl7kxfRn3XMk9a70I/9doH+13Rz7i/mernR7nUa+X7ONxESF+gGFyJAKywyzNVRt0aqPNXaIvLxrn2dnAaUg35YPzPMer7VQyVAjoLQZwVhmgl+Xlv+eFvjgtD4Kkd/Vs9HW1T72FbbYwpjwlNvmPMc/XJ/Br38m/ByiTRgMZdNnRrn0XsH7TylGL/ADRQ8vxvHz7PVIfxUACh6OM/ghVcElJErNnSOEajLqAEeKEn9t9OQB1QCTkmCQHUQ4IO36sT790gQgvt88PRa+tZ7utKn39GFENJ91ICEbYTD3unK65diAo8XQt8ctvzRaJ+tGwpFbv30oiNXz8aWC79w8x3e19set3s383leB7UADioBj8ZNnYMcanbGpOp3/0nG2GCwVXUK8pZHgEZ/Um59eQAoBOwrt6xS7+NujmN9Wh4tzaxdXrWDg5bO5/UG08I5zicM1Lvj44TXlj9VD2wxD7RBC/ZWY3UM44dUv1/As5NMEVDt8fIZFhBxcO8E9au3CEZlfEh+fRMgdQ6z+A3qlSDuqYJ8XqVkDu9U3Sej3WPZH/0pkzyMD6I/V9/nLtBe8AyzWXwEz2LIdLIjOgSe7nvT03lKkjwsLgiAiUIYe0UvhjK7wTthXYDV4/SJNfTRt3Whb13WNbuFAIDzGPT7VLgEEurANbrV1mjjmdy64dd8JtRFT5zJ88K9TX8+Z3amDLcagZ7Bg32uBNix178e/x/PWJKARjMin1Yi1GlF5d3FHNhabZQ5ZBlgYH3Ie1MALjYwC/AAS6FWbrXqmQUY/Va5ZZV6H+bB6/coBaF+zot9rC2qPwd9Y6sHn8NrlvALIVg9G22eu+Wra15t00zw88JTyIk2KMb0a8P7JeiwrvqZ6u0j2q7eN6BfQP9QrSe2B7/qKN7rQHAdD27f4fyCp/0C85zzq19oh4JS7JtoqvJyeTz6M/jANFPSqbp5uU0yhbEXhgNuRPFqCoSXuDo9q8bpgpwXBIKOwAw2d2lE/0RRg3eXGiJYgt8+tTZrGf6mZSF2Y+03DOZg+BVuGMwxqKtjt7e79xEtWGVaN/yy8HDauHbfS+EPgwbv1L12fwYeKTag+uUCDQ1vg2blQd3Ommx9BNjxIHHhB+/Hg8dW9AiO14Ce5StQ6pn7r1eMLqwcCAClA+GXhwj6Rt26gb7Ri6Bwc5mbZxAUhGmmEKm25VN//3yfewjYKZD5PW4ep5jgA8WIm+WrshDUbj4bK6eO9K4PVPXQtxnWDrxxhW+rwSxm9fP6vbfVovM3R2FeZQH4hYUm3xQE92egwXHwoo9EYDg8W6Ug9JGqLtXe+tsDVJs6KT/SCOS4Pw8urzlD460zZ5WAxgf0arq3zV1umdO0ysKNKclcibTLnu7yjtxLJm/6fHNwg/vz4N7lCzDlAlfHXaD3lltSZffd/LRp/UWAC7SVykot/m7eFrxk9IqvZWdOLvzCMlDXrfN6qXuc0fVqDjBf2gZKP/R1pdbfrfxpJux4MefxZba25WiPAjzlw8zLMSJfPaCcfaPR7CsnerD+r14n3jdUa5zA8m/6cxHtt5JvWi+r3H3+PVSTV9DrCEWArowFzzDEh/FRrxPqoB9XzWPMeghwXrDabPeTffAQs6qS81fHeIZqB41EW9BjRHS3xrlBPreFHFCqeKI8iaGKFZKiBYFiEMByIq+tMDsxv914UO80s/pVa0DHs7iVc8wg74U81MMuJXNceexyVeccd3+edrg/uNRZg4lOoc506OeruY9vhM91OnNybTUfmVN2in0T1bLy5Dy4zBMruPtzBdZfVIFbwDfvwNnqp1z3Z3+He275BCNaTRSgaNAt4PD88WuZF53OTEC+ByiQW7QhFPNhe6W97StzBWAdKXf24WrPoz/7NSboFGF8gGeEOgeFBDwj1HG1tjxwqBveb5XWNZdfqN78CAS/QptQdR5o9e9Y91Yd+7lNMgOG2xZgThvnIccOqiFvewBeI2+Pa7x9nDxNEHAHgTmWZl8fLHpbAzcGcHdKL7+UNLNyVDOaIe+8gjR3gzM2Xgl/YCKWrNW4OutVItqxtfH8L8WUADt9sADzyM+Y44cgF16CkftNePn00p/VyNzFK5n/i6fDAwFblTbvrB5zp56x7wARd//1KrqvqgPfclfwagvAvH88HAEQA8Dx8O+haRdHyptj7iEw3mPrL6hMsfGyGuMElID6tAMInhN8Xu8VtCNx5djG7dXvG7hizO9+AThAEYA54dhHAm+HsRz7bic+7z0Iwa8UjSkmAFc7CBYfI8YMjrT4q2Du2AZgOOioi+wIAkUj8NISU8gJQieOyqdytPs4635CRF9YOFTJmHscBOuGqg/HodpBLdRzH37lEME7QB0j6A2SOvZyyzHweu7rwtUtBOZPp/ksj62/eHaafRPV9IrA8ypNDVq0bJRVafvh9FdTKYb6IvF5XX3rEwQlIa75lbjlc2uVFQFcAA6KgpC7xFdbEeD0vrl7uB/zQPm3UQ3vkCdeN6cKTTs8OGxvDv27qisAb2hqJT7F44iArByRYsqQaoyXKJOPiZOGBUfoSzKlOerr9P1Weh7WZfAIejlB6SP1OlVzPzg9QTWpVGXLNjIIILCPTgyi2urHfu2nmQavWsz+XLaMgV/BbZxw5h35zj1OOd09/+Acxuz4HOhE12qD0l378OtN4tZfzPPC/F9vnt75lBQb1L1ShnTWoLS9BpddoPF0bgWutqWHW3nGBUCzn+bBwKrM7PMYCaMDNEUkxcaJajK6aH88wfKjW9iSVn28XiYOdUqxvsHtuZ97DxBNX2COCUcFSADmXhFbqvxNzGKGA/QLXb2dEYPXbptSVhvUL1RDUci9HqAYDILnoKIb36Hax7aawUO5knRQrwTxd4A6RDmJABzlt8toi8ohtFZ6IB0Edjm8fzC0eFyLWQ2NNt4jX/4oSMwd6sc78mrhgGepBM3umi2mBv3oUf52cXWMwauGi5+iX98uW9dCnNk508PIz3pdUt31IyI/l30xa5J7NG9lC/E2VKkFGE+pT+K3M+neG51n3dvj0X3HDfH3OwBlOZbPnThbnYTgLoiSr0qHAiJIjG6aWbu8/iYw/1dhg61f7YP3DW4rAqbPbzY8gjCdAYw+aA5CSrO+cWsVvwnQ++JiUxng13tHXXhKsrGyqQpKc7QH/blBCX6l6sQxqKYLNOchgxRDRuFR7a3/o2K1KZTyI4fAS2wNu7GDi2rGnuDAB/RqRPGDi2+ue18wFAAK5BQbzKrZkatnPsCsv1OG1xB/HyqvV9ukT4Gw7p1lMjoQ4vxwcQTOacbsV8srAs+qNN36rBkxe6xlOcX0gkrLzbH07DAVNZWWr9+PoGdBVBBmmAW4mq6/sHDqmASNueP9UjWx0HFQ+3wJwQlD/Bk/koepGrVt3VaUPvaa2Q8efURweAVQ7OU3AYs//y6CMnUMWPC24LayGAoxLvQhGjieHZSUZgoRfe6623XkPOToQcH6Ntym1668+FFsh4KcCxUCM5eYg1qQOvG0B8w+rFT6C4MbT+Eohvod1d9HoBH9KXqoff28W/tg+Ll297gx/ndvOYO6R4GwXlxkzpH3y/qL98uZ/aAKwPAs4W5hbs2Zrq8DEp2pmksAzWJujmMCwtjkzAGuorsnZ+7GDPJHwOt84+YeF3y8/CaWb2ilzUwB49c80Nzx0sSpkqP121rpTbbM05E+T4nh9GRYv1BNRcgrNssmZphSitfPy2M+TrjtDTCT8Y2IeD6oV7D6BeDNp03BjR/n3UwNG1tJF66h5A2KF6WbdBYqy38OsVAN5bogoCGAj3aFNYCrU+i+xgXIAswFHghmqq5ubfn8Zz/mdRZDS4ppsobmVgAAEABJREFU96s5uD/8iqkU6ZNJkNGhF1PhKuSpY+v6ua3VtqsytPy6wgFTBPzUdKeYN8C23Xa19v8ct/4eMTBBQ/ugh6m8bpzR3MgEkMqf0FkC95AZZ1mxO6/6t8eFnQ1N1bGCY579ojWdCiC8wVEDgsXqpHjfWOWAYPpbn7HQ7CvHDkoQGGA9j1f7fLx0UxHArb/4DjjuXtHp9Bz+TXDFhNN95ZwPar+gaEmyccJt7zk+F3yiD1HPFa35tnzaVDXmQs9eavYBQesf8+Hj5rUaNwuTsgSBaiPw/IJOxgbPwrIuYPCxH4TEB7RqMPs8emdQLDwc/xSzhrsd4EQ9D2v63T/b7NCPD4D1F/WrY4xuNYNa4HlIfJkHKIiwzASu+ZFS3clYWxBKALwzCtA/zJnm7nFnT3EvOgyfA7ylSgIwrCb6MmAQ/sYGREHYvRuR3g6rtdQJlsjT29fQvgnCswPU3CjF+sZqjBNO9HJByM8AkqkcoccdpQje/yNMKRqk6M/q3WQ8sgADj1nMMyRI83+BR8rqH7BVyU1lCKaNccPBpGHBFH9ypk3tdeebULhiy8e60ZYSDOfjloLZAuL2FoTeohGYxTRXQVnPTxGQYgLPLpc7LwTPWbXZ7BCxvqV6fpC2SYZFtYQ/dOa6dbmLJbccHZBInynG4HmxFjB3f/Z7mYeE1Sj1tgBmDEKwddqrv4LPufU5c+7vqAEJGmYJTgVvLDIDgjDpWasV7XUmi48AGnTs9Tr4sc9xqIaHDDwgdNrGBsQFXK8TF3zcZPb15/D91VtaCXPE9fPjfQyQBuW1HoV43wGiA+anqFe16P03GlsMF886S7iaPDx47G6GuSBXKxgaPCKgHFMApi2lpFveLarMSrcphoWb/AL4RijcVB3rrWehb1THQdqmGN/kNs8AZQAChuo0wwtEP47LfvB6hLggL3SWjACCOPC5XeMC4t6nE4PBRT/WhTP9fDn7nH64aeoMRDllVuueFBP+9AHYzWc+8LLJMU0dURMYi0+ONnePqbxwEweUNX9lC/H2NiYAFkA/LV7AJV96a30rcaXB2VMtLUq+m0q8lmaWnmq5OvLoz2Oz777EylYxO8eBt1U3Hg2FmF5OEK0bOd9DFedD61hc/9BB/ZCG9E5QhrVNI4MHB0k2TrihDHicBb+aYo0JHpBS8iM4r+AG7XaV4Fb/oFl/UefUYfjtTG66QL/APAcnDoNatvNZQdqrxveg0/d6g+lFibnQSHoeT/YD8ApEAPbkTctD3ECAB3HonU4QAkC5UbabZaS5e9su90rnzN2YAFo3FLVJNqBVIxI01lPlTH9Q3J+BQ64LNM5WLz2/0BzcMPc3CAqSlGVx0KmuFqOnP6PYfb5eMuaOu70mKrd8VksA5uuDj/Mpuq8T9hnWNyKmg1Pecs7z4C5wfR7q0jzucurjdE+GfQ/bPJgX/+y8Znp1udk/HBuAqMhphkWlfQMsyHwayFEB8Qiyaw9cAVGNvmEmCwA1LoCGg2oqizn9kwLq/oz2kcM3uRw4M3cKnU+SaHVtAYCyYBIBuCBEkiEoCHAtZpCiP+sY8Q6s0gFdld1s8S688xod4Lkb1cJB4YHtg2zpIyz3A6sGrgUhJVkQrGpZwRWtz7xpzoWeGBBNd4pZearh+qowKGXbuKmVOLN85mR3rb+oD5QQcPfEPhKY9J0uT4+A668eMRRufgN7+sTcgEibxC3AbgvAOf3jwGCyOFwhVA1LuIIfW3hP/elR01NmsGX9PWa0//jkjhOocfkJgj7oVSXAuhU0d19VN2zTVVYK4RvTA4diHv7oACrOk2yMcItvAt+o94twhx/RP1j9ItqBSnWMZ3B7ulCuESW4WChMqrX1v/crgrLW1lbasnU7zVvwFj3+9ExavWYjNW3fWcSdkiUqCFhNgGYFPIiDwpoPaG515FimBXOk1HNSloV1QI/gdl4pNqC5LfxBIfDQXFPgO2lcsLq0HAvwHvX23N8uXdtiuD/XWE3Dz/l9OoWc4XfTvU1/Tqn7iPyMvkXdh3lhmP+rjt3cQiDVy9u8Qz+qfH8Wt/IEzPoLCjOM2d/qoncMyudTRMYEVEGYqbM+TlS4PUEhpLfD9tOubW5+5qDRN+Dpl55YawSnc+1hJRaUYm2i0vHyideNMYGCYOXOB0mGuaC7/U28wLyC0L9BIZevTn5cg4IQwrl6NpQY+rxddb7U7fMLzPYw0bL+ov2XWo5X+ZMWX6c/y02+CTFk1mzpNL2CR4hrBGhgHCxuETXS0u49e+kn191EqYGnUt+RZ9OUE6+gcy/+PA2bcAH1GnYWDRl3Pv3uhttp7979JP+ijcCC1S20XZs/ic5yZEC1eCnm0gXmxo23w5m7IM7j0enM6chddvObsbCZdO0oBvWgrfOY7KYjQuRmYA+zZCLu/oz54fhOeD4/jtNMGbJtd+cg7Ed98My1W1tpOmOO3Iz8jGfoiUeC3uzy0jczuYJwcPCGd87swzqlY1TJ/kHLwPnmyhajCERAN04E5AAMeJ3WN0D41fsyN6sJ6999LEr+iWNrKCjK0xRj+CsRgNGe9DmOwHna4fh1E1F3y+IKc3e9AYheWmwKgEFRitqhmGLjRCVtAeW3WN3BjEUm/ZMsARjXgpo43+Tm1DEeJBGrqPi1BFoQ8A/eCNmOSuOqdXTCWR+hb//oj44C7tp1m+jqr15H517yeVq/YUv7nbKJIgL8wx07qIagvQoirbmduDu1nPOW1ZtrRQXVuqGqyHHQFRgqTyXbB5j789GjaghCMAXoX5IN6NVickEy13QHaaDnSqFKGRvQW2m65dlDBMFDlQPrL5QG6tjtba4F2D0lACLDr9vWWR4sKUGcHpFmlk83mf1XV7QQhGD13iDg8XanrgVhm2FYVGse8C/uO0gQBBTNaUtB+/Yja9Wh79sUswBvr8BLBksf6d/0qIEJ4t+d7wSzCmTqzBNbXVSMIeKvrhDAkyYEdP1b1C1ltU1sVaqkLaCMV60+AZZk7CNBIVzNPh7PqDRxnsFNvolPERlj8dGV1jfM9wdSAN61ew998vM/pvkLl3dg27VrFxo2dEA2DRncn2pqOqv+/Iuv0tVfu44O6qNfx52yEwUEZobAvU/hDAZD7WPrhrVr1z4ivr7n6IDObwPNSEk2mDVpFnxcryTBesdD+Qcp+JWi7bCuZLgZgiFxw62L2D/MZcUSJ+o0bB5w9VLHfm+r8U1UQhPaz9NsvvRZVZj7q9eRW4C3uMjo8v5xtMX413YOkXo1fN3PsD7BTWYf6//qxI0OqPuzqiNn9t3yFFLlY/vw3GZj3MC5i46tpSBZfVIuWoAfY9Gfjwpw8Ctq/5dhihA3lUKzlzaTPt4M7Jkg/rz2agRikzzMrEalwh9XCk8YUhNYw4minGNQideYKhNbTBmDkhD7KgXdiKLqWa1tAIdIohdeeo2efHZ2luZpU8fSjCduor0bX6SVCx7KptWLHqYDW2Zmz+M6Mt7136foqefa7sGxpOggAEYR0T0VRWDuA+3Gw5i8JhfcPV+2BjJdsz20byIwS/2o98K3nLFx05XngZdNt6YR/RKEAFi8DkE45oqASgd1O5peWGjigekBuoul3T1enksxK4/fc4AR+Vn/ngb1SlC1mQFuiXIz2muO+7PF6Hn5fot9Fme+3ZzvmOshE0j2pgOqNPsm3FCUdhRu7UBp+pcnDll7nX9QCgTJMwQ1y+0bOj0ZcL3Y9GZjC63XvCAg5AeNVjtauFII/I5dvnLO5fYL4J7KKcmbe1LMY2p7BbwT+vfpIVr+SCGcIwDvUVcq285b2UI8hgzGvcpKDfTdBSsXuBECAa9uv/sJwva0k4+iZx++kU4+YSrVMnU2jnEe15EP+R9+bEZBgiVD+BDgnRjmLcCyFlRKOGPjBrMfNuYO7yYXh/IYG5SlJzh6PPyKydgdF4Bopnod9f1kTlRH/ao7+y8sNN3jg2T9BYVpptl3QymEcstJWDrrqTdMhUE15/6qOmaYq6Nbc4B37yMCc6Oeg23Qlj9CnZBSlnJQZ8ERCVu3UCFPOQnBXeAGru7tYnE2QY70inqmLSywVcltC/ANjx2kXfs6+1xgcsnxtepxgdmmcvqG8qrGg19NHl5DXYJHLvF/mRwLMM9R3jEEwFksLkCQDQegMqctVCD8QSGC/gXlImF61NgAxkVA3fSUYkoAt8ZKHkNmdMzdn4G5NUxgE5y0a/deWrZ8VbZCX7n6w9SjPp3dd/rBdeTD9TfmL6Vdu7UvBiclhR6BmSEK4gCwUzkDeicTguvlpFlLTQFnzCCdjSynxOrfA50VBh31JDC6+nwcdb7U7bPzm0kvBxrTKSMC15V1kIX6dRxYO265NFlFZf82NLXSsnVm+wDzl70YkJ8Us3Y1VaDZr5QkWH/hDqbKGWRZf70QGOuT5jfrVhRozOvS53jCzZFbmxWtfm+BAJ8H7IbFizP6hw9IEAQ+v+nN9/w0+ya2uRgRG9NlHn3VVPKcObmWeBvMVz+vrqWZIqAcDxksK/bMPJPeMLg/A+MMU4y55QKNVSN0LDEODQngmtjAQKUk+yZ2VDBt6nnmFYWgoeBJ1LOCukUd4b2g6ge+SbfcqvOlbmX5o1zEAsc17tq1h1auWk8DB/ShyROPyK2xzRnkQ/5VqzfQbqjDbfLE8VQUaMacydcaTObeC2a1EuxSrBOvdEBbvr6VdFeg7t2Igj6QKfySTJtZyYCmynzQJvhVUAOioc7VwADlqvQ8i2SMNS85U6ny+rWFxwYGdvV8DOgY2NWxV1vMOX2MCQZnTfZmGORCqVsW4LC5OVaD4eceMqNDYN3g36hbLtBQhiDwlf5N9a1P0GkTvWnn+nOL2ef9YzkKEfSB6FPU87D2L6aBqOMgbzPMAgxPAFhvK60z7xdg/YUCqtJyq3m/m8aD6fNNvnHisKBT34lsHfca21uZEQX841vrTTzC0Ed2IlKdvWD2iBat3bp2pbruzJRmnbf7Qz7kP2RxVC3o/e0yyblQIjBrSbMRwRIDWz9rMC+CGN+yQHunM/tWszQslqVWDBYe/Z4xFnOX0E8EeD/lgnZfJw9zwRes6uzIgQOW9NDzBG2/zlJY6HXasVc/qnyfuz9PCugyD2mmGCqH0a0ULW79xbzx8UO9GQbTlqUH7VXRAGWQbolW50vZglGeafWR+j1BXfpH1ZHPeYRSQl0rZwsM575lWv/GDNKRLqfU6t/DvwcIPm489Z5ZhwhLH+llXXpCbWCD/9iNl7owq9PhtP94CINfKVrAK0CprY7BL7jhJZTTLwwJ/jeRZCx/uVGgF61uId3wAIyhAFAYB33LFQG6Jb+cunPr7+BeCeLPKKfcsN9TE3YCpP7RRmAmm8MyIQSdON4I1+pW4vI5hy9/NLCYgQy18D+5NaApSu5/2Zz7iyUNejDXUpU3KFuOAQQft+qGQX6BNdjr5U0eHsz2wZUhblm8dNrz7UPQevgVU1A6e5jEE4kAABAASURBVEqNEaU73/2VXsNbyWhtFcJrpYGw8O51pye0NQTIq7Su1bw/zSxeWyp0/YVCTBeY4OYbdCUp8E0z5aAbyyChP7j5abOPPGpUDWGJLzwzqKmS8RKKNB7ddtpIfG1BpTa3XhmmHNy6MzdPKWeAia4EgQAIxXkpZfiRN8U8xsoV/J5nMTFAuz4dyw/aSnlmHVMEVBpAlAvAo0OgICwFr3Lz1pR7Y7XvW7l6PR1z+odo+MQLCybkQ/5q10nK9x4BPvd1fECjm3JkOHNTrgAMxo4v9zMmBIEcFB58QKtE+AMWPHiR49JHqgIB2PIgWIjO6la1ZlgDPQQpVd4gS7PbMxVM5i/DGP7tu1WtvdneNuOQsSQIrL9eBwvrkTRprdQNejaLDYAgL8F8+51011uW8M4jokotn3OZgnDsoKAj0EZ92mUcUOofHzlEmDaEfSR4n5w3rRa7gU58vCxF8LnzxWbS+0C4PsNTLNAEs8plWFuAIoNlKekQ44J+wxEDEhQGAZArSeG6q9NR7P50Ni1oUkCVwk705PBNFbpAz13e6TWHZ44ZFFjRD9XzLAUahXXrNxPm9RZKyOcZYvIgzxCYv6qFdIGpe1ciBDfxrAIVPCjDrBzlRoJ+nc1/HmQJOJxZqKCaVb81xTSZpTA2vHJPvWkGvwLGEzxyX+V1KeU4Z1CvILAHf+6MRaZFUwl0PF8QjlPMylGuUqgcWvCsh+eaWL3Nsv6WU1Yl99SzfgGWmkrK426O40PgIYPvVqe5UmY/x0NmUDgEYLfbAhQBz8032/h5R9USvAJ0vIO4n2LKsWLHSyx79ADzCjr68ECztbbw82+iUqUQ7xcQAMr2wQE7mWIW4HKmCy3f0GoshwUSw2I4QV2RUoxv2lnBtKml61qMGDKIxwElEZ7jawpANx24nqKmpoa6lBm7HvfhfpJ/kUBg5mKmtQqR5ZMzHeW6e85eZjI0o0PC3KkGmGQDWrGMjbpf33L35yAvfaTXW5/fhfO6UgfH5aZdllYYTK9+/8ShARhV9App+3xQL/eb0Ip02s05f8eMZsMyBuuvH3OlM8zSU4kLNO5FgDyd2NEDAzek69XL7nMFXiVKAHxLi9eY48SoEGCQBcL6gYXW2nT8gZ6OgxJ3fvvgQeMOuD0fPSr47QGVzh0nigv6c/1DBwkRoFEGEpTkQVYCoo52iXvHVPJN7D1A9PIy85sYH+BxQccjyQS/chQB05kSCDwT2oX+nKDv1zG+qVxLOOjkyx+NGhCQPqG4TxwkVC0FBIlO+gb0751d+/fef/+C7rzlZ0Un5H/24RsJ93eWJnthRuAltvzRuMHBZe45zikXOnKUyTuvMSFi7lB/jkO5FmAEtdCZ/YTVFMIiAHMX6Ern8wBXpBeZgqhvJkEQ7HAtiCnFLMBuLvuSj160Oa48OWOSP0NfhlmAK1kK6SX2/uEdA+0+UT40/L/GMdhSwXxHbv0d3jdBYWJ20+yb2FrmfOhbnz1E67Z1cpSIio/AV/6/7eJqwMcJeGwUuhOCDhf03jGtlsLwDRD7l2b9wpZdne+SZS14OJcFhAvysmh2xHAheEeJHlN8+aNJIfAS4zhwDDCG8TzFHs9m02RGhyiGTLE0lpvPHy6gQG2HDR1AF190Jl128dlFJ+THfQWKlsshQQCuTY2bOgcBS96hMLmxcGa/mAGdv5pNO1pp7dZODBAtc0R/IMFzBveYd+TlCn8PsKWP0BbSzG0uqCjUMWWIGxE+QSsf6CcGfJmHFHtf5XwToLvUdNeLpvW3j6UomDLcn6GvPmnWvpI5wLOWmt4hQY/+rCjPMCt4JS7QXEE4GnPb1INCsOV9WDnfBATf/7xgBr46ZXwNYemjEECQrWKKKQKa9mRPO/7AyvmHR0yaB/dO0LGj/fmuHSta5IWcb6ICpRBXjAV92UgOUYpbPwu0Bf3+1VtaaSXjGyf51Nfr9Sp1P9nNvKNcvglxUxayIJlhmCZjUl+9o3D2FtXDQ0oOCAIvsejPEPzCpNnNdDeBLCec/yyGwRGW9ReafbPkYB9xxqYc4Q9Bo56dZzL7J4wJT9fFB/RK5vOotw0GkE8RCPpAn2FMbiVabYVDoe3Ova1032yTUca6v/AgKHRvNa73YJYeRKYu5zkIdMT7h7AwNj20SNigvVwMcC8P7jI2RF5CqH+GtYdypgX87qGDdFBr4giCd9aUWhQfmsQVAYWsfn9/+qCxzA0IhcU7XOph1LotudEO2kqycX8OSeBQVf8U450KtQV1H7Y8YOjIAQni0wyQL+gpxcbKcvgm0Dh3eTNhmTjsI8FLrJ71vzgf1xRILrJp+05CYKtSE+6L64uMGt2z2NqWsPiFiUbegZWj2efr/4bRdYVbgMvB4YnXmo15XrDgHREiNx7O3JWDAW/7s5n1D0zv4F7BZv9SjLEph9nnOBQ6vmdmM0FZoPKh7Rw50r9hL8MswPDyUHUrZcuD4/VOJwi0lVKGn3l5v1DOXD8Eu9GFZzC6QywroJ90lfrsnG+iRNfX5xc058z3fOextaGI+KtjlWRWv3x95LJ1LXSv9V3r9582oYYG9EzgVChTprtZbb1dm1fyHy1a02JEVUf7GtonXLjktIUiXaARE+OvT5rz4MPo/ow3jL4MW5XKCQaGe3M9ZALUFgJQFf84Abwdm7R5SxOdcs7HafDY80pOuA/32xQrp0KEwJ79RDy4T+jceNiAlm9Ad3o1r+aErg9Aj+FUWYfz3PpZjivPA3M084b1nDC6uXHvBbRxi5Sy//gyFxNDEOSEt4VKAqIVA9yGpla6+yWz7Zw52d8hj1s/yw12M5MpCCeE4P3r74xbvMqZ+zqHBQgcEzL3Z+CRZpaeUr+Jvzxhtu9Jw2oobFbwNhzw25ny4fCbB02a8U2FzeLdSWnbHv8eyu4XFpvBr8YN9re/a6OutN8UnzJUpAv0HS820+59nc/CmDvVR2VnZ01K38vFoHMqXCmlzWbzfwPVR5ZHUinkF8wbuK/j4MFDtGtXkS2ekYf7cD87LYchQ2AOC+IAywZcN8JEBmdstpW45umbjS05lquwrW2I95Vkg1mpbq/AYdVms6cM4zIXSWbhKBUHYKknLgAF3f0Zdc/U4bczlWvl6Cwh/97P7j1ofEP4fqb5zBBhLU49KjhcmWG5yE9J7tWZbHrE2JAxummmICxnHvActv5vGD1kuOWvFEv4jY+bga/Qti44OnAsXW7jtTmTLnKcuP/lZuJRv995XG3oLN4cAghreH/qPLxW0Deo42K3LzHFWFimRej0ceGvGOMB+o+sslMr6LQJtaF0fwYJdYxfKMUNHPcjYT70xu0m74RAibgWiJTwvxaB6y2Tye40aGDfspDBfbi/rJvlpsAgwIM4RKETLzWMfa7mLgC9RZktJHmYeWMpwt8DFsOj3w33VV6efj2o+zkuTUW6ddnRg7m/YJDUNQgTiH6rjoO8dROHfHTe9sIhgvJEz3PRscGYF5lhVr/NJQa8WbGhlTZpjA2C440aEK7+IcPmvpZq8YJwwD1kRodsiTi0zRRrC2Dkcb5QghB454umJfTsqbVUH9L5fUnG8NsJPcDmb8zFdeLQGho3OFxt3+ndpiv8JtAn6Csl4DmIG4JtmBJvC8V4jf3zuUPGNKmkxXOcPD5w4k3RrwHKECR1gz7eq3N2W/3cy2wpLIwRepl6Xl/2TdnclyoEroX0qE/TzKdvptYdc0pOuA/3+4KkPNQ1BGYx68a4IYFrpkXRmmJWjlK0+9MXmEGfxoTQvU+BlGLMTTEDGu6F0uAZFvzq+BAFvwINKvGojpUEwnphkdk2wrTuZZox/OUEh1OYOm3BBP7tSVM4wJJZYwMiINWzecClCn8zmZVnbMisv3hvGeYNUErfiPv5HGjM/8wwAQL5gp7SHIciPYV+cZ8513FwrwQh8nPQ6XWqXxdLNwUrqLoOBQdn+v/82CHSp46Amb/wmHDyBopOfZthbQECv3690D4PHIr+DsqxQvcF7Trnm5oKKIsRBZ0rys+eUht6r4Ak45tKHSdypoiEcJwosW2WnD06vUfJpMsNQURg/soWQuRWVTes6Xh4yJb+UXVPsw6sWGb/H88cMpY/QnmBcl1BhUpISUsbq2cvxgJ8wJJfvnebyeQN6JGgsFg6dXqxn2RtodyojihrxiJznhfm/eF8GBJnbkoVfArRiHbz47sOGNkQIOr8oy0O2zjr30E9s9Jt3lGaKnwWVxAOTvhHTJlPzjBhtVTmjgcIHBMQ5UapcKRZ39i0q3BbgLWrYaOZ7+ITgtO+S8VA5eeKUihA1TVY+59501T8vf3I8Fq8FV36tr7Cb2IWU4yF1nDAxkq9Heh4qf2/P20xC+rA2mKqS1gV5Vb1O/6SrG8oln9UBXAlYeCmiARg2IqWAKzevGxDi8ADc8xBLozWDQV+Ocz+0rUtBAZHlYHttMNrQq3NTHGr326TeSObfz+75yDNX2UKeieODW93VelgpiDCMg/6nFG4FMO1SV0P+pZbgAtp90ul569PHCQ+Z/y9J9cG6vvpwSw9pUSChnKQfxdjQqjZzzDvmK27SnvTLzIlUFg9ZLgypFBbwBqnUJDqaJ0+sYYGWRZg/VwY91OsTehu0L9+wFSGgt6Tx4V3PLB7P2lGfynfBOIp8GlTYQscqjApZayEtw9XjJw9JRrtguNQyjzgV5a3ELwoFKYZa8wZGLQo6YXZQFX9qm2j0VKqBk+4Cg57bWH9feoNUwAOayeOd5Figp8+oOO6XfrpveZAn7G0whcGyHplV+dC53hHXkiTecPjh4i7gE8ZXkNhjP6ssIGgqvaxhSCDbamJ4zJhaLi68BTTajeVKPjkw2vuWy107yyz/0DU56AtA4JvWqejFOvnc/NNpdCwvgnimOplB3WfYwAGvti63vXiIdKDu8AVNkxKIE4n7x91BRfPy12fESDyrMnht/6CzhSz/DW1x0K95dlDBDdX5FHpXcdFg2ZFD7Zpxi+U4h3zVzblY6Al7CA6NsoNW0qxMSKfx9jfnjL5JUyFQJyQsNFsV98k+x5KEYD5/N9AKggTdlR7ey5c3JO32MjTPEbgtw+ZnRk68BIYfI9rW/hxaabRzbe0A0rDvEVo+LGvElzb9Kix6nyYtqUMaPfPbiYwuDp9cHu+/JRwMzyVDGY6FtzyFab5v6CDK4W27XZHDQyh4br/mv3HkN4JOntK8NpNPZsDvHlncRgsWNVCf3rUpDGMy5ygHXAL8JYiXH9xHwTlf1gCEfZVwvxutR/GbYoxuk4rBtw7s5kWrjYVIJecUEuYPxtGunmdU2y8hOsrvDluZe/7hDE1FDSlFqelnON6y0qn31esYmyR1SaeeN1U/IXZOl7Ppog4GQ7mrWyh2WyZn3OmBq+/199pKftJpggoZS1g7g4fOPdnAFHcsIecVUsiAFcNWim4FAQQwh7RTfV7EOAC2n39XJj2cxkb5y8ejA0i1+r0HXNEDSFuktRuAAAQAElEQVSQhX7OeT+4V5KMwXNSBEC4+93DJoMPC8eHzugSXOKKrFmSD2Z7irxRywYPCZ0pQoCTcSGb/5liODgxNxrZRe3+4v5DpGODmy47OZjMELd+btmB2uZPa7a00rf/fdCIdIo7Jg1PYBO6lK4z671+m3PfqBMH75B92hRvCE1vC6CSQ69zoX2uKLULfrShqZW4tQuC/4h+Jo6FnhXk67xvgHLs+ofM8QBYnXNkML/rSrHl3wTvz5zKv/5hcw7sYEvxd9SocLP2PCCa7s6rcPjLEybd8IYJs8egoktteeDMfJZwdQ+2/3n+UM40oNFBDKIagK4r3F8J3rak0COAAZ/Pa4LgF2brL14KBmtsVXJi9hG452fM9RnW7/OPisZAzxkbuwBQWNbj/+7WOFsLNLgNX3lGbXFr+Vn5g/yX7Gb29nYYFKr/C2ze4/gh4eu+08zK4aQMKYSFfh3WjxkLTQvIO4+tpb4ZE3P9Hj/365nwV4jRBePzzX8dMIIDov7vPzW4NKJ++VI3S6eFpOfZtU8/yt3HslZPs0BI502rpcO6Uqj/pZnrq9048cv7Dxpz+tCGzrVoDzXhrPIphsPDc5sJMQ/0bBccXRv6900O/zJ15gXwReaZ3KPHXm0mxA3Rr6Dv04/DuJ9kSnP0gTodM5e0EDxi9HNR+x44BsWsnrF0XQvd9JSpGECQTPBSOlaB2C9O51nVqgaegzp48BA99ezsbMK+HRqbtzTRfx98lt6cv8zuspwLOAI3PHaI9CUPulitMihrdlYCXfIw826nOT3osGDh0XNfemJtZAZ6vqg7Z/Bg3fjWvw4aDF6t1QY+bFl+ewdUiKES/3E39mIGM/6I59nSWBOGdgp4PG9Qj1OMsXH6Joqt/6btrcStRCP7JyjIUUChBNDfHCxdzaZnawf5sHxcc+vBnKjwiGodNvf3DqLadzIlKAJaLHx4IKQhlqULAQLbiwvtJsVcf7fuNEl51BJyEAVZP4s5sGEX/HV6sJ9i4yWf94vVIKaMsAYGZI5g4oqQLawdcJKxJNRf2NzfqRY+UXAPT3YzqdV5hlZLcLrxcdMzYMygBEXJGwLUc/6RKwGQR08wpFx7t4kLvql3Hx8NQ4pOq1v7ge9NINx+7LM/JCTs2xG+Y+du+syXr83m2dZUhD+ZXSFyzhcE4NbJtfqnTqwhhLL3pUIuPpQPaHbWLtB/z0xTY3fC2BoKc1AXDiE6Yf2cHgQLcze/dssB0jt3CAeY8wuXJv2+MO/zwaxUCzA0uxuarJG/HQQoCMK4zAVvCxD+2kkqeQNG6Ed3HqR9B6jjXmi6Lz/ZMi92nAneDtq3LvyBDrulkHD+h3ccILx7nQoEgwvzHD9FSzpH8Ots3yqP2v53tunWBwwRH0FdD/M2zSyf+jcBBdGfHzOZ2snDayhKrp7q3aWYckydxxZKccx3xn5UExQhaNeKPgQ9OmQ6tqhL2S3mRmOedPbA+sF0sfMi6jWm804IlIq54RbJHX9Rs/6CsGQ3vTUQoT3gvFO6wVIKcFwus8ZCjIlO98T9fOAF4GJeUHNzMzVbKvSNm7bSPn2CUDE3Sx7fEIBW/5f3m4M7XH/PmBQNjRUGNB1cnbHB+azG7p6DBEYXx0hYsxRufdiPSkoxzb4atDG4f9Oy/K7dajK+mOM1MWTRjQu9q1IHM17eCwstE5h2cuzgmkAt7UNF/ksxZl/X7BdZREc2zJnH3PmOE9YOPCcyzJXQOh24v/qkWSW7QFi/ffBgTpCXsYMT9K5jef9olhWWowyzADu5fEI5xqfIHDemhhDpNiy05qtnmisCdnX2h7+yxsfdmmt4965EUXBxtcMjxXDQ84AniIJSXKeJ70PcgXeIfh4KEP1Y7WPMvGeWqTg/3eKbMiHo+xQN+bZJNk4o4Q88Azzm9HvhFYDoz/q5KOxzpbluOOD0YQUEBBDVz8MLKpDBr/RK+rwfSAF479799OFPfpeGT7yQjjn9Q7Ry9fpswj7O8TTp+Mtp0+Zt1KVLLdXU1PgMqTy+WARg+Vy1uXOwx30XHVtD0PZSBP6lmEabz/WDG49u1cMACMun1YwjQH0nCUmGA6yfEPp/fNfBnKimRx1eQ6dNjN43DBdovF+FClz+gYE6LrSdPt80BUwMofszaIQ2ulZ7vXDjA1ODa6UkBMzjQhGWvwjLvGjM4dTp3bLD7AcRCf2hueY7H9wrQe87tQsl9IakFxKyfc6s8/5RkfPnxw4R2ok6xrdkRHtVF0K6TTNmXwk9WPIMcx11si44ppaSTKGoXw/zfsqBrr71CTp9ktZphJnIAnXPsLbgFB0dyjEYEFRxMBycOiE6GPG20LSnrX98cE4zbdL6yhqrLzxnanToVu8TW/6dg2/CeZ527W2lay1Din4e30xUYsjodLm9H8iW07R9J02f8QqtWr2B1q3f3EEz9nGOJzU3+PhjJ1Gf3j068stOcBHAcha3sOUNxg1OUFgY2GKQPczS1sMtSeUFo485fTh+o6GF7pttMrhw/ca8NlyPUkKwG12oh5PG7x85SDNY4CIEPoMFL0q067QkmYWjWOvn6i2thKSXNT7EFvIUY/K4Z4ROp90+PCd+dOcBataM4mAAw2QZ4xbgLdp6yC9Y38UNj5vWHXiGfOSsLqG0+tu9Q5zLMAvwtt04ayYEunmSLfECDxkIwWbO8B5xqx8sPWBqf8+i+x4xMEFQEHJKo3Jcz5a/UXRdfHwtQdBRx1Hecgy2af2CohtKkVeWa52fdeGCo2siYzgg6x8fIxAzA7zTv6ab/SKmg0TVMyDJDQftSgALHuMPKyAorzp14b0n15LOc6nzsjURqDEPg3FUY1lxYc0tpTannXwUXfejL2WtwKXcJ3n9QQAMHqxg6un4WC+KiGufoglb3pFD6IEA+HO2Zmn/Hgl6R0SXd8jiwDpz7q4Dd8YrLOsW8kY15bhB7y2O0kdfMRUlCPgBV8ji7g5ernSZigBFyV+fOJizzMNlJ9WGKmgctwCrOcD/n73zAHCi6OL427sDgePovQnSFBERARWpIk0EpCsqIAooKnYUC/YGn4pYsIGIIoJUUUGQJkWkiCK9iTQp0nv/8h/cM8kld8kmmdvd/NHJ7s7OzJv3m7mdfdMWBp//RiYYNe9SP9F1I38pftM10Skqfv8Gfef7wosOwivL2vK1xS/noV+m+P09YCr4B54OEHMkGCmhI9Xta2Chp3/HBgx+t21uBD2DOf9nI+qCf9j3PZ3H3n7Y9M/pG+J564Nz/xFgLIPAjEG8P+E+HN4ZG1R2x3IQ6OPv/AcOvGfBmGGn/nYmzUAC3iOL5TXMIPY92iCLtmxJChfKJ0vmfCHb106R3+Z9KcWKFlQO5/Dzd4f+/kl+mvKxlCheyL6FzZylEsDop//GV/UqJUqeZBv8RaTmMjon/g0aXmo+8rzAe099hiS8wOPoVuffoHnriV7vzvWTBA98b3+3nee4wFcjc12Tr6/v1eApp2XUPF8jwOkvO/51wXuDE1/t015hrdP4X3w7BDD1Dy+BaUPb1yeX/xrgg+fUTs/+3/rFS56bdkP3LpEUv5kAew+f874t3yw6Ixt2+I50tajhvhfeXH4jn9jZHJ+38YbRqGqiYJaDt58bz3N6dZSi48ctmzqFWlb+nUJ4X/COO2ruafHfHfvGK933N+HfVmKpHPZ88GZxTcUE8X+/8r7vhnP/TnPv+oB3yHe/991DB+2gG5eQxaosbWkAQ9k8uVOkaJECyuXNkyJw5rX/MWey39sEEqCzLYG3v/P9o8UUlvqVbVsVI+KY7Ne7P2P5GZnkebHzTvS6yxKlqBN67LwzHea5f4NmRofRe3u9RPFv+M37bjrm8Hq5g17B1vTgHnp7n/zipKDXG9fezukbhOXMZnirI969+j43/C4wLXRAgJkTTtwB1H8EeOPOs9LXU96Hjp1f62aq3t4zsu2m3dBNvXD0/5v3Hu3ClL5P/b5nWd0z8osRYMR1m4OxJxJYK5T/NRXc2T76a+y9TATGbw6/TkP/8G67TvFbFuC9Lh4zJD6f7dsZio2OCufxfZ66gUmyX1v5x19nffcByCJS5xL3Gf7+Zedf/7E8wgyDdb/esyix5M5RAym+TZ2pltaj7Z+qhQrmk+W/jFYO59ztWWv9iLowbO6yebdvzXfS2r1wgfi/7I9f4Dt6hakqDVxq/HuzyuHXoJn3bqmT5JrdXE2dgh39X3KxrilQWPTs9v7khCxa7zv6hbAdajl/Kmyy30vtYo+e0BXfOx0557SgV/vF0afkoaEnpcugE9LilePS6Lnj0vr1E+L9QmjywNFpLsWvz3bTrvMjwN56YEmI00f7vfXxP0/vZX+Ix/g9fPy/dgJTY7E7vH8abrn2bye89YqHqc9KX89P8r/tRKmChlS7yPavp54cR/f/nNl80/PuFPrkx9OCdbBmCPxNNPR0npvXbjr6Dxz461anUqL4t6f+YdxwneMCXy3MDlK0kys2+74f4D06HmaJ+BKJ7MoxT5i16zdL3abdJSlvTSlctrFcdV0X2bP3gBw+clSef/Ujec7jDhwMsGNAZHwYO4oE8PI6bKZvDyZGs7CmMYpibJVUst8DzD9z7TwGjb+fG68DNWjY3CSetun3b8wCjQCjUev10Un5y6+TKKfnxejuJkmCTz44vX4k+41yYDkERrvfmHhK8IkLbA6HHXCXexp4fO4Da+YD6dzkikRx6uiH/wiwv37XXpwgV5V3TPPsn/2Qrv1fYPG5H2xwtmbbWZnst+69URXnd/ykByXQ8xHhr/MYOAVzuW+ED7oFciYHtA2B7rvZD7ql7RSCr8jqrWdlmt9mcDB+/duU86Gd/5vj346QQJqgLcT050D33ObnzwFrodf9fVa1k966XlYqQfAVBG8/25/b4LHmiBZ21Zo/pV6z7jJn/tLUMt2//5CcPHlKsl1wgaxet0kZwZOnzk+9zxP7EfjwB98eTKxvu+FKR1RByzCT/aZ7eieEqZvx8nLj/yCvWylB3LaZjXfZBjrPntX3iX/oqG8ovOA86Bn19F8bjOnxvZpmEbdM/0zOoFPIl0rgK6x1qu0xEgPftb8vpv5jylqgnF5aMkEw/TPQPbf5+Y9YYDOwt/02vkL9x1RPt+nurU/OAO0EPmUSD7ODvDng2YC2IV7aRW/dcZ4SZGO4d/x2BC+U25Cr3TUtHuqnuvQ2eWxQOdFVu+GnKh3gJIdfW7n7gMgrY3yXEKIztWUNB04HPxdAYc1etrc+zp07J+99/LXs2LlHoSlYIK86mj/YLbpLpxvFMAwZM/FHOY1vzZg3ebQNgd83nZWZy8/45Kf+pYmu39gjZzYflVMvMMULm/ekerj8BC82pororXTzdEZTT/+jNwPc8x4BHvLjaek/3rdhQxgYQ90bJblqjXTOAC/70DUjh5eifDkNKVXAEEetdQqimL/xh2Bu0Q26hOL8X/jxmZN129NO7QslLSeHSQnQnstFMwAAEABJREFUTrS92oEvtREWAjr56nsMnAiTcWx0/2cCvnk7ZekZWev3N3FDNffXjRS/mUIoVOwX487OMGiX1vkbwFgDvnWPr+WIWYSYDp82Nn0yIpCQUYDMvr//wCH5ZdFyZeB+9ekr8vv8kVKqRBGfbFW+pJzaJXrVmk2C8D43eWELAu/4bXyVz/MiW+9S21e/iNklB5jKg09atL3K/Q2YNzzzQY4X/A7XxpfuJofsWc2z88eDx0QwvbffyJPiv8MlQmD648213dfbnezp1cYIKHZ9L5bPkHJFDTV9C9Parq+SKOjNht53NkyS+25IksdbZ5EXb8kiT7XLIg+1SBJ0CPi/KIKX01yK32hP/hRDbquXFFffb8TohXe54bMe3tf4DE5JT4eHt58bz/1nCtWqmCAl8htuVDVdnS4pkRA3o3sS5J/ZVpq3P/jBt2MUjPBNaPO+W49oJ/x1u76K+98ZvXX23wXaXANshsEsqDKFHPqc8M62qZDmo+1r03HPG+Ku3XulZPHCUvfaagHxJCYmSGJCghw+fFROnfJdYxowAj21E/Bf0+jGz1kEgpozW1pfTG/M53nZTXvHvT7Jno4A8wXfvVqmr1kODwPvENv2nBVMef55je+IFzpIYAA2cOnmaDB6n2mfRR5pmST3NEmSLvWT1IguRjXQKVajXIJg5BvTnAvnNlz7qQvvz9/kuEA8HBLjYmMX77+BnH6dAN730EnSuGqit5drz707Q9C5c/3l8aG3aws0AsVy+s2Qwdp47+SaXWH713bv7Fo+xzPRO3KRPIZUuTA+dDf19mdg+uOIthH7YOCczhoBu9SmDHN/8tQpOXb8RMBwmzZvlx279gimQyd4DOGAgehpGwJ4uY2XzY/8e/bLFDYknqbwmJUudw6RzvXj7wXf1B9H/8YMO//6f+c0JbuhRjjxN4I4dO4lkOtf4w8dHp09nQCY3udebQNr5v+y7x2qYZVE13Z+eOuJc3QQ4giHXZ9RJ3BOF38EUv59LgTSvE6lBImX54T/u1M8LpvK4ddp7l0nHD+Tzncmt7dq2s5tbwDnzZNLKlcqq9YAD/18YhojeOu2XfJ4v3fUhlhlSheXnOl1KWvDGq6g+AmPhr1ZNdtXu6gVSLJnBNic6YERjTZxNvXZBIlGG9Pezet4PPpPgfZnUDSvIfc2TRIc/e/x2n0EUjydHYbn4XBz7STXbHAWbikFWvuKNLAJkps3+YGO3g7tBK6rlk6QeJjeCl3pAhMI1imUfIFIg8rxMzMgR9b/+GBteIVinoflf15xcRbsnaFZtUTBRmhxASGGStreEsmWLavc0r6JQvDygKFSvmpr2bx1h3KlK7eQkpfckLo79E031pfkHNlVWCf9LPp1pZS7/CbJVayu/P7H2qBZxzeQR4+bJhdf2VaMXNWVK16xmbzz4Sg5dizt6Dg2EPtp3q9yTcM7VFjEyVuygTzeb5AcPHRE/P+FG94/fijXeIDnzuH3IAslokPDQNPsnoYL2W9+ZaJg3SPO6eKPAAyeYFpf7nnx7dEoSZKzBQtBf7cRwAgwngnx+GJnlmWwvwmsA08wzFDuP6Z4Xlvwt3+Dp41wv7bUMD0CeC4Euo/prhhACHTPjX7JXlPBYfC5UceMdEKnh38YdJBhjwB/f8dd2+D5bnsDGIXasU1j6d61NU7l7Nn/1svhM0jK0/PTsH5Nuf3mGzxnzvkfRusLr30sNet3lg1/bhUYuKfP+O6UbGqDtc33PPSqdOzaV/buOyidb2kuHdo0kn37D0rvxwZIzwde9jGCYcwOePtzqdesh/y+fK0KizhZsiRJ/4HDpWnr+9V3lM30ww1vxgvniM86YApPOHHcEBY9unjJrRbkw/5u0JE6hEbggixpw11fJVGtgcVnwdLepY9bCZQvmiBXlXdEExyzIkjJkTZprPMrXcgGb0dpsxYzH3QKozMk2IhPzAQzYdsRyJk9bd3HCOgVZeLrWWEafxU9I78XFkzLxHYFF4MM+U+B9owHSturk2IgKT6TdMRfVBaP0Tb4rb4yatirUrZMCZ+Syu4ZXuvzYGcZN2KA5M6V0+eenS82btomtRrdIc++8qE0aXiNXHrJRelmd+zEGfLxsPHSoG51Wb1krHz24fOKx6rFY6R82VLy+Vffy8TvZqemsWDRH/LMS4PVvWU/f6XCIs6638ZLQ09nwc8Ll6mRYzNCuOHNeKEeMcLVonr8TN/x5oLNn26qyYeWNxOv87g6zZ71v4YcU+JvrZso2PgpriBQWUWAHR4i/lOgMcLVNE42+VGVwOvnslKOeB3zyjFPY0EAswH8070xDt+dcvw7cy6eN4S7wK/DHEvoAtUP//rC69AIOOaJi52eMeK5/vcJcnrfQtm5Yaoc2zVfju6cJ6+/0FtNfd7nGQ3FSGZoqmduqK/H/ygb/9wmk0a/JaOHvyYF8ucJmiHshP35V9+pT0HB2M+XN1dq2AtLFpVn+3ZX12O8voM88usf1Lro3vfcLOUuKqnu4wedBM/17aE2DPtuylw1ggz/cMMjTjgO3+28qPB/L//hxHV62BbVE4QPLaeXYnTynz3r+XSwAzA+53Nxccc8gs9nnL8kEEUCKX6jXQ0uS/Q8K+OznYgiViblYAIpXlN/oQbWhZeIw09iJV9gqF2fi+SJ7+dBSnbUAhHMIMQnsM5fueCXm2BlXIgHDh6W9p0fl8nT5qcGhjFcqGA+yYb5AB7fHTv3qDA163eRXbv3eXzs/z+mI29Z/b3c2LSOJGSw2Gn7jt3y6++rpcyFxeSKKhenUa7yJWUlJWcOMb+DjI6Anxf+ofzqXFM1TXiMGJcqUUQ2btqqNhcLN3yaBOmRLoEUv5e8dAPzpqsJoFcb3zXt1SRJ4r1hVwXNn7gnkDPbeQRqicwlCecv+EsCcUog578GD9THjIjGcfIpMOjr7VI8HK6vwudBjqyGYO8YLJHw5sPzyAnYvnYdPXpcFi5eIa1ufljGfTPDR2OM9o4aO1UqVmsj4yfNVCOe3muEfQLb7KJokQKSKyU5pFzBQD148IiULFFYkpP/fVvwionOgLx5csnefQfU5lYYMd61e6/AD/e8gqpTpIG0sBHWnr0HJNzwKhH+kAAJhE2getkE4WZXYWNzbQQqJqkjvjdyAyhWBxIQ7xHgepcmCgzBeMSCDjF8PSIedffWOYfnlb9DrUTBkinhv6gSsL0BjO/6JiUlCjaBat/5CRk2YpLA8MVGUB279pWb73hSGX2gAqMyB2oLLlzktv+9W44eOy5JSUlqGrS/almyJElOzwgwjGQYyxgx/mfPfk/4RM/ocoJ/cElKTJLkHNnl9Okzagp0uOHTJEgPEiCBkAhU5jq/kDgxUFwQUEqmeF7wLi2ZwM//KBr8iXcCF2QRwcgvRv3qXZoQ7zjiXv/GlycKZo3FPYgYALD9X1ehgnnl5X73So7s2dQO0Hfe+6LAYdQX62hNJu1bXy/fjx3kqI2wzLyHeixetKAyXP3DZ8uWVQoWyOPvHXTEGOEL5I88fBqBQTwWLlkha9dvpiMD1gHWAdYB1gGfOnDu9BGpmG+Hj198tBdsE1nOgevABUln5PKie/k3wWelHN23xZX1IIi5oNXb9gawYRhyc7vGsvinz+XiCqWVEfzpF98IRjhBCtOIv/r0FbXLcT6vzaFwz21um2ck+MjRY2nUwuj4kSPH0/hv2bpTAvlj5DdQOuGGTyOQHiRAAiRAAiQQBoGqxQ9JctYzYcRgUFcQoBJBCZTJf0xK5T0e9D5vkAAJRE7A9gawqeIlFcvIvGlDpU3L60wvad2igaz5dZx0bNs44NTg1IAOP8Fa3qSkRDl9+rSa/u2vTuoaXk8HQOGC+dXa31y5kj3hz6gOgzThT5xQHQjZs18gRQoXCDu8f3oZXde88lKpUK4UHRmwDrAOsA6wDvjUgSqXlPC5ZlvBtjIe6kB6Onaol5d/E3xOuroOZGQ36LifoENIqDJOnz4js+YskTETpgd0M2YvknY3NZRrr75c2ra6Tm5p10Tm/vxbaljERRqhynNKuPz5cqsNs4KN0GLDK6z9LeoxZrHBFUbF8+XNrdb34p6/nhgVRlr4JJKZdjjh/dPjNQmQAAmQAAmQAAmQAAmEQIBBSCDTCdjKAN79zz7p0vNZ9UkjfPookOvU7SmZt+B3GTtxhnTo8oRPWMRFGplONcoZKFI4v1xUuoRs3rpD1m3YnCb1OZ5OgEOHj8pVNSpLntwpyl1SsbTAb/mqDWnCL122Wv78a7tcXrmCwGjO44kTTvg0CdKDBEiABEiABEiABEiABEggAwK8bQcCCXbIBPOQPgFMgW7etLaa0vzcqx/JgYOHUyOs37hFBg3+SrJmzSK3dmiqpoJjunS7VterMM+/+rH8teVvdY4f7J7df+BwNZW6660tBNOgww2PdOhIgARIgARIgARIgARIgARIIGQCNgloKwO4YIG88mzfHtK9a2tLDnGRhk3YppuNVWv+lF4PvyY9er8s9z86QFas2ijHjp+Ql/oPUX64hzBmIg/d20ka1q8p02ctlPJVW6uR8ptueUQq1WivRoVffPoeubrGZWZwNUUcHDFifEn1doJPRsGVrdJKZv60WPHFNHIzAs7DCW/G45EESIAESIAESIAESIAESIAEnEIgswzggHwwEtnt9pby0aCnLDnERRoBE7eZ56bNf8vgT8bIx8PGy7ARk9SmVOfOnZMJ385SfriHMGa2sV533IgB0ufBzoJdn4eP/E4mfjdbrqx6icye/JE89sDtavTXDJ8lS5K8/fqjMmjAY2qTq9Hjpglc4UL51I7Zg9/qKwhjNbwZj0cSIAESIAESIAESIAESIAEScAoBWxnAwaAdO3ZCps38RW14debMWZ9gMAane0ZFv/thrgT6tI9PYNtciDRrVEvOHVycrkMY7yxjc6vXX+gt+7bMTI338/RPpe611XyMXzMOpjff37OjbFszOTX86iVjpUObRpKYmLboww1vyuGRBEiABEiABEiABEiABEiABJxAIK0VZMNcD/l8ojRuda+88NrHcux42m+jffjpOLmx/YPy6ReTbJh7ZikNAXqQAAmQAAmQAAmQAAmQAAmQQCYQsL0BfPjIURkz4UdJSkqUvo/cITmTc/hgwjRerI/FJlCYPuykUWAfRXgRNwSoKAmQAAmQAAmQAAmQAAmQQOYQsL0BfOjQUflz03YpVqSgXFyhdEBKpUsVkyKF8su69Zvl4MEjAcPQkwRIwBYEmAkSIAESIAESIAESIAESyDQCtjeATTIHDx2RPXsPmJc+R/jjvo8nL0iABEjAdgSYIRIgARIgARIgARIggcwkYHsDOG+eXFK5UlnZf+CQ+mzQn39t9+GFa3wyCPdLlSwiOXP6TpH2CcwLEiABEiCBzCNAySRAAiRAAiRAAiSQyQRsbwBny5ZVWjSrqzDNmb9ULrqspSTmqSnFKzZTR1zDHwHwndwUGsBAQcLLyrMAABAASURBVEcCJEACJGAzAswOCZAACZAACZBA5hOwvQEMRF063Sidb2mOU+XOnj0r2//eLTgqD89Plcrl5a7ON3nO+D8JkAAJkAAJkIDNCDA7JEACJEACJGALAo4wgPF92k/efUY+HfysFCta0Acc7vV5sLPM+eETKVG8kM89XpAACZAACZAACZBA5hNgDkiABEiABOxCwBEGMGDhc0ddb20h29ZMltP7FsrODVPl2K75cnTnPHn9hd6SKyUZwehIgARIgARIgARIgATsRIB5IQESIAEbEXCMAezNLDExQQoVzCdYH+ztz3MSIAESIAESIAESIAESsBMB5oUESMBeBGxlAJ87d05GjJ4sPXq/rI64Pn36jMyas0TGTJieoUM4hLcXYuaGBEiABEiABEiABEiABOKSAJUmAdsRsJUBvGv3Pun30gfy8bDx6ojr3f/sky49n5X2nR/P0CEcwtuOMjNEAiRAAiRAAiRAAiRAAiQQZwSorh0J2MoAtiMg5okESIAESIAESIAESIAESIAESCBMAjYNbisDuFDBvPLUY3fK5ZdVkEd73y758+WWggXyyrN9e0j3rq0zdAiH8DZlzWyRAAmQAAmQAAmQAAmQAAmQAAlkIgFdBnBIKhqGId1ubym/zftS7rmrnSQlJSoHv48GPSUZOYRDnJCEMRAJkAAJkAAJkAAJkAAJkAAJkEBcEbCVAQzye/YekEateimHc/g531EDEiABEiABEiABEiABEiABEiCBzCZgOwP45MlTsnbdZuVwntmAKD8KBJgECZAACZAACZAACZAACZAACdiAgO0MYBswYRZIIKoEmBgJkAAJkAAJkAAJkAAJkIA9CNAAtkc5MBck4FYC1IsESIAESIAESIAESIAEbEPAtgbwjl175NGnBkqP3i+H7F57c5gcO3bCNnCZERIggXgnQP1JgARIgARIgARIgATsRMC2BjDW/3759RT5eNj4kN3gT8bI/gOH7MSXeSEBEiCB+CVAzUmABEiABEiABEjAZgRsawDbjBOzQwIkQAIkQAJhEWBgEiABEiABEiAB+xGwrQGcJ3eK+u7v18Nfl1DdZx8+LwUL5LUfZeaIBEiABEiABOKLALUlARIgARIgAVsSsK0BnCslWW5sWkfa3dQwZFe/zpWSlJRoS9DMFAmQAAmQAAmQQLwQoJ4kQAIkQAJ2JWBbA9iuwJgvEiABEiABEiABEiCBdAjwFgmQAAnYmAANYBsXDrNGAiRAAiRAAiRAAiTgLALMLQmQgL0J2M4ATknJId1ub6kczu2Nj7kjARIgARIgARIgARIgARL4lwAPJGB7ArYzgHMm55Bn+/ZQDue2J8gMkgAJkAAJkAAJkAAJkAAJkIAQgRMI2M4AdgI05pEESIAESIAESIAESIAESIAESMCLgENOaQA7pKCYTRIgARIgARIgARIgARIgARIggcgIxMoAjixXjE0CJEACJEACJEACJEACJEACJEACUSZAAzjKQM8nx18SIAESIAESIAESIAESIAESIAG7EaABbLcScUN+qAMJkAAJkAAJkAAJkAAJkAAJ2JAADWAbFgqz5GwCzD0JkAAJkAAJkAAJkAAJkIA9CdAAtme5MFck4FQCzDcJkAAJkAAJkAAJkAAJ2JYADWDbFg0zRgIk4DwCzDEJkAAJkAAJkAAJkICdCdAAtnPpMG8kQAIk4CQCzCsJkAAJkAAJkAAJ2JwADWCbFxCzRwIkQAIk4AwCzCUJkAAJkAAJkID9CdAAtn8ZMYckQAIkQAIkYHcCzB8JkAAJkAAJOIIADWBHFBMzSQIkQAIkQAIkYF8CzBkJkAAJkIBTCNAAdkpJMZ8kQAIkQAIkQAIkYEcCzBMJkAAJOIgADWAHFRazSgIkQAIkQAIkQAIkYC8CzA0JkICzCNAAdlZ5MbckQAIkQAIkQAIkQAIkYBcCzAcJOI4ADWDHFRkzTAIkQAIkQAIkQAIkQAIkkPkEmAMnEqAB7MRSY55JgARIgARIgARIgARIgARIIDMJOFQ2DWCHFhyzTQIkQAIkQAIkQAIkQAIkQAIkEB6BaBnA4UllaBIgARIgARIgARIgARIgARIgARLQTIAGcFSAMxESIAESIAESIAESIAESIAESIAG7E6ABbPcSckL+mEcSIAESIAESIAESIAESIAEScAABGsAOKCRm0d4EmDsSIAESIAESIAESIAESIAFnEKAB7IxyYi5JwK4EmC8SIAESIAESIAESIAEScAwBGsCOKSpmlARIwH4EmCMSIAESIAESIAESIAEnEaAB7KTSYl5JgARIwE4EmBcSIAESIAESIAEScBgBGsAOKzBmlwRIgARIwB4EmAsSIAESIAESIAHnEaAB7LwyY45JgARIgARIILMJUD4JkAAJkAAJOJIADWBHFhszTQIkQAIkQAIkkHkEKJkESIAESMCpBGgAO7XkmG8SIAESIAESIAESyAwClEkCJEACDiZAA9jBhceskwAJkAAJkAAJkAAJ6CVAaSRAAs4mQAPY2eXH3JMACZAACZAACZAACZCALgKUQwKOJ0AD2PFFSAVIgARIgARIgARIgARIgARiT4AS3ECABrAbSpE6kAAJkAAJkAAJkAAJkAAJkEAsCbgkbRrALilIqkECJEACJEACJEACJEACJEACJJA+AasGcPqp8i4JkAAJkAAJkAAJkAAJkAAJkAAJ2IwADWBLBcJIJEACJEACJEACJEACJEACJEACTiNAA9hpJWaH/DIPJEACJEACJEACJEACJEACJOBAAjSAHVhozHLmEqB0EiABEiABEiABEiABEiABZxKgAezMcmOuSSCzCFAuCZAACZAACZAACZAACTiWAA1gxxYdM04CJKCfACWSAAmQAAmQAAmQAAk4mQANYCeXHvNOAiRAAjoJUBYJkAAJkAAJkAAJOJwADWCHFyCzTwIkQAIkoIcApZAACZAACZAACTifAA1g55chNSABEiABEiCBWBNg+iRAAiRAAiTgCgI0gF1RjFSCBEiABEiABEggdgSYMgmQAAmQgFsI0AB2S0lSDxIgARIgARIgARKIBQGmSQIkQAIuIkAD2EWFSVVIgARIgARIgARIgASiS4CpkQAJuIsADWB3lSe1IQESIAESIAESIAESIIFoEWA6JOA6AjSAXVekVIgESIAESIAESIAESIAESCByAkzBjQRoALuxVKkTCZAACZAACZAACZAACZAACURCwKVxaQC7tGCpFgmQAAmQAAmQAAmQAAmQAAmQgC+BUA1g31i8IgESIAESIAESIAESIAESIAESIAGHEaABHFKBMRAJkAAJkAAJkAAJkAAJkAAJkIDTCdAAdnoJ6sg/ZZAACZAACZAACZAACZAACZCACwjQAHZBIVKF2BJg6iRAAiRAAiRAAiRAAiRAAu4gQAPYHeVILUggVgSYLgmQAAmQAAmQAAmQAAm4hgANYNcUJRUhARKIPgGmSAIkQAIkQAIkQAIk4CYCNIDdVJrUhQRIgASiSYBpkQAJkAAJkAAJkIDLCNAAdlmBUh0SIAESIIHoEGAqJEACJEACJEAC7iNAA9h9ZUqNSIAESIAESCBSAoxPAiRAAiRAAq4kQAPYlcVKpUiABEiABEiABKwTYEwSIAESIAG3EqAB7NaSpV4kQAIkQAIkQAIkYIUA45AACZCAiwnQAHZx4VI1EiABEiABEiABEiCB8AgwNAmQgLsJ0AB2d/lSOxIgARIgARIgARIgARIIlQDDkYDrCdAAdn0RU0ESIAESIAESIAESIAESIIGMCTBEPBCgARwPpUwdSYAESIAESIAESIAESIAESCA9AnFyjwZwnBQ01SQBEiABEiABEiABEiABEiCBeCcQzACOdy7UnwRIgARIgARIgARIgARIgARIwGUEaAAHLFB6kgAJkAAJkAAJkAAJkAAJkAAJuI0ADWC3lWg09GEaJEACJEACJEACJEACJEACJOBCAjSAXVioVCkyAoxNAiRAAiRAAiRAAiRAAiTgTgI0gN1ZrtSKBKwSYDwSIAESIAESIAESIAEScC0BGsCuLdrwFTt37pz8NO9XuabhHWLkqq5c3pIN5PF+g+TgoSPhJ8gYJOA4AswwCZAACZAACZAACZCAmwnQAHZz6YahG4zfAW9/LvWa9ZDfl6+VDm0aSedbmkuWLEnSf+Bwadr6ftmz90AYKTIoCZCA4wgwwyRAAiRAAiRAAiTgcgI0gF1ewKGqt2DRH/LMS4OlfNlSsuznr2TUsFflsw+fl3W/jZeG9WvKzwuXyTsfjgo1OYYjARIgAccRYIZJgARIgARIgATcT4AGsPvLOCQNR379g5w8eUp633OzlLuoZGqc3LlyynN9e0hSUqJ8N2Wu7Nt/MPUeT0iABEiABFxDgIqQAAmQAAmQQFwQoAEcF8WcvpIwan9e+Iek5Mwhda6pmiYwRoVLlSgiGzdtlR0796S5Tw8SIAESIAEScDYB5p4ESIAESCBeCNAAjpeSTkfP48dPyq7deyVvnlxSqGC+NCGTk7NJyRKF1UZYXAecBg89SIAESIAESMDZBJh7EiABEogjAjSA46iwg6m6fcdu+WfPfjXNOSEhbZVISkyS5BzZ5fTpM5amQF9SvZ30evg1OjJgHWAdYB1gHWAdYB2wXR3gOwrf0VgH9NWBYPaITv+01o5O6ZRlKwIY5cVor3+msmXLKgXy5/H3Duv61OEdQkcGrAOsA6wDrAOsA6wDrAO2qgN8P+M7qtY6kJwtLBMiJoFpAMcEqzMT3bJ1pxw5cjxN5jHye+TosTT+oXqsWjxG/pj9Dh0ZsA6wDrAOsA6wDrAOsA6wDtioDvD9VPc7enI2I1QTImbhaADHDK1zEsba31y5ktUU57Nnz6bJ+PETJ9QU6ezZL5AihQukuU8PEiABEiABEiABEiABEiABhxGI0+zSAI7TgvdWO1dKsuTLm1ut78VmWN73cI5RYYwO45NI+fPlhhcdCZAACZAACZAACZAACZAACTiOQMK/OeYhjgnkyZ0il1QsLYcOH5XlqzakIbF02Wr586/tcnnlClKUI8Bp+NCDBEiABEiABEiABEiABEjAGQRoAKtyiu+fpKREadfqegXh+Vc/lr+2/K3O8bN330HpP3C4nDt3Trre2kIwDRr+dCRAAiRAAiRAAiRAAiRAAiTgNAI0gJ1WYrHIryfNtq2uk+5dW8u6DZsFny3q2LWvwJWt0kpm/rRY3UMYT1D+TwIkQAIkQAIkQAIkQAIkQAKOJEAD2JHFFv1MZ8mSJG+//qgMGvCYYFOs0eOmCVzhQvlk1LBXZfBbfQVhoi8581NkDkiABEiABEiABEiABEiABOKDAA3g+CjnkLTE9Ob7e3aUbWsmy7mDi5VbvWSsdGjTSBITWVVCgui8QMwxCZAACZAACZAACZAACcQNAVo1cVPUVJQESCAtAfqQAAmQAAmQAAmQAAnEEwEawPFU2tSVBEiABLwJ8JwESIC8FtUhAAAQAElEQVQESIAESIAE4owADeA4K3CqSwIkQAIkcJ4Af0mABEiABEiABOKPAA3g+CtzakwCJEACJEACJEACJEACJEACcUmABnBcFrs+pfH94O1/75ZJk3+SMROmy6o1f8qZM2djmoFTp07LT/N+VTJ37tobsazDR47KrDlLVP6ffeVD6dH7ZfVtZOizYtVGgTwrQsBmz94Dsmv33pgzCZQ/6PX3jn8EjKzqECjd9Pygs876AL1YF9Irkf/u6a4PrAv/sfc/A5t4ejZAX/3Phei1ESg//P2wnQCJyJzuuoDcsp0AhYwd6jjfGTLm5B0CzPhc8CZin3MawPYpC8fmZPqshfLY028rQ85biQMHD8st3Z6S4hWbScuOD0v7zo9LpRrtpWK1NrLo15XeQcM6n7fgd6nT5C4pVam5dL//Jdm6bVdq/N+WrZWyl7eSes16KJlFyjWWN975QtCoSpj/1q7fLI1b3SspRetKg+Y9Vf5feO1j+XjYeHm83yB1XfmqDpKtYC3p/dgAOXjoSFgSduzcI9Vq3yqFyzZWTIaP/E6OHTsRVhrhBEYjP8bTCVGjXmcxclVXehWr0FTAKGv+qwWuaev75bsf5kZkkE/XWB9YF8KpAb5hddQH1oUBYT8XUEpufDa4sS6grBzbTiDzAZzbngtQke0EKITvdNQF5MqNzwY+F1Cy9nY0gO1dPrbP3fHjJ+XNd0eoEdIsWZJ88vvBkLEyauxUSUhIkAZ1q0u321tKxfIXyoY/t8oNbXsLRk99IoRwsXDJCrmx/YMy9+ffZMvWnfLJZxOkVqM7BIYvDOFbuj2p/CGnWaNaSnafZwbJjx6jLITkU4NgpLpes+4ybeYvKo3LLi2n8t+9a2sxHfS59JKL5OzZs/LOh6Okza2PCYz+1ETCOAGTLj2flfylr5OX+g8RjP5IFP8hX2YnxOKlK9OkjE9gobH7YfrPii86GMAzTcAMPHTWB9aFDAojnds66gPrQuTPBRShG54NbqwLKBu2E3f5dECDSUZOZ11AXoK1E3xnAJ3gTkcbAek66wPrAoiH73TVhfBzFlkMGsCR8Yv72PjDWL12k1S6uIzkzZMrlcehw0fl2ylzpGiRArJi4WiZ8e0HMuS9frJq8Rj56tNXZO++gzJ4yJiwRmZPnz4jb703Qo2ovPLsvbJl1ffy7dcD1ajpo08PlP4DPxPk5fUXeis5348dJD9P/1RypSTL0M8nCuKnZjCdE4wWv/fx14JRmAfuuUUObp8ty37+SuX/o0FPiemgz/JfRsuBbbPlnrvaCXox33rvy3RSDnyrTq0rZMGMYdK6RQOlyzMvDZYCpRtK5x79ZM26vwJHCtMX+Zry43ypUa2SzJ06RE7uWSDnDi6WPxaMknx5c8nQ956V0/sWytK5X0qjBlfJzwuXSdd7ngvboNdVH1CWrAthVgKv4DrqA+tCZM8FFJdbng1uqwsoG7YT1toJXXUBZcR2AhQCugw9dbQRyISu+sC6ANrWnK66YC131mPRALbOjjE9BDD6iQeL59Tn/8MeA3jzlh3SoE51Nepr3jQMQ9q0vE5a3lBXflm0XPYfOGTeyvCIsMuWr1cG2oO9OkmJ4oWkeZPaygj++ZdlahT2xqZ15P6eHcUwDJVetcsvlob1a8j6DVvl0OEjyi+jnz17D8jMnxZLk4bXyKvP3SfJObKnGwUGNsJdVb2yMoJh/Kcbwe9mQoIhGEkeN2KAbF75nfTq3l6NOn/+1fdy8ZVtpWb9zjJj9iLL05L37T8o302ZKxdXKC2TRg+Ua6++XMzR+nIXlZSra1wmn3/1nVrLXLVKBZk87h1BBwMMeuTBL7vpXuqqD6wLZ9Mth/Ru6qoPrAvJ6vlh9bmAMnTLs8FtdQFlw3bCWjuhqy6gjNhOWGsndLURKCNd9cG3LnTi+yPgh+B01oUQshPVIDSAo4oz/hLLli2rFCqYT44cPRZwhDUpKTHVGDXpwPiC0YjNnzD9xfTP6IgpujCsCxfKJ9mzX5AavOaVl8pNN9ZXcu7t0d7nHuTDgA1HVjA5qQIDnOTOlVMZ+jD6kccAQULyKlmisLz3xuOyb8tMefHpe5QuWC/dsMU9ctFlLWXYiEmKtYTxD4yhPziBnXdUlF+B/HnUyDl6YnEvMTFBetzRRq64vKJMnjpPEB/+oTikp6M+BCsj6Mi6kH5JoTx11AfWBZFoPRdQok5+NritLqA8gj2DcC+Yi1Z9YF0IRtjXP1gZsZ3w5eR/pauNgFy3PRuC1TnoGsxpfy4Ey0gAf511IYD4mHrRAI4pXvcnnid3ilSuVNZjKM2XJb+tSlU4V65kKV+ulDLW/EeIcQ2DGcZpQkLoVRBhESdVyL8nWCM3c85iNZ36nz37//W1foCBnjNnDmXQY5pbKCkhHPQKJWwoYdBB8HSfO2XPphny2YfPS6kSRWTz1h1yxz3PS8Ey1ws248KDNpS0QgmDvKMn1gybP19uuaxSOR/D2LyX3lFXfWBdiF1dQPlGoz6wLoh6JoElmEbLOfHZ4La6gLJkOyFipZ3QVRdQRmwnYtdO4LnGdwbUMl/H54K154IvxdhemamHbn2YMXgkAS8ChmGozaFOnzmjdkXGVF0Ygxh1xVrSBYuWy5ZtO1NjnDlzVr6e8KOMnzRLjTCiAU29mcEJeskwjRcbYG3avF2FhiH9/Ksfq/W6F5Ys6jEMP5G/tvyt7uEH09T+WLleSpUsIjBq4ZeRQwNdpXI5mfDtLJn/y7KMgqv7GKX93jNais6AvF5rodXNCH4w0t35luay8Y9vZPqkwYIpytgpesjwiRKqsY/8IF/e3MwsgQ82cgEbPLhNf/Po38iZ/sGOhqGnPrAuWKsLKDdd9cEwWBdi9VxAOTrp2WAY7qoL4M92AhTOu3DaCcPQUxeQM7YT1toJXW0Eysgw9NQH1gX71wXUB50uTg1gnYjdL6v2NVXljVcekm3bdwum6hYp10Q6du0rWHOxd98Beer596TXw68pP3x2p1O3pxSUnt3aSqARXXUzwA+mytx+s8cY3LRNKlzRRn0GqfBFjeWLUd/LXV1uksnjBgm+uXbTLY/InPlLZd2GzXL/o/1l6e9r5IoqFSXFM6obINk0XsjTQ/feKlmzZpHaje9Um1H9OHOh4Pt33m7rtl0yedp8we7N1zS8Q+l7S/smgnymSTRCD0xLvq5eDfl1zgj5ff5INeUb+QslWeQH+dro4XZ9i14y7psZShcY99hoCy/p2KXbuzMCLzToXMB0ZsQPRY4ZRkd9QJ5YF0aEXRdQRmCnqz6wLsT2uYDydMqzwU11AdzZToiaJWWlndBRF1BGeNaxnQi/nQA3XW0EyklHfYBOrAv2rwuoD7ocDWBdpO0kJ8p5MQxD7uvRQX6ZOUxtqIT1haPHTZPX3hymdjUeOeYHGfzJGIEf7pUtU0LtCo0R4nCz0rbVddLnwc5qwyZ8BgmNb7ubGsqAlx6QSyqWkXcG9JFly9dL3abdlZEM2Vgv9eC9ncIShTVCXw59We0gjY2gGrXqJTDevV3JS24QfM5p+Mjv1KeQsGa3Y5vGYckJN7BhGFKlcnl5u/+j4m2wZpQO8oXPN2G6eNvb+ihdrm3UTTBqjTXA3T0dCIZhpCazc9ceWfzrKjW9HSMdqTdCODEMPfWBdcFaXUAR6qoPhsG6oOO5gDI1DGv1gXXhB7HSRoA52wlr7YRh6HkuoIzYTtj7uYAyMgw99YF1wf51AfVBl6MBrIt0HMipfkUl9dmhfzZNlx8mvCufvPuM+jwQDC98muibUW/KtjWTZd1v46Ve7WqWiGCaLtI69PdPMm/aUJXe6M9eU5vNIEE84H6a8rHawRkvNR3bNpYfvxksF5UujtvKhfrTrFEt2b5uiiB9pFu8WCG1O7MZv2CBvHL5ZRWk3xPd1e7NWLOL/Jn3MzqmpOSQbre3VLtiZ7vggoyCR3Qf+Rr8Vl+1YzZ2twabiuUvlKce66Y+8QQ9vAXkyZMiH7zdV+0GbRj/GcbeYTI6j3V9gE6sCxmVQuD7YKezPrAuJAUuiCC+bn42uKkuoPjYTlhvJ2JdF1A+eNaxnQCJ8By46WwjkLtY1wfoxLoA0uE5cNNdF8LLobXQNICtcWOsdAhgZLLxdVfLnZ1byftvPqG+m4tR2xbN6kqxogXVbs3pRA/pVs7kHFLrqioB08NnfqaMf0cZpfjmcIVypUJKM1AgrGVu3/p6GfN5f9m6+ns5s3+h+n4uvqG7a+M0+W3el/L8kz3VCEKg+On5QYdn+/aQ3nffHNZU8PTSTO8epko2b1JbTDarl4yVl57pJUWLFEgTDXo3vb5WwHtpAmfgEev6AI6sCxkUQoDbmVEfWBcCFEQAL9Rptz8b3FIXUHx4XrKdAAlrLtZ1AbnC3xTbCZAI3WVGG4Hcxbo+sC6Acngus+pCeLkMLzQN4PB4MTQJkICjCTDzJEACJEACJEACJEAC8UyABnA8l34m6n7XfS9K2SqtZOeuvTHPRSSy8G3cqTMWyKw5S9QmV8Eyi7XI17fspUWnSPQJlv9A/rrkQLYuWZHIcUVdAGyLLhJ24Yh0ghw71gUwdgI75DNU5xR97FgfnMLObnUB+YmEHeuC/d/rUMahOtaFUEn5houEm29KsbuiARw7tkw5HQL4hi12Gvb+jlw6wSO6ZUUW4jzeb5DkKVFfmtx0nzRo3lPylmwg1zS8Q1au3pgmP/j00+nTp9WumLHWCXk7ffqM2ngrTUai6KFLDrKsS5YVOYgT73XB7mWE/IXivMOgXMP9O0Icu9YF6Ib8hasT4oXrKOc8MXCwa31A3lgXzpdTuL9W2CEO68JpLe9AKE/wtmv9Rt5YF/TVBdQHK44GsBVqjON6AvjObv+Bw9PouWDRH3LZ1TfL24NHCr5pnCYAPVxHgHXBdUVqWSGH1wXLejNiYAKsD4G5xKMv60I8lnpgnVkXAnOxmy8NYLuViMPyg88a4Zu8Rq7qEo7Dp4PCVVWXLExnHjNxusoedng+unOe2vgKu1tjwytsBvDg42/IfY++rj7HpAJa+NGljy45QKBLli45bqsLbiwjt9UFltF/bUm47UT6deG/dP3bqnDloIzc9mzQxU6XHJSRLlmsC+f/tqz8HekqI11yWBes1wX8zep0NIB10nahrHPnxDMSekaLZrpkHTx4RNat3ywXVygtve5qL9mzn/9EEXYmhEG8duk4wXb9HwwZK/c+Yt0I1qWPLjmoBLpk6ZLjtrrgxjJyW11gGYGANaerLiB3jns2INPpOF3sdMmBqrpksS6AtjWnq4x0yWFdsFYPMiMWDeDMoO4imYUL5ZNe3dsrjfCpo+1rp0gort1NDVWccH50ykK+IC85ORtOfVzpUsXkx0nvC3T4eNh4ZQSfOHHKJ0woF0hfBztdcqCzLlm65EAnOMhzQ10wdXFTvUPZ6NAH7OAgL5Z1wZShQyfoQjlT1LMc3K04MIxlfUD6LCNrZeTN51ku/QAAEABJREFULtbvJ6g7kMe6ABKhOzBzU/02NYderAsmDXseaQDbs1wclSuMkt7YtI589Ol42bJtp/p2bNEiBdI95sie1rAMRWkdsnLlSpby5UrJ7n/2y/HjJwNmK3eunPLJu8+oFycYwXc/+IocOXI8YNj0PHXoA/m65OiUpUMnN9YFt5WRLn101gVdOlHO+XbKSnuksz7oeNa5sS7o0skBdQEownK66hwypUuWDjmsC9afqagLOh0NYJ20XSoLU4Tfeu1hNVX4yeffE3wGIFaq6pCVnCO71L6mqqxa86csXroyqCowgod98Jzc1vEGGTNherphgyWSPfsFooOdLjnQU5csHXLcWBfcVka69NFZF3TpRDkgYM3prA86nnWg4DY5unRiXQBp6y729e583nTIYV04z9oJvzSAnVBKDshjuYtKypD3+gk2GlixamOGOb6uXg1p2+o6SUnJkWFY/wA6ZN1xWwuBnNfeHCaHjxz1z0LqNR52H7zdVxnBqZ5hnkCODna65EB9XbJ0yHFjXXBbGenSR2dd0KUT5YhYbY901gcdzzo31gVdOrEuWP870lVGuuTYri5A8X+d1WedrufPv9nUcqABrAVzfAhp1qiWLPv5K6l1VZUMFe7S6UZ589WHJWdy+AYwEo+1rAtLFpVf534hY78YIDByITOYw/2PBj0lUye+J0Pf7ycF8ucJFjSof6z1MQXrkgN5umTFWo5b64Kbygi6wLmtLujQCTLgYs0OMuDcJMetzwY3lRHqHFysdWJdELH7ex3qARzrwsOW3r1jzQ1lEwsXLE0awMHI0D/uCcA4x87PhmFkyAJTaxo1uEoa1q8pWbIkZRieAZxFgHXBWeUVy9yyLsSSrvPSZn1wXpnFKsesC7Ei67x0WRfsX2ZxYgDbvyDclMP9Bw7J3zv+kVlzlqi1sQuXrFDXwTaUikR3XbIox3opkZ01drq4IXe6ZFEOaFtzZGdvbsgdywgUwne6uCFnumRRDmhbc2RHbtYIhBeLBnB4vJwZWkOuDx46Ii/1HyJ5SzZQrliFptKgeU9p3/lxuapBF8F19kK15OIr28rocdPkzJmzlnOlSxblsIzMSuq2ugC93KaT2/RhGVlvJ3TVBZYRywh1wHS66p3b5ICf23SiPtbfH1EfdDgawDoou1wGRnsbtewlz7w0WNBzl5CQIMWLFZKSJQqnOlzDf826v6Rj175yz0OvyqlTp8MmY0WWFVmUwzIyK6fb6gL0cptObtOHZWS9ndBVF1hGLCPUAdPpqndukwN+btOJ+lh/f0R90OVoAOsi7WI5H346TjDNue611WTFwtFyet8vsnX197J55XepDtcn9yyQpXO/lBrVKgm+nTtk+MSwqeiS5SI5irEufSBMlyzK4d8R6huc2+qCG3ViGVlv+9zGTpc+/Duyf51jGdm/jHT+vaI+6HI0gHWRdqmcffsPyndT5iqjdtyIAVLp4ovEMAJvGpWYmCBVq1SQSaMHysUVSsuYidPlyNFjIZPRJYty3FRGIpHUO7fVBfyxuU0nt+nDMrLeTuiqCywjlhHqgOl01Tu3yQE/t+lEfay/P6I+6HQ0gHXSdqEsbGyFb/9eUrGMYMfkUFQsXCif1LzyUlm3frMcPHgklCgqjC5ZlCPCMlJVThxfF86r4fPrNp3cpg8Ky206uU0flhEIWGsndNUF5FCXLMqxVhdYRiBgjZ3b6tx5Enp/aQDr5e06aQkJCZKUlCg6/umSRTnWS5PsrLHTxQ250yXLDnKgb7ScLn2QX12yKAe0rTmyszc35I5lBArhO13ckDNdsigHtMN3uriFn7PIY9AAjpxhXKeQO1dONZ152sxfZP3GLSGx2LR5u8z9+TcpU7qYpKTkCCkOAumSRTkiLCPUOBG31QVo5Tad3KZPFMsISaXr3MZOlz6AqksW5bA9Qn2Dc1tdcKNObisjXfqgLuh2NIB1E3eZvGzZskrPbm1l5669cmWd2wQbW+3ZeyCNlufOnRNMlR42YpLUa9pDNm7aJs0aXSs5k0M3gHXJopxJLKN/a7Db6gLUcptObtOHZbRXrLYTvnWB7VE4bawudrrk8O+If0eoA6bTVe8ox/r7o1lWuo40gHWRdrGcFs3qSP8Xewu+e3bXfS9KgdINxchV3ccl5K4hhcs2ljvueV42b90h7W5qKHff2TZsKrpkUQ7LyKycbqsL0MttOrlNH5aR9XZCV12wfRlZaGN1sdMlh2XEvyPUAdPpqneUY/390SwrHUcawDoou1yGYRjyyP23yeolYz2jwW2kUMF8ATXGWoJrr75cvv16oHz16atqemnAgOl4GoYeWYZBOSyj8xXRMNxVF6CVYbhLJ8Nwlz4sI+vthGHoqQssI3uXEcoHzjD01AfDoBy+M6DGifoSio53YsNwV50Tzf9oAGsG7mZxFctfKB8MfFJ2bpgqZw8skn82TZfta6fIjvVT5eSeBXJm/0KZO3WING9SW32aJhIWumRRjvVSIjtr7HRxQ+50yaIc0LbmyM7e3JA7lhEohO90cUPOdMmyiZyovW/p0odlZN0c01VGuuSgLuhw1onryB1lOJaAYRjqs0hFixRQn9TJkiUpZroYhh5ZhkE5VgvRMMjOCjvD0MMNeTMMPbIMg3LA24ozDLKzMzfkzTBYRuAQrjMMPdyQL8PQI8swKAe8rTjDiIRd6BINg3JCp/VfSMPQw+0/idE/owEcfaZMMQMCp0+fkUEffCXPv/qRHD5yNIPQkd3WJYtyrJcT2Vljp4sbcqdLFuWAtjVHdvbmhtyxjEAhfKeLG3KmSxblgLY1R3YZcAty223cgqgZsjcN4JBRMWB6BFau3ijN2z0giXlqStb8V0udJnfJdz/MlTNnzqaJdvzECRn3zQwZ+vk3cuhQ+AawLlmUwzIyK6/b6gL0cptObtOHZWS9ndBVF1hGLCPUAdPpqndukwN+btOJ+lh/f0R9iMSFGpcGcKikGC4ogYVLVsi1je6U76fOk7Nnz8qpU6dl7s+/yY3tH1SG8KbN24PGDfeGLlmUE27J/Bee7P5jEc6ZLm7Iky5ZlAPa1hzZ2ZsbcscyAoXwnS5uyJkuWZQD2tYc2ZGbNQKRxXKpARwZFMYOnQCmVLz13gjZf+CQlC1TQj58+0n5evjr8uLT90jBAnnl54XLpEa9zjJj9qLQEw0SUpcsyglSACF4k10IkAIE0cUNonXJohzQtubIzt7ckDuWESiE73RxQ850yaIc0LbmyI7crBGIPBYN4MgZ2i8FjTmC4bts+XrJkztFJox8Q3rc0Uba3dRQnu5zp/y14lt59bn7ZO++g9Kiw0NqSnQkWdMli3KslxLZWWOnixtyp0sW5YC2NUd29uaG3LGMQCF8p4sbcqZLFuWAtjVHduRmjUDksWgAR84wrlPAdOfDh4/K5ZeVl9IXFvVhkT37BfLEw13lh/HvStasWaRD5yciMoJDlRWpLMqZ61OO4VyQnTV2urihLHXJohxrdYFlZL2d0FXnWEYsI9QB0+mqd26TA35u04n6WG/3UB90OhrAOmm7UFa2bFmlUMF8arOrc+cCK3h9g5ryw4T/jOBvJ1v7A9Ely+Fy0hSCLn0gWJcsynlC+HeEGifitroArdymk9v0YRmd79C28gzSVRdYRiwj1AHT6ap3lGP93cQsK11HGsC6SLtUTp7cKVK5UllZvnKD/LX576Ba1rzyUpn2zXuSI0c26XTnU/LTvKVBwwa7oUsW5Ti5jHxrT6T1zm11AXTcppPb9GEZWW8ndNUFlhHLCHXAdLrqndvkgJ/bdKI+1t8fUR90OhrAOmm7UJZhGNKpQ1M5eOiIfPLZBDkXbBjYo3v1KyrJ5HGDJH++3OmG8wQN+L9h6JFlGJTDMjpfBQ3DYXXhfLbT/TUMd+lkGO7SB4VnGO7SyTDcpQ/LyHpbbhh66gLLiGWEOmA6w9BT7wyDcqy+P5plpetIA1gXaRfLub5+TRn+0fOSN0+KHDl6LF1NYQRPm/i+4FihfCm1NjjdCH43dcmiHJaRWfXcVhegl9t0MvWJ9TNIlxyWUSWx2k6wjOzPjmXEMsIzznS66gPlWHuv08XNrA+6jjSAdZF2sRzDMOTWDs3k2b49JGdyjgw1rVqlgiyaPVy94KCnKMMIXgEMQ48sw6AcltH5imcY7qoL0Mow3KWTYbhLH4tlZOm5ahjuYmcYevRhGYlYbcsNg2Vkd3aGwTJiGeEpJ2IY+uqCaPxHA1gjbIoiARIgARIgARKIBQGmSQIkQAIkQAKhEaABHBonhoqAwOP9BsnFV7aVXbv3RpBKaFF1yaKc0MojUCiyC0QlYz9d3JATXbIoB7StObKzNzfkTmsZaWhj3aYPywgErDlddQG50yWLckA7fKeLW/g5Sz8GDeD0+fBuFAjs2LlHjh07oT6VFIXk0k1ClyzKSbcY0r1JduniCXpTFzdkQJcsygFta47s7M0NuWMZgUL4zgq38KWcj6FLFuWc523ll+ysUBNxGzdrFILHogEcnA3vkAAJkAAJkAAJkAAJkICdCTBvJEACYRKgARwmMAYnARIgARIgARIgARIgARKwAwHmgQTCJ0ADOHxmjEECJEACJEACJEACJEACJEACmUuA0i0RoAFsCRsjhUOgerVKUqF8KcmaNUs40SyF1SWLciwVj4pEdgpD2D+6uCFjumRRDmhbc2Rnb27IHcsIFMJ3urghZ7pkUQ5oW3NkR27pEbB6jwawVXKMF5DA8eMn5d5HXpf6N/SQ7X/vVmHu79lRpk18X/Lny62uo/WjS5YuOYG4xIqdvyxdciBXlyzKAW1rjuzszQ25YxmBQvhOFzfkLBaydLVHuuQcPnJUXntzmMz/ZVnqRpmx4Iby0CWLckDbmsOGqZOnzZc/VqxPTcC/Ppw+fUZmzVniEyY1cIgnbpMTSG1/boHCRMNPl5xo5NU7DZcYwN4q8TwzCezbf1C+nTxHNWQpKckxzYouWbrk7Nl7QBq16iXvfDgqXW7nzp2TKT/Ol14PvyYvvv6J/LNnf7rh/W/qkmPKxU6Ez77yocxb8Lvp5XOELg/3fVO2btvl4x/uhdvkmPrjRXThkhUyZsL0VLdqzZ/qb8wME62jTlnRyjPTIYF4IqCrPdIl59ChozL4kzFybaNuUqB0Q3nkybdky9adMSlSXbIox3rx7T9wSO5+4BX536DPgyaSmJggHw8bL916vSCop0EDpnPDbXK8VdXVjuuS461bNM9pAEeTZmalZSO52bJllUIF88mRo8fk5MlTMc2ZLlm65IDX2nWbZfbcJcrQgYELB8MHvZUmzB9nLZTm7R5ULw39Xv5Aal3fTf7a8rd5O8OjLjlmRj4YOlZe6j9Ejh47bnr5HJNzZJf3Pv5aPhk+wcc/3Au3yUFHB14M813YQK5q0EXad3481VWq0V5KVWouM2YvChdTwPA6Za1cvVFuvuNJlX/oEMihIwgdNQEzG6KnU+VAb+gfiMesNW8AABAASURBVEsofoiLNDLChDAIG0qagcIgLtLISE56951aRpmpk672SJecIoXzy4eDnpTrG9QUGCVvvjtCPRvKXX6TDBsxSQ4cPCzR+qdLlh3kfDh0nET692lyT0+faMox5YV63LV7rxw/fjLU4JbDOUXOmTNnZdAHX0mu4nVj+s6gS47lAgsxIg3gEEExWGgE8ubJJU883FV+/2Od4OPY3oZbaCmEHsqUFWtZuuSYmo+dOEMZOjB+4GD41G3aXY2QYurP0M8nSrYLssrYL/rLS8/0kvUbt8inX0wyo4d81CHn0OGjMt1jsDdqcJXUvrpqwLxVv6KSNKhTXYVD+ICBMvBEPDfJgbqjx01TywnwN1Sx/IXS7faW0r1ra+l8S3MpVrSgWmLQqNW9Mm3mLwgekdMla9Lkn6TqtZ1k1NipapQHIz2B3MY/twnqulWlnCzH7KAKxCUUP3SiIY2M2CEMwoaSZqAwiIs0MpIT7L6TyygzddLVHumSYxiGNL2+llomdXjHHBn92WtSo1ol2fDnVrnjnuclT4n6amYU6supU6eDoQ/J3zD0yDIM/XL2b50ln3/8glStUkGxu/vBV9SIeqNWvSRSdobxnz6xkINyRfs9ZsJ0+XbKHDl46Ij8+dd2NRAAP3/3QJ//ydcTflSDLeioCanwPYHcJsejks//I8dMEbCBnsHeGZq17S1z5i/1iRfuhS454eYr3PA0gMMlxvDpEsAfXq5cydK6RX0ZMnyi1Kh/u/To/XJA9/yrHwnWyqSbYDo3dcnSJcdb1e4eQ2ft0nHyx4JRcsdtLWXx0pVqShBGUf/e8Y80a1xLWt5QTx7odbPUvfYKmfvzb2rU3TuNUM5jLeewxwDevGWHFC6UT7JnvyBgluCP+wiH8AEDZeCJeIiPdJBeoODwx32EQ/hAYTLyQzzERzpIL1B4+OM+wiF8oDAZ+eHvYvCQMZIlS5JMGPmGrFo8Roa8108+GvSUfPbh87J19ffy6eBnVTID3/syol5wXbLQU//BkLGCv6fHH+oi29ZMlrMHFsm5g4vTuA3LJqo6oxQM88fpcjDa8uvcEbJ97RRLDnGRRkbYEAZhYy0nUD6cXkaZqRP+fnS0sbrkeLPEbKD2ra+XhbOGyz+bpssHA58UvMj/OHOhtOz4sOQuUU/u9hh2mDmAWSveccM91yVLl5zcuXLKbR1vkKVzvwzIrnq926MyIhwLOVjGhenM6OzH+yJmAsBIw3Ugh2ViqJ+3dmwqeT2DLqGWvdvkeOuNdvyTzyaozWYDvTNsXvmdfPLuM6pj+bU3h1l+Z9Alx1u3WJ3TAI4V2ThN9589++Wue18UjC4CwYpVG9VaDazX8HdDP/9GDh06imCWnC5ZuuSYEJo0vEbefv1RKV+2lFSuVFbee+NxgR9G+nbu2iNHjhwXNKpJSYmSMzmHXFiyqKxbv1kOHjxiJhHSEWnGWk5CQoIgnxjNC/bCAn/cF0v/zkdymxz8Xfy5abu0a9XQ09FRVwzDOK/ov7+GYaiXHXQ0LV+5wfI6KCSnS9a+/QcFeW3b6jo1cwGj2Ibhq5dE4Z/T5RiGoTYMLFqkgFhx2GzQMDLmahh65AQqUqeXUWbqpKs90iUnEEv4oR7f1eUm+Xr469K8SW14CWbDYMrtpTU7SPmqrWXkmB/UC726GcGPLlk65fTs1kaw+WiPO9oI2sf9+w/JySgvS4M+0ZCTkpIjdYZTp/ZNlRFXulQxNeMJnfT+7vUXesuaX8fJA/fcElapu02Ot/IZteNYN92l041qcGr12k2WlxbokuOtW6zOE2KVMNONTwIF8ueRoe/3U40WGq70HMIhvFVSiIs00pNh3kM4hLciC/EQ30wrvSPCIbwVOWYcjB5iFNG8xjn8MJqIqb5Yj2Lei+SINJG2mQbO4RdNOegtvrhCafl+6jxZ9OtKU5TPEf64X75cKcHIhs/NEC/cJgcjvzlz5lCdB4YR2JhBx0JyjuwhEgoeTJcsU47ZeRM8R5HdcZucyGjYM7Yby0iXTmhf0M6k1w6Z9xAO4a3UAsRDfDOt9I4Ih/BW5ASKgyn3T7/4vhQt30SqXHOzfPfDXDWD6OH7blWjwmXLlFDTfJ/o947s/mdfoCRC9tMlS5ecPXsPyBvvfCFYQ12qUnP56NNxcvbsWalXu5rAAAwZTAYBoykHHfnP9u2hZjj97+UHpUih/GpmG2Y8BXJ9HuwsFTzvC4YRuG0MlnW3yfHW03z+4L3AMAJzwT20vxhwQJ3wjh/quS45oeYnknAJkURmXBLwJ4A/job1a0q7mxpm6BAO4f3TCPUacZFGrGXpkpPt3w3EsKEVppmYHNDrvXPXXilTupikeIwi09/7iAcbenm9/YKd65ID+ZDVs1tbOXjoiNRufKf0fmyAYD0S1ndNnbFAHnz8DcEnszDlCaOdeDgjXrjObXLQs96gbnXB7s8o+0A80BGy5LdVUuvqKlKwQN5AQULy0yXLlIM8I+8hZS6DQIFuu00OdMQsCbxwYvlDRg7hEB7xwnWIh/gZycB9hEP4cGUgvBvLSJdOutojXXJQH+BQnz4cOi7VcHt5wFBl3F5d4zL5ZtSbcmDrbHnjlYekp2dkE6N/86YNlZturK9GCxE/HKdLli452HT0i1HfyxW1O6l1v48+NVB1EKCjANPIMZ18+EcvqBlj4XDyD6tDDjpS0KHyaO/b/cVH9dptcsznT6zfGXTJiWphB0mMBnAQMPQmAd0EsJaledPaMnvur9KxS1/Bt/B+mP6z3HxHX8ERG0WdOHFKGZMrV/+pXg7QwP6xcr3HOC4uOXOGNhqoS47Jr0WzOvLOgMfUJdbuYC0Xeqeb3HSfvD14pJrW9sj9t8mdnVupMFZ/3CTHMAx57IHb1aeOnnrhPcXImwvWPz394mDZtn23PHTvrWqk2Pt+OOeGoUeWYRhyz53tBAb9I08OtLRmPRS9DMNdcqAzPvFVrfatUqxCU28X8BzhEB7xwnWIh/ixlmMY7isjw9CjU7hlavfw6Oxtc+tjynC7+8FXBJ2j6NDDNFcYbj9P/1RaNKur9kMwdcF0zlpXVZG3+z+qlguY/hkddcnSKadzj36Ss0gdub17P/lt2VrJkztFMFL+5/JvZN1v41WHAYyWjNikdx/66JCDPKDjpdZVlwum4KOjDX7+Dht/YlYADHL/e6Feu02OYYTejvd5oIvldwbD0CMn1HKMJBwN4EjoMW5QAhgZWLt+s/QfONxnAyxsjAWjLWhECzd0ydIh56F7O6kdMTEl+Ia2vaVp6/vlm+9/Ug+r5179SC67uqNau4FNscpUbqnWQS39fY3UvqaqWhccKj5dcpAfwzCkV/f28teKbwXTm1o1ryclSxQWjN73e6K7Wssz4KUHfF5wEC9cZxjOlIO/h0ateqlPf5Sq1Dz1WKfJXWqnZ/zNFK/YLNUfYQqXbSwfDxsvpUoWUd9XhkEcCi+dsvzzg5eoMRN+FKz9xWhFyYv/0xU6eTvwQF790wjl2m1yoHP27BfIZZeWU383+NvxdzAYEK5K5fJqLZ3VqY665ESnjKBx+k6XHORCpyzIc4s7dOioLFm6Sq1TxQ73KxaOlp0bpkqfBzuHZdyGwkOXLJ1y0GGO2V8d2jQSjIqj0wAj5VhDaxiBp8KGwso7DPTRIceUOeTziXLdjXfL9NkLTS+f47Ll66RFh4csff3COyE3ycFMwZFf/+BpXwtIeu8M6DRodcvDPu8T4bS3uuR4l1OszmkAx4psHKeLPzDs6FexWhvBp5Dwom66u+57UQpd1EiN/OFbYpFi0iVLlxysZf3264Gy+KfPpZ/HOHzsgc6yYMYw2fPXDMHOuVdVryyLZg+Xga8/IseOn1CbH+ETEjBow2GpS453nrChD0Z6sUMhdiT88Zv35fkne1pay+Odrv+50+ScPHlK8EkZrBHzd6h30G/f/oM+nw3CNfzxIoBdoNFbjuuMnE5Z/nnBSxQ2vkOecQ86+OtrXoMH8opw4Tq3yYH+GNXBcwF/N4EcdtTu3rW16jBpd9P1lqc66pLjxjLSpRPqA9rO0eOmqfWxiXlqipGrekBXtkorNeMCcaw4HXIwFRVTnI/smKt2uK908UVpNv2zkvdAcXTJ0inn689fl4PbZ8uoYa9KLc+oOEbHA+keiR/00SEHeUSbN+HbWYJ3HYz8w8/fofO85pWXCsIhvP/9UK4RD/HdIgfLyPDZTHRUQH//9hXX8EdnudnOmsdw2ltdcpDXWDsawLEmHIfpv/vhaBk2YpIa0cNL2cihr6hNsb745EW1LhiL7x964k3BaFCkeHTJ0iUHPNCAXVn1EmUc9n+xt2oIcqUky2vP36+MYdzD7od4YUBv7/dj3xYYtIgbjtMlxztP+PwJpjXhIertH+1zJ8nR+TkanbL8yzQc2b/OHSEI759GKNeIh/ihfN4H4RA+lHT9wyAe4sdajr/cQNeYzvfqc/dJmQuLCT6fhdkqgcJF6hctObrY6ZIDrjpljRwzRTp27St/rFivNjiCfH+HUcEypYur2UP+90K91iEHderyyypItmxZQ82WCmflR5csnXJgCGLvDPzNb/97t9pjY8yE6TJrzhLBrAQrnPzjQB8dciAXX7PAVy3w+atg7zXwx32EQ3jEC9chHuIjHaQXKD78cR/hED5QmIz8EA/xkQ7SCxQe/riPcAgfKExGfuE8f/zbLLRjiJ+RDNxHOIT3TyOUa8RDfKRjB0cD2A6l4KI87POMVOHhiyl5i2YNV7v63dyusTJ8b+3QTBnCmKaDP/iPP5sQ0TpAXbJ0yQm3GuCFAWt7DCM605yCyY+GHEyHv6bhHZK9UC21bvHKOreljkyg1xLrgWEYB8tDqP5OlGMYhqAcMXJtxSGuYYRWBwxDnyz/MjOM0GWHo5Pb5fjrF+wazC6pWEYmT50nu3bvCxYsYv9oyDEMd9UFQDUMPTph5GrYiG/VWs85P3wi+JY2pg6XKlFEfTca11g/m5BgqFlDKC/kL1ynS46ZrzXr/pKH+74pVa/t5DM9s5TXspBwpmqa6QY66pIVQzk+aqHdu6pBFylesZlgj432nR+XBs17SkrRutKhyxOCtf0+ESxe6JJjMXtxHc0wQn/++L9n4BlhGLF/hwhHjo7CpAGsg3IcycDI267de6VZo1qCXt1Aql9T8zK5ofG1EklvF9LVJUuXHPTgYt0jDMGMHMIhPDiE6xAP8TOSgfsIh/DhyvAOv/T3NYLGecGiP9RuxehN9t6Gv2qVCjJr7hIZ+80M72hhn7tNTtgAGCGuCWBq28FDR9R3UTHLJlYwdMmJVf6dni5GiNB2og299urL00wXNgxDbXyEmUJYHoH2y4rOuuQgb9Nm/iKVarSXt977Un7/Y63Pcg9zmiaOG//cpuo34lh1umTpkrNi1Ua5tlE39ZlBtK2YHoyZdzji+uvxP8oN7Xp7OsX2WkWm4umSg08h4pOIc3/+TTZt3q5k+/9pLGumAAAQAElEQVRs2rxdcB97YOTMmcP/dkjXbpMTktIM5EOABrAPDl5ESgCjhYUK5lONVDDDyTAMNS0rnE/3BMqXLlm65KCXVscOrLrkoMxg6PZ/+zO1c/VXn76iNje5pV0T3Ep12NwHnSIYubL6suY2OSYcrMHDbpftbu+jRkXQs29Oa8NOmHgJQBgzfCRHpKNLFp4N6FxBJ0sgh3sIE4k+iIs0kFYgGfDDPYRB2Egc0kBaSDOQwz2EiURGsLgwSDdv3SEPPP4/tSaucqWykjdPrmDBLfvrkmM5g3EWEe2nYZwftcG62TNnz6pd44EBM6wwpXL12k1q00T4WXWxloNnPgx15A+7Om9Z9b2aMYbN8n6b96XgutvtLSVP7hQZ83l/KVwoH4Jacrpk6ZKDZwqWPGAPCOwZgk9FYW8NfDsXR1zDH53D738yxhIzRNIlB7IwnRufRNy4aZtc36KXjPN0jGNQBW08nqMTv5stN7Z/UHAfRn6KRQPY0XIAKojT1Y7rkhNEzah40wCOCkYmYhLAixc+5TNzzmLB5wxMf+8jXtzRO4oNDgoVzOt9K6xzXbJ0ydG1A6suOShMrPVdtny9tG5RX9q2aphmtAJhcibnkAtLFpVIXtbcJgdcDhw8rD6BhcZ+7MQZalRk4eIVcujQUdyWxb+uknrNesi0mQvUdSQ/umRhWuWDj78hSXmvUp89Cfa5HXQEoaPGqk5uk4NPR2FDo0CbHWXNf7VcWOlGwVICjPjcfWdby+sp7SDHX0fojXxZqQuIh/j+aQa6RjiEtyIHcRAXaQRK298P4RAe8cJ12OG7TOliavkQjALEL1G8kOzctUfWbdiMS4HBgntwVmcD6JKDZw+e/Wgjet3VXqBLjuzZJCkxUdCZjutXnr1PihTOL+hMhU5KSQs/umTpkoN275dFy6VJw2vkiYe6Ctp2byy4xieRsNHTLM87mdl56h0mlHNdcsy84JOIeI7hHbLtbX0EXz3Iku98m3HTLY8IRqOtbP5ppm8e3SYH9Q6fzYz1O4MuOWY5+R+jdU0DOFokmU4qAexIjB7pbr1eSLP2ZO++g+qzSDB6HrqvU0CDKDWhEE50ydIhBz3cbtrpFcWHUaPDh4+qTzRhJAF+wRxebKy+rLlNDhh9MGSsjJkwXVreUFdWLvpajYrA33QN6lZXO2iPGjtNvfCa/laOumRhM7m3B49UWSxerJDaKA8XRYsUEFxj4x78Hdx28w2CF3Dcs+LcJgd/OxeVKR70M0j4LFLXW1vIHwtGqW+mWmGGOLrkYOAy0WPgQGZ6DqM00Bv5Si9csHu65EC+LlloO+vXqS6TJs+Rnxcug2i5vH" id="105" name="Google Shape;105;p20"/>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8AAAAKMCAYAAAAkO9E4AAAQAElEQVR4Aex9BYBdxdX/ebtJyD7ZuCshbgR3K6VoW6AUqpT6V6Pt969R14+2VKlCW0qhglPcLRBIQoLGE5LduGfjurv/+3u7sztz3r1P77t6kp13be7cOb87d+bYnKlp3TGnVZJgIG1A2oC0AWkD0gakDUgbkDYgbUDagLQBaQNRbwM1FOt/QrwgIAgIAoKAICAICAKCgCAgCAgCgkBcEBABOC5v2o5OOScICAKCgCAgCAgCgoAgIAgIAoJAjBAQAThGL1tINRGQI0FAEBAEBAFBQBAQBAQBQUAQiBcCIgDH630LtYKAQkC2goAgIAgIAoKAICAICAKCQOwQEAE4dq9cCBYEBAEiwUAQEAQEAUFAEBAEBAFBII4IiAAcx7cuNAsCgkC8ERDqBQFBQBAQBAQBQUAQiCkCIgDH9MUL2YKAICAIxBUBoVsQEAQEAUFAEBAE4ouACMDxffdCuSAgCAgCgkD8EBCKBQFBQBAQBASBWCMgAnCsX78QLwgIAoKAICAIxAkBoVUQEAQEAUEg7giIABz3FiD0CwKCgCAgCAgCgkA8EBAqBQFBQBAQBEgEYGkEgoAgIAgIAoKAICAICAKRR0AIFAQEAUEACIgADBQkCQKCgCAgCAgCgoAgIAgIAtFFQCgTBASBdgREAG4HQjaCgCAgCAgCgoAgIAgIAoKAIBBFBIQmQaATARGAO7GQPUFAEBAEBAFBQBAQBAQBQUAQEASihYBQYyAgArABhxwIAoKAICAICAKCgCAgCAgCgoAgIAhEBQFOhwjAHBE5FgQEAUFAEBAEBAFBQBAQBAQBQUAQiCQCMROAI/kOhShBQBAQBAQBQUAQEAQEAUFAEBAEBIEiEBABuAiQIpNFCBEEBAFBQBAQBAQBQUAQEAQEAUEgxgiIABzjlx830oVeQUAQEAQEAUFAEBAEBAFBQBCINwIiAMf7/Qv18UFAKBUEBAFBQBAQBAQBQUAQEARij4AIwLFvAgKAIBAHBIRGQUAQEAQEAUFAEBAEBAFBgEgEYGkFgoAgIAhEHQGhTxAQBAQBQUAQEAQEAUEgi4AIwFkY5EcQEAQEAUEgqggIXYKAICAICAKCgCAgCCgERABWSMhWEBAEBAFBQBCIHgJCkSAgCAgCgoAgIAhoCIgArIEhu4KAICAICAKCgCAQJQSEFkFAEBAEBAFBwERABGATDzkSBAQBQUAQEAQEAUEgGggIFYKAICAICAI5CIgAnAOJnBAEBAFBQBAQBAQBQUAQCDsCUn9BQBAQBOwQEAHYDhU5JwgIAoKAICAICAKCgCAgCIQXAam5ICAIOCAgArADMHJaEBAEBAFBQBAQBAQBQUAQEATCiIDUWRBwRkAEYGds5IogIAgIAoKAICAICAKCgCAgCAgC4UJAapsXARGA88IjFwUBQUAQEAQEAUFAEBAEBAFBQBAQBMKCQKF6igBcCCG5LggIAoKAICAICAKCgCAgCAgCgoAgEAkEIi4AR+IdCRGCgCAgCAgCgoAgIAgIAoKAICAICAIuICACsAsgBrYIqZggIAgIAoKAICAICAKCgCAgCAgCgkAHAiIAd0AhO1FDQOgRBAQBQUAQEAQEAUFAEBAEBAFBQEcgUALwRz79PUrUH1tUGjTmXFresEanJWd/7msLKTXg1KLKw3N/9ut/5JQRxxOtra00fcYr9MWv/YJ27d7jCMG69ZtpxMSLHPE984JP5b3fsWCbC4WehXogj82tgTqFOqKuaG9VTsTxR/vO90xc9wusQt8qp8Wverr13AWLltMnPv8j2rBxq1tF0g033eP4Lar3ft4lX6C9e/cX/Uz0BR/9zA/yllvT4zh69MkXiy6z0owPPDI9b30wjlT6DLnfewT87Bu9pzbaT8Q3qPocuy2+4WgjINQJAoJA0BEIlABcClhgHJevyC8Az3llIe3Zu6+UYmOdF8zurDnz6ISzPkJnnP8pen3ekljjIcSHGYFg1n3x0kZ69/v+lyYdfzk98fQsamlpca2i7zj7RBoyuH/e8l5+ZT41rFybN49+ce26TfTM9Dn6qZz9Y6ZNoBOOnZxzXk4IAoKAICAICAKCgCAQRARCKwBDWHvmeWfGDNdnvvxmEDEPZJ1gkTr34s/TiW+7il5+ZUEg6yiVEgTCisDqNRsJltTxx7yH7n94elXIGDl8EJ1z1gltZTv8bt22g6bPeNXhau7phYsbaOXq9bkXtDMXnncq9epZr52RXUFAEBAEBAFBQBAQBIKLQGgFYEAKa+XuPXuxm5O2bN1Os+fOzzkvJ0wEDIvUM7PMi3IkCAgCFSEAt87PfPlaGjbhArr5Xw9UVFahmxOJBF3xnnMokUjkzfrEMzPp0KHmvHnUxfsffo6gTFTHfJus607vPP80ftr3Y6mAICAICAKCgCAgCAgCTgiEWgCev/Atxzl0KxrX0orG/C7STqDE5fzrby6h4874cNUsUnHBUegUBOwQwDSNU9/xcfrz3+62u1yVc8ceNZEmjDs8b9kzX55Hq9ZsyJsHF7c17aCXZuf3ojnt5KNo4rhRyC4pOAhITQQBQUAQEAQEAUEgDwKhFoDXb9hCsGDa0ffKa4tKCvZiV0bUzx1qbqbmZvfmIEYdr7DT9/Uvf4Rad8xxTLgedhqDVH/M7y3W0upWvfv26UnvveTteYtbs3YjvTl/Wd48uLhoSQO9MX8pdh3TRZb1t67uMMfrckEQ8B4BeaIgIAgIAoKAIJAfgVALwCDthZdew8ZIcNmbPuMV45wcCAKCgCAQBwTOPftE6tata15S733gmbyuzbh5+oxX6cCBg9i1TQMH9KEL3nGK7TU5KQgIAj4hII8VBAQBQUAQKIhAaATgKZNG2xIzY+ZrOUvtYP7va28uycnfpUst9eyRyTkvJwQBrxAYNLAvNS540NEKCwvt2iWP0vChA/NW6YxTj6ad66bnLefZh2+kdCqZtxy5GD0Epk0ZR2eddmxewhAgcOOmbY55sFRSoejPZ552TMF26vgAuSAIMASkb2SAyGFZCMhNgoAgIAgUg0BoBODJE46g3r1yI43CBZozck7zfyFUHHXkuGJwKZhn1eoN9Mvf/TMbNbn38LcZ61J263MiIdrrF7/2CwKjefDgoYLlIQPWYbVbMw/n9HVQ4bb84qw36H0f/Sbpz67teXx2CaN/3/moo/s3gvKMmHhRtr7Hnv7hvMtEPffCK5QZdHo2L+qQGnAqYb1W1LXUBKUE8Jp2ygcI+KA8pAFHvIP+50v/5+jKXupzVP7b7nq8o954Dk8jJ72T4Aqq8vPtwsUrqM8I873qZbz/Y98sOpAQL9uv45/9+h95McH1YuqG9ocAdP97za8I71Nvgwqj/qPOyX4bP//NLbRk2cqC1sZinsvz4Lv6/rU35qUJ9Tli6rsJ75Pfr47zfcu4f/DY8+jt7/ps9nvHEkLwMFH38u2u3Xuy6y+r+/JFUMY1lI28KrmxPiZcki9551m8asYx+s18btCgE0smGTexg/dfdh5BqchOG4f5sEU/UE4/aTygyAPgqjC222LdUruiyrkP35HdM3BO78fRflE+1mZODzytox0DlxPfdhXd9d+nCHl4vdCHf/tHf6TRR17ccQ/KxvH3/u8GQl/L7yl0jOc8/vRMuup/vk+HT34XYSxBmSqhfnhXn/7i/2XXfN6370ChIkNxHeMZxjVFp77FeVwHITNmvk6Yz69wwTtC3/fDn/6Ftu/YhSy2KV/7x7Pw/Rfbt6gHoE6oG+7nCedxXeXF8+3aCsY/nEdbUnkLbdHvYbUIjNdDxp3f0faAydST3kfo60spr9Dz5HpZCMhNgoAgUCQCoRGARx0+hOyswJgHPG/BWwa5TvN/IfwO6N/byFvqAQaAk87+KA2feCF95Vu/IQgC25p2GMWAmQCDef2fbyPk7TvybPrdDbc7CqXGzQUOIEycdPZVdMo5H6Pb736c9GdjziEiX3/w49+mo0/7YF6mv8BjXLu8f/9Buu63t9CgMedm8ULgLeCjHrBx01a64aZ7sgqDH//8b7YMn8pbyvas04+l8WNHOt4C4QNLvDhleOX1RYQlY5yuv/uCMwsy/073hvU8GKC773uaRk15V1a4/fUf/k14n3obVLRt2rwt+218/bvX07ijL822x+kzXnFNEEZd8PwfWAKweqbddtTIIfTgnb+xDQxVzLeMMsHUPfXs7Gz7hXCAb8tNWvAMt1OhNYGBHyI8Oz13+oxX87Z/fFv51v4tBlv0A9XqJ53oCsr5N+YtJQgN77rif+mxp14ifTUD4IJx5b1Xfp3Of8/VhDEO9cZ5CBlDx19AP7nuJnprxWqc7kg4hkA2fMKF2cCGeMcdFx12YOlH/9xj6Bl07sWfp3/8+0GC8gNjiX4L6od3dePf76HzL72a6oecTl/99m9px87derZI7qPPO/28TxKEYIUL3gX6Piiiu3XNnW5QTPsHWNXqW/C+rv7qdVk+xa6tNK5al21DIyZdRLf856GC/TLGwiuuuia7fjnGa6wPjvojARMo09DXozy0p/0HnKdO4B5JgkB1EJBSBYHiEQiNAJxJp+iUE6fZUvaktnwPgs5gmQ+7jOecdSLZDVZ2efk5WL1++6f/0JQT35e16vLr+Y7BJGAwwiAK5iJf3nzXMACfcNZH6OVXFuTLlr2GADaXfvCrtHrNxuyxHz+btzRZVupr6Gvfub4owfY7P/4TQWngRl2h6LjiPe9wLArMoZMAgGtPPjPb8V4w/xCwHTNE8AIYqo999od02Ye/VnBdWDvyX3tjCZ1x/qcsZcitrgReu+f+Z+ia7//e7lEd55yE30q+ZRSuaPnG935XVLvGPV6nYUMG0Gkn2/eXqi6I8GynvMjXh6p7zz7zeOrfr5c67NhWgq1b/WRHZQK68+AjL2QVo+ijC1XxKUvx8qFPfifrrYLvD0IGBI589+3Zu48u+cBX6Enr3nz5MBZhTEL/DEE4X15+DQLgL66/lY4+9YOE74Ffj8rxnFcW0ic+/yNywvyqD76T4HGh6K2k/aMMYIl+spK+BR4A77z8y1mlO8rMl/AeP/qZH9ADjzzvmA08xLmWcuTOe590zKMuoDy0Jyjn1TnZCgKCgEcIyGNKQiA0AjCocrI4IFIpXA+Rp2n7Tsvy2YBdI8FVb9KE8pbrgEAE990vff2XjgOh8TCHgzmvLqB3vPvz1GhpXx2yOJ7G0iUXvfdLBPocM7ELYLD+est/2VnvDucvXE75BEm7msCqBxd2u2ulnrvs3WdTvjnfTgIAGAhY0p2e58T8O+UP+3m4+ME18uZ/PVAxKWDg8S3hmyq3MLybfEwpynUSfvFcPL/SbxnPgDXu6q9dF0ghGP3dRz5wESUSCVTVNr325mLCN8ovYokk9Df8vDpG2e+zlEuJhFm2W9hW0k+qOgZ1C1w//Knv5J16wuv+lCXIHnvGh+mftz/MLzkeQ2D7zo/+5OieizEIYxGwdiykiAuwOp/z7s9SPuocvAAAEABJREFUpeUU8SjPsxw4eJC++5M/O465XBHqVvsHoeX2LXv37adLP/BVKjR/H89QCW3l/35xk21bgWLkM1++NpLvV9EvW0FAEIgGAqVSESoBePLEIwiRRzmRcL/BXBech9C3ZFkjdo00dvSIvC6xRmZ2UIy1id3ieLj0rZX08c/9yHawcbzJurB//4Gy5pxCawtLrFVEKP4wL/fxp2a6UlcwKOedc5JjWU4CgFMbQkFOzD+uRTGBqfvF9bdm5yO6RR/cliHEllNeo6U8+tAnvuPIlKLMMUcMp8f++3tbt2dYOq4pYDlGGcWmG/9+Lz3yxIvFZvc031FTx9O4MSMcnwlLL7xKeAb0p/gO+Xl1fMy0CbbTUYLQT6o6BnVbbj+u3KBLoQtzQfEu+T1QFn/y8z8mjEX8WjnHGF+++f0/5ASjLKesIN2D7wNTdJzqBA8jeBqp60HoW9Bfw1tH1anYLfrjl+fmepbd99Bz9OCjztbhYsuXfIKAICAIBA2BUAnAGGwmTTgiB0PMT2kLckNZiwYGLp5pwriRea2BPL86hmANdyRoSdU5vsVSIPNn30Et21+mXeufp//73ueopsYZWmj0/3PnY7yYqhw3NK4ty+JclcoUWeiLs14vMmf+bBBW81nB0E7sBACcwzW70o9xYP7t8kbhHOZC/+p3/8pLChQNiDh9YMvM7Dew9LV76V0XnO54D1w0f/zzv5U8J76paVdWeZSPcYfw+/Ddv6XRo4blPB/M7Dd/8Pu8Xhz/8/H30Ip592fpwPeMfZzLKaz9BPoFJ+tJexbfNugvwaTnq8AjT8wwBBcw0AiGlO8eBNjqUZ82soS9nzSIicgB+rDZc+fnUPPP2x6hJ7RpQzzDEYcPpbv/+XPau/HFbJR5bHGM8zyvOkZ5cO1Wx1HfwrMIHkaKzrD3LfjuoTBR9GAL628hr59hQwfQ4/f9gQ5tm01Nq5+l71/zKdwqSRAQBASBwCPgLKUFsOqpZB05uUE/+/zcrIX0iWfsrYeY/wuBqFSy7nv4OVq2fJXjbXCH/fdNP6GJ40dl3Q1Rx2v+30fpHzd83/EeXMDAAtdS7JeSpk0dS6+/+J8sg7654Sn6zCcu67zdZg/Chh6wYpC2DM+c6bdSsq67zV1tp/hSO7s3vEAQANuuFvcLRQAUAlAMYJDEYIlBM9/dsPLBSpEvT7HXTjp+Kh1/zCTH7FwA2LfvAE2f8Ypj/vPOOZk48++YOQIX/vGvB/O6ax45ZSw9cd8fCW2la9cu2W8Awudtf7+WLjrvNEcEnn7uZVqweLnjdX4B7+X/fevX9NSzznOz8wm/KO/p5+ZkFWTYt0top3/81Tdo5PDBWToSiUR2H+e+/bWP292SPQch4+V26wmWnYIyoJjlrBCVHkteIa9K7zzfWXGQfViJP+eefSJ169bV8a7X31xKDY3rOq7D/T+f+yQY/wvPPbUjv9oJWj+p6hXULfolpTRd/ub9dNrJRxWsqt6XQtl04/XfyqtoRYEIxoStShhzMPaoY74dNXIIPfnAH+nSd72Nunfvlr2MLY4fvfd3hPEje9Lm59bbHiJ8pzaXQn8KCj28JyjF1ix+hO645acExZ8izIu+RT2rmC3G9Vv/8kNCO0HCPs7lu5e3FcwRzxcJHv3Kv/76YzrnrBOotrYmOy5+9xufzBoA8j1HrgkCgoAgEAQEQiUAA7CzTjs2y5xiX0+YzwnL0KuvL9ZPZ/fr6g6jo6eNz+6X8gMh7K7/Ogd+6NKllqDxtBOIwMg6Ceuow9zXFpKdexquOSUwJ/f++xc0dfKYLAZ9evega7//eUelgFM5Xp7/8Xc+Q9/436sIigEMkhgsf/7DL1alCnaF4t186H0X2F3KnuMCwNr1mwhWz+xF9gPmX9f6s8uRO9zWtIPwXTkRlkgk6Kc/+DwNHdI/Jwu+uc996r3Z9452e/ml5xCYI7TfJa/eQ2uWPFKSMgVRce+454mc56gTaFvXX/cVW8sv8sDCgWi72LdLmFoBa2kiYc5rRd5EIkEXX3Smo7IIZT/z/BxkDVyaNmUcoc90qhhiCsDjQV3P5/6PPOjTuCUwaP0k6hnkhO/h3zf9uENpeviIwQQlC/qXfPX+wqev6OhLoWz6xEcupm9+5aP5bsmZnw5lbr5x532XnZtV+tgVivd+7tnOU0rQb6L/tLs3zOeOO3oi3fTH7xHeUyKRoMGD+mWFPoz/oAvff5D6lkQiYdX3u/ShKy4gtBMk7H/1S1eiukUntBV41zndgH7l2KMmGpcTiQShDQ0ZnDsmGBnlQBAQBAQBnxEInQCM5ZDg2sdxW96wmp574RXbCLWHjxiSHbz4PYWON27alnd92nzziiF4wTrs9Ay4p9kFoHHKj/OIPAzrFPZVwnPyzfNT+fzYZtJJgnt4ImEKFWNGD3MUJqpRT1isnAZkLgBgSS2n+XZ2zH816ltmma7fBhzwXTkVDEZw8oTRTpfpvLefnJ0S8NYb99HtN19LP/jmp7OCJCy1hZh9x0IdLiD66k9/dbPhzqtnxXvGu9XP6fug9Yip76ZEvaVgs0nHnv7hvJbw195YHEjrFxQRF53vbIkHBoiGrix3mM+Mvgnn7dKH33+BEfUWeYLWT6JOQU52/fiQwf0clTegBcLWZRefnVV84hgpkUjk9W5BHp6g4IBXED+vjuHO7/QN1PQ4jvJZjzds3ErLV6xRRUVm+/ErLyYom50IClrfcrilUDnTMhTw+h5TohFgwaIVvAjj+JijJuT0BcgwaEBfOtJS0mNfkiAgCAgCQUUgdALw4IH96Ogjc6250FRi/Tk75m3alLF5BzCnlwML2I4du50uU7++PTvcxOwy1WdSdqc7zmHg7DgoYgdu1nbZnM7b5fXyXL++vWigNRjyZ+Id9u3Tk5+u2vHI4YMIFjynB8BtXrWbJ/PMjbNj/p3KjMJ5MMpKMLKjZ/SoodSzZ9rukg/nKKsA+++Dz9o+G3Rs3LTV9pobJxF45lDzITeKcr0MKKFg4XYqWFnu4B6bz8UcSqSTTzgyp5ig9ZM5FQzYCSiAeJVgpUuluvPTHccYS/IJYR0ZC+xgSZsCWcq+DEvo3n37yr4/iDdCiXvicZPzVi1ofcvhI4dQOl2XU2coLAu5QefclOcE2qTd5e7du5GX47tdHeScICAICAKFEAidAIzOddrUcbZ0LW+w1z6ffsrRhubc9uYQnBxzxLAQ1LKzipjrm4+p68xZ3b1EIkEfvPw8x7mQcAFduXo9gZF3cvl1Yv6rW3MpvVQEfnLdTb6sfY0gULt3+8j85wEKc43PPO0Yxxywfr80+41srIN87rGYvgBlkmNBcqFqCGBuec8emaqV71bBS99yjpfh1jO8LKdXz3rq36+3l4/MeVapfcuQQf2yU09yCpITgoAgIAgIAh0IhE4ARs0x9ySRMN1qcd4uQeN57NET7C7JuRghMG3KOMe5kBAA4B4LBcqCRfaBmU47eRoNGzIgRoiFk1S4eN7w97sJ1igvKYAHASJCe/nMYp8F99l80dBRDpY6mT7jVUc370QiQVe855zAKhJBQzXS2nWbq1FsZMs8eDCYXhDlAn74yMGUySTLvd2V+4Lct7hCoBQiCAgCgoAPCIRSAEb0RbjzFIPXyBGDacSwQcVkzckD7W99vbMb86bNTXnn/eVbSxMPswsehPOS3EcAcyGv+uA7HQu+94FnCJF84fbLMyUSCYIAAUGCX4vycZfa2mx0TycaC7V/rA965Mnvp8Fjz6O3v+uzdPVXr6N/3fEIzZ47n+CO3Nzc4lR03vO9e9Vng7s4Zfrz3+6mBYvM+WvwHMlnyYGFf9XCh7PLvqiIzKVsGxc8SIMG9nWqku/njyqwJvCTz8ymG/9+j2M9J4w7nHjAG5U5yv3k/IVvKTKDvC26boXGnJ9897NlfwP4Xr7+5Y8UXZeoZIxq31KorezYaT89DNNB1qzbFJXXK3QIAoJARBGoCSNdmF9SbJAFLIFT7typ/v16Ub4AU0uWNRIsTnYYYj4dGH27azgHyzQEeexL8gYBBJ9xwnz6jFfo7/+837YiaAMQIGwvRvgkhMJhQwc6Uoj2n89lds6rC7KRztet35xdvuh3N9xOH/rEd+iEsz5CA454B335G790LNvpwqQJo2ju8/+kz37ivU5ZCIL3D356oxEBN5NO0YjhzrRgqbB5C5c5lhn2CwgciKVsnOgAZk59Ge7BHHr0u9jnKQr95JsLlhGWgNJpwzIwDz32gn4q9PtQBudT5E2f8WrJ63P7D4q/NYhq31KorcyY+Zpt0EEEQ4ua4sjfFiZPFwQEgWogUFONQqtdJjSumNdbzHPeftbxZbvtYd6VXTRF9Vy4Jn3/2hsJwq46p7aPPvFi1tKljvl2yqTReaN+8vzVOB7Qrw/1sqxpTmXDQtfa6nQ1fOchBGCpG7uaw/3ZSWEBwQH32t0X5XNQHEGB5EQj2v9PfnGTbfuHMPHdH//Z0RU5kUjQBeee4lS07XlYIB+95/fZZVo+edUleQOt3H3f0/TsC3M7ygHTf9m7395xzHfgMv2L6/9pSwsC7L3tov+h3sPfRtNO+QB9/HM/pJ//5hZCwK2lb60kp2B26XSShg9zFrqbW1oI3xivS7WOLzrvVMd58PmeifU+ca9TnjD0k126dHGqfvY8ls+DhwLaLdrCG/OW0iUf+AqhX8hmiMgPxp1jpjlPCXrimVn08OMzcqgFJrff/TglB5xCQ8dfQBe///91eHQ8+/xcgtATNffnHBAcTvjRtxhVqdIBgrWNHjXMsfTnX3wtZ5k81U4wrcjxRrkgCAgCgkAAEAilAAzcMIgnEvnnAbthZYXrKyxheKZdQtTUKz/13WwAGXT+EIav/eXf6QMf/7Yj849yPv/pywlLGGHfr4S1U2trnJvAK68toldfX5SlA4wh3CSx5qdf9XXjuVjHt5RgMoWYfzfqFNQyEokEfeDy86gmTxtB+z/zgk/Ri7PeyApzEOhee2MJvf1dn6GXX1ngSNrppxxFp540zfE6vzBq5BC689afdqw5PHH84fTBy8/n2TqOMR/3J9f9zbBQvO2MYwkW5I5MbAe0vOuK/81arUEHGHqs73n8mVfSM9PnZIOkvf7mErrp1vvp69+9PisgjT3q0qw1+/kXX2WlkaV4o7wu5LA6P/vCnCxu+K6ee+EVgrWcqvQPws9Jx08puXTcg3vz3Rj0fnLwwL6UsRQS+Wj4952PUt+RZxOW+4HrPtpxvvxhvIYxJ99UEHw37//YN+n3N97RoQyCcHv1166j9330m1nrMKb23PfQc6Q8Os668NM0cPQ76IOf+LbhdRFGfMqts9d9S7n1LOW+/v16Ub6lHNFWLr/yG/SIpexHfwnX55/+6mb69o/+VMpjKs4rBQgCgoAgUA4CztJPOaV5eM+EcSMJ0U3zPRLLA42yGOd8eQpdw5p6P/3B5/Nmu//h6TRm2iVZxqnn0DPpmz/4A953iPAAABAASURBVGFwcLrpovNOo/e862yny56dL2ShwnzYM87/VJYuMIZXfeb71NS0y7P6VeNBcIE+75yTii76qKnjCO2o6BsilvGs046lT330krxUQVA45ZyPUZdex2fTUad+gHDO6SYoFX707c8QLIdOefh5RBTXXXATiQQVsgJDoPznbY90FIU5wN/52icswTTRcY7vTJ/xCk096X1ZOrr1OZHOu+QL9NaK1TybcQxa7IT5VLKOhgzqb+TVD6Aw+/Anv5t9VmbQ6XT+e75Aq9du1LO4ug+8L7v47SWXiXtwb74bg95PwhI/bszIfCTE5tr733sunXbyUY70QvHzha/8nDCWYU1gCLe/v+EOx/y4AGvhdT/+Yt65+cgX1eR13+IFjolEgj76oXcSDAlOz4P3ywXvuTrbh6UHnlaQ9yH55zYCUp4gIAiUiUBoBeAB/ftQoejOkyceQaVY+5wwvOLSd9D/+8KHnC6XdB4WqN//8mtUV3dYSfdVIzMsIhDwii1727YdtGHTlmKzBzIf3NVgrUoknIUgveIfet8Fvlvq9fp4vQ+8fvqDL+S1BJRaJyeBsdRyClmBUd4vf/dPwjIi2EeCO/snPnIxdl1JH7riAvrcp95rK1QnEgkqdqoGKrN3735av2EzdquWCq0JzB/cu1c9nX3Gcfy07XGQ+8lePevpwvNOta13vpNo/4cd1i1fltBdgxX4Fz/5ErkxNoJ4lPPHX32j7GCTKCMKycu+xSu8jj5yPP3vFz7o1ePkOYJAiQhIdkGgfARCKwCDMTnu6El5Ka9k/q9ecNeuXehnP7w6m/Tzpe7DnejJ+/8UKEbhIx+8KK+GV6cRFuGNm7bpp0K5f9LxUynf3FZFFBi7M089Rh3GdguG+Y5//JTA4FUCAlypf/Oz/5dVJiUSxSkg8j0vkUgUtAIvW76Kbrz5nqwbP8rCt/yHX36d/ufj78FhRQmupH/+7TV519yEwJlvHh2vwNIqr6MKr5l8awLz+iBw3JgjhvPTtsfANsj95CeuvJjgAWJbeZuT+P4fvPM3dOJxk22uhvsU+r8n7v9D3nn0xVAIr4y7//lzwlhbTP4o50H797Jv8QLLRCJBX7n6wyUrQN994RmBUPJ7gZE8QxDwDQF5cEUIhFYABtWnnHgkdelSi92cBOvm5AlH5Jwv9wTmy37tS1fS/Nl3WAzRlJKK6de3F/37pp/QY/f+ngYO6FPSvdXODA3vH3719bzzPPU6bN22XT8M5T4EOlh2C1X+7DOPK4lhLlRemK/DEgghGO0Y7blUWo47eiK9OfM2+uJn3p93Xmyp5RZjBf7V7/5Fr7y+qKNoMKqwWN329/+jcmjBPcDhr7//Tl7hFw+E6/affn1N0dY2zLXHfdVK6C/ff9l5RRePwGG4p9gbgtxPDh3Snx6449d554ErOtFeZz3zD8IYo85FbYugcm/OvJ3ee8nbyyIN9736wr/pbUV6CJT1kJDd5GXf4hU0GC+h5HAKIKnXoz6TIvSr3/7axylh/devyb4gIAgIAm4iUGlZoRaAYZmARcMOBMz3wrwvu2uVnMN80Jee+jutXPAQwY3shGMnE9zr9DIxCI4bM4Ku/p/30cynb6Z1Sx+j9192rquMv/68SvYTiQTBkrXg5Tvp0x+71HZeNRj+I6eMpU999FLfI1dXQqt+74Xnnkr5gpshb6nMP+6JcoJwg3aM9jxn+q303W98ktD+0T443Zj/ijbzza98jBa/cg9BmMC3w/NVepxIFLYCw3PhZ7/+hxGgJ5FIEBg60IJv9Muf+wChvvxbRv1wDteQB3lxD3AAHrheKME6hu/rW1/9WPb7gSVcvwflo7+48v0XWsq16lsb8c6KsYRiGZTTTp6mV7XofbzrIPaTsMa//Oyt9K+//TjrBaK/C7wHtIkn7vsjvfTUzTR2dHGW76JBCWBGKGSh2Nrc8BRBoQPLHfpFHRdUG8c4j+vIh/y4D0oFXJfUiUAi4V3f0vnU6u5BCP6PpcSHAQD8Ar4V9UTwO+hT0C5WLXo4268mEgl1WbaCgCAgCAQSgUAJwP+44QeOi/DbLbA/oH9veuuN+2zvefm5W3IEU7yBUp+Be+wSLDuYFwyGeOvKp406HNgykxbNvZt++/OvZAWEYhll0Ni6Y45Rln78zvNPt6sKlXufXhgY8D//5pvUuODBnOdvXP4EvTbj33TDb7+ZpUfdN2hgX9v8qs7PPnyjbaCjcu4rdA/qjTyqboW23bp2oS619t4DuBfM3gk+uT6CDtCjcLTbOmGLujulQu0E153u1c+jPR8zbQL94Jufzip40D54HXetfz7bZn7y3c9mBYlEIj9DhPJ2b3ghp+2pcvPRi3n1m1Y86XgvygCzDkZNpwP7oAXM26+u/d9sffm3jHtxDu0feZAX9+DeUhLe6Y+/81la+tq91Nw026grykd/gb7J6Rsv5VmF8g7o35sWzrnLqAPo5Klh/gMFlUSFnlWNfhIY8brqx8AxX70Qf+ED7z0vq5TR3wXeA6xXUFiod4zgX2h7evn6vt2z8B3pefg+rvP6FXoO+gO0IX5fpVio8rDk2cevfDf99z+/pNWWEKPjgvrjGOdxHfmQX93r5RYYAAvUySnhfQHPYupVSb9TqHy0IfQX6DfQf6B98TrjHK4hD/LinkLlFqqzXZtEmeXeh3uREolENiDk3//0PUK9FS3gd8AHoV3AAoy8hZ6Fdot8kgQBQUAQ8AuBQAnAfoEQ2udKxctGAGsYNq5a53j/xRedSSOHD3K8LhcEAUFAEBAEBAFBQBAQBAQBQSB8CIgAHL53JjVuR6DczfYdu+iPf73T8fZEIkEXnXcqJRL5rZaOBcgFQUAQEAQEAUFAEBAEBAFBQBAIJAIiAAfytUil3EBg1px5dOe9T9LGTVs7ogCvaFxLV37qu/T8i686PgIRUhEp2jFDMC5ILQQBQUAQEAQEAUFAEBAEBAFBoEQERAAuETDJHh4Edu7cQ1dcdQ0NOOIdVNPjOErUH0ujpryL7n94el4iEOQDQT/yZpKLPiMgjxcEBAFBQBAQBAQBQUAQEARKR0AE4NIxkztCgkCvXhmq635YSbXF8idY3qOkmySzIOA1AvI8QUAQEAQEAUFAEBAEBIGyEBABuCzY5KYwIDB4YD/q26dn0VXt2SNDv//l18mvCKdFV1QyCgIxR0DIFwQEAUFAEBAEBAFBoFwERAAuFzm5L/AIYNmbdDpZVD2POHxodgkQzP8t6gbJJAgIAoKAPwjIUwUBQUAQEAQEAUGgAgREAK4APLk12AhgLcirPnhRdu1irEcKgVivca+e9XTu2SfR/bf/Krsu6hmnHq1fln1BQBAQBASBwCEgFRIEBAFBQBAQBCpDQATgyvCTuwOMQPfu3eirX7ySZj59M61c8BAd2DKTWnfM6UhbVz5Nj977O3rn+acTF44DTJZUTRAQBAQBQSCuCAjdgoAgIAgIAhUjIAJwxRBKAYKAICAICAKCgCAgCAgC1UZAyhcEBAFBwA0ERAB2A0UpQxAQBAQBQUAQEAQEAUFAEKgeAlKyICAIuISACMAuASnFCAKCgCAgCAgCgoAgIAgIAoJANRCQMgUB9xAQAdg9LKUkQUAQEAQEAUFAEBAEBAFBQBAQBNxFQEpzFQERgF2FUwoTBAQBQUAQEAQEAUFAEBAEBAFBQBBwCwG3yxEB2G1EpTxBQBAQBAQBQUAQEAQEAUFAEBAEBIFAIhAyATiQGEqlBAFBQBAQBAQBQUAQEAQEAUFAEBAEQoCACMAheEkdVZQdQUAQEAQEAUFAEBAEBAFBQBAQBASBshEQAbhs6ORGrxGQ5wkCgoAgIAgIAoKAICAICAKCgCBQCQIiAFeCntwrCHiHgDxJEBAEBAFBQBAQBAQBQUAQEAQqREAE4AoBlNsFAUHACwTkGYKAICAICAKCgCAgCAgCgkDlCIgAXDmGUoIgIAgIAtVFQEoXBAQBQUAQEAQEAUFAEHAFARGAXYFRChEEBAFBQBCoFgJSriAgCAgCgoAgIAgIAm4hIAKwW0hKOYKAICAICAKCgPsISImCgCAgCAgCgoAg4CICIgC7CKYUJQgIAoKAICAICAJuIiBlCQKCgCAgCAgC7iIgArC7eEppgoAgIAgIAoKAICAIuIOAlCIICAKCgCDgOgIiALsOqRQoCAgCgoAgIAgIAoKAIFApAnK/ICAICALVQEAE4GqgKmUKAoKAICAICAKCgCAgCAgC5SMgdwoCgkCVEBABuErASrGCgCAgCAgCgoAgIAgIAoKAIFAOAnKPIFA9BEQArh62UrIgIAgIAoKAICAICAKCgCAgCAgCpSEguauKgAjAVYVXChcEBAFBQBAQBAQBQUAQEAQEAUFAECgWgWrnEwG42ghL+YKAICAICAKCgCAgCAgCgoAgIAgIAoFAIOACcCAwkkoIAoKAICAICAKCgCAgCAgCgoAgIAhEAAERgIP8EqVugoAgIAgIAoKAICAICAKCgCAgCAgCriEgArBrUJZW0MGDh+iu/z5Fx51xJSXqj82m9MDT6PNf+Tlt3tJkW1hzcwvdcc8TNP6Y92Tz474h486n391wO+3du5/4v9bWVpo+4xU66eyPduTvNews+vp3r6cdO3fz7FRq/pwCXD4hxQkCgoAgIAgIAoKAICAICAKCgCDgJgIiALuJZpFl7dt3gD7w8W/Re6/8OjWuWkdXvv9CuvzSc6iltYX+cOMddOYFn6KNm7YapUFg/syXr6UrrrqGtm7b0XHPtqYddPVXr6NPf/EnhhAMYfa6395KZ5z/KXp93pJs+XhO165d6Oe/uYXOu+QLtGXr9o5nlJq/40bZqRYCUq4gIAgIAoKAICAICAKCgCAgCLiMgAjALgNaTHGHmg9Rs2XN/fdNP6F1Sx+jf9zwA7r95mtpwct30qiRQ2j+wuX0xDOzjKLuvu9p+svN99JZpx9Li+be3XHPwjl30ZgjhtOttz1M9z30XMc9M19+k77z4z9lr73x0m3Z8vGcpa/dS2efeTy9NPuNrOVY3VBqfnWfbAWB6iAgpQoCgoAgIAgIAoKAICAICALuIyACsPuYFiwxnUrSPf+6jt5/2blUW9v5CkYOH0ynnjQte//qNRuzW/zAYnzrbQ9RIpGgr33pSurdqx6ns2nEsEH0vWs+md2/674n6dCh5uz+f+58jA4cOEhXf+Z9NHrUsOw5/PSoT9P3r/kUdelSSw89+gLBgozzpebHPZIEAUGgSghIsYKAICAICAKCgCAgCAgCVUGgU/qqSvFSaCkIQHjdvWdv9pahQ/pnt/hZu34TvfL6Ijp8xGA6aup4nDLS5AlHUCadpIWLG6hp+86sUPvS7Dez505rF6j1G2AxHj50IC1vWE3rN2wpOb9eluwLAoKAIOA2AlKeICAICAKCgCAgCAgC1UKgploFS7mlIYA5uHff9xTd+8CzNH7sSDrjlGM6CoCVdseO3TRs6ABKpbpBi4xUAAAQAElEQVR3nFc7/fv1pl4962nrtu3Z4FawGGMOMc7hmsqntigDZSEQFuYBl5pflSNbQUAQEAQEAdcRkAIFAUFAEBAEBAFBoIoIiABcRXALFX3bXY/Tp67+CX38cz+kCcdeRu//2Lfo+GMm0X23/YoMC/C6TbRn7z7q0qVL1g2al4vAVmnLAgwheVvTDoLFGJGk4eZcU5P7irvUdqFUsi7rLl1Ofv58ORYEBAFBQBAQBNxBQEoRBAQBQUAQEASqi0CudFTd50npGgJPPjsrG9jqplvvp8VLG7PLEEEgfe2NxdkgWVrW7O6QQf2ygmv2QPvp3r0b9evbUzvTtgsrL6y9bUedv8jft0/l+TtLzL83e+58kiQYSBuQNiBtQNqAtIECbUDGS+EXpA1IG4h4G8gvNXhzVQRgb3C2fcpff/8dat0xJ5s2NzxF137/87S8YU12qaNf/u6fWYFYv3GNZQlWc4T181giaffuffqp7P6q1RvI7rw+1zibsf2n1Pztt8lGEBAEBAFBQBAQBASBihGQAgQBQUAQ8AKBGi8eIs8ojECf3j3oG/97Fd30x+9mM1//59uoYeW67D7m8sKd+dChQzlCMTJ0zOHtVU8D+vXJzgeur09lXZxbWlqQxUj79u+nzVuaqK7uMBo4oG/J+Y3CijiAW7ekSVn3dsFBcJA2IG1A2oC0AWkD0gZs2oDwCcdIu4hDuyhCdKh6FhGAqw5xaQ8489Rjacjg/rRt245sUCvcDeG4PpMiJwstAl7BdXqQJczC5Rl5e/fqkY3ujGsoQ0+wCqMsLImkyi4lv16W7AsCgoAgIAgIAoKAICAICAKVISB3CwLeISACsHdYF/UkLGO0e/deqq2toS61tYR/Awf0oVEjh9LK1etp6VsrccpIz7/0Gu3ctYdOOG4y9eyRyaYJ40Zmz81b+JaRFwevvrGIVjSupSMnjyUIzT2te0rJjzIkCQKCgCAgCAgCgoAgIAgIAoKACwhIEZ4iUOPp0+RhWQQeeeJFuuQDX8kKodkT7T979+6n3/zx3wQh+IxTj6Gxo0dkr8AF+sLzTs26NH//2htp+45d2fP4WbZ8FV3/p9uoW7eu9MHLz8tGiYa79GXvfjsu0w+u/Qs1rmpzpcaJrZZl+ee/uSXrSn3VB9+ZdYMuNT/KkSQICAKCgCAgCAgCgoAgIAgIAoJApQh4fb8IwF4jbj2vZ480Pfz4DBo15V00/pj3ZJdBuuKqa2jw2PPob7fcR4je/KNvfyYrnFrZs39f/twH6Owzj6ennp1NY6ZdQh/59Pfo4vf/P5p43HuzVmHkP/G4Kdm8+HnPu99Gn7zqkuy1Ccdelg2shWccMfXd9Mz0OdlryIO8SNgvJT/ukSQICAKCgCAgCAgCgoAgIAgIAoJAmBAImAAcJujKr+tJx0+lN166jT79sUtpW9NOwjJId9zzBCWT3elrX7qS5s26g6ZNHWs8APN17/nXddnriPp8y38eovseeo6OmTaBnnvkRvrqFz+ctf6qm7p27UK//dlX6PrrvpoNcoXykQb0702333wt/enX1xDylJtf3SdbQUAQEAQEAUFAEBAEBAFBQBAQBMKCgAjAPr2pcWNG0J9/803a8Nbj2WWQsBzSmsWP0M9+eDUhiJVdtXAe17eteqbjnpee+judfsrRhvCr7kWU5y98+gpaY5WL8pEWzb2bLr/0HMIcY5VPbUvNr+6TrSAgCAgCgoAgIAgIAoKAICAICAJhQEAE4DC8pZjUUcgUBAQBQUAQEAQEAUFAEBAEBAFBoJoIiABcTXSlbEGgeAQkpyAgCAgCgoAgIAgIAoKAICAIVBkBEYCrDLAULwgIAsUgIHkEAUFAEBAEBAFBQBAQBASB6iMgAnD1MZYnCAKCgCCQHwG5KggIAoKAICAICAKCgCDgCQIiAHsCszxEEBAEBAFBwAkBOS8ICAKCgCAgCAgCgoBXCIgA7BXS8hxBQBAQBAQBQSAXATkjCAgCgoAgIAgIAh4iIAKwh2DLowQBQUAQEAQEAUFAR0D2BQFBQBAQBAQBbxEQAdhbvOVpgoAgIAgIAoKAICAItCEgv4KAICAICAKeIyACsOeQywMFAUFAEBAEBAFBQBAQBAQBQUAQEAT8QEAEYD9Ql2cKAoKAICAICAKCgCAgCMQZAaFdEBAEfEJABGCfgJfHCgKCgCAgCAgCgoAgIAgIAvFEQKgWBPxDQARg/7CXJwsCgoAgIAgIAoKAICAICAKCQNwQEHp9RUAEYF/hl4cLAoKAICAICAKCgCAgCAgCgoAgEB8E/KZUBGC/34A8XxAQBAQBQUAQEAQEAUFAEBAEBAFBwBMEfBaAPaFRHiIICAKCgCAgCAgCgoAgIAgIAoKAICAIkAjAfjYCebYgIAgIAoKAICAICAKCgCAgCAgCgoBnCIgA7BnU8iCOgBwLAoKAICAICAKCgCAgCAgCgoAg4CUCIgB7ibY8SxDoRED2BAFBQBAQBAQBQUAQEAQEAUHAYwREAPYYcHmcICAIAAFJgoAgIAgIAoKAICAICAKCgPcIiADsPebyREFAEIgQAvNXtZROjdwhCAgCgoAgIAgIAoKAIOALAiIA+wK7PFQQEASigsD8lSIAl/ouJb8gIAgIAoKAICAICAJ+ISACsF/Iy3MFAUEgEgiIBTgSr9FLIuRZgoAgIAgIAoKAIOAjAiIA+wi+PFoQEATCj8Cbja3hJ0IoEAQ8Q0AeJAgIAoKAICAI+IuACMD+4i9PFwQEgRAjsKGplXbubaVDzSEmQqouCAgC3iEgTxIEBAFBQBDwHQERgH1/BVIBQUAQCCsCq7e0WX93WEJwWGmQegsCgoAg4BUC8hxBIO4I7NoXdwSCQb8IwMF4D1ILQSB0CLRast/G7dZP6GruXoVXbmqjf8ce98qUkgQBQUAQEAQiiYAQJQjQvEYJnBmEZiACcBDegtRBEAghAg0bW2n77jYBMITVd6XKKze3DWQ79sQbB1fAlEIEAUFAEBAEIoyAkAYE3hABGDD4nkQA9v0VSAUEgXAisGJjC22PueVTXKDD2Xal1oKAICAICAKCgKcIWA9DvJAFq9sU59ah/PmIgAjAPoIvjxYEwoxA1gIcc8vnys1tll9xgQ5zS5a6CwKCgCAgCAgC1UdglcUzxNVzrvrolvYEEYBLw0tyCwKCQDsCDVkLcJsA2H4qVps9+4m27myjH5GgY0W8ECsICAKCgCAgCAgCJSGwanML7dhb0i2SuUoIeCwAV4kKKVYQEAQ8R2D5htZYu0CvtAYyBboMaAoJ2QoCgoAg0InAW+vblISdZ2RPEIgvAis2tmaXTkQQ0fiiEAzKRQD28j3IswSBiCCw7wDRhiZLAI5xEKxVmzsZOwmCFZGGLWQIAoKAqwi83tDsanlSWHgROHAovHV3q+ZYOQLCr3iNuYVo+eWIAFw+dnJniQhI9uggsGJjWxCHOAfBMgTgvZ3CcHTeslAiCAgCgkBlCLy6om2sqKwUuTsKCCxYJW1BeKfgtGQRgIPzLqQm0UYgUtQ1bGwT+LbHOAjWSsMCHKnXK8QIAoKAIFAxArB0vSYCcMU4RqWAZetbCLEzokJPqXS0WPL/mq1tvJN4jZWKnvv5RQB2H1MpURCIPAKdWsy2zrwwwdHLscqYAxxfHKL3ZoUiQUAQcAMBLBOH6TJIbpQnZYQbASjO4yz4QWkOIRhvUeKGAAV/kwjA/uIvTxcEQonAig1tAl9cXaAxiIG5Uy+v4DJIKqNsBQFBQBCICQINHVNl2saLmJAtZDog0LixlZpi7DXWuMkyAbdjE2fvuXYIfN+IAOz7K5AKCALhQ6DBGshQ67iuZ7e+qZUgBAMDpKYYBwMD/YWSXBcEBIH4IdC4qU3wFWY/fu/ejuIGSwCMs7IYAbAULhIESyHh31YEYP+wlycLAqFEYNdeS4urCXxxdGnSBzL1EnfvU3uyFQQMBORAEIglAivaFaXbdsWSfCFaQwCrRsAVPs7KYmU4ACzbd+NXkp8IiADsJ/rybEEghAgsY+s6xtENeqU2/1e9wh2WYkDty1YQEAQUArKNKwKN7S7QcRZ64vruOd1K+IuzN0CjZQFXuAi/oJDwbysCsH/Yy5MFgVAioAYyVfk4WoD1+b8KB1jG1X4ct+LSFce3LjQXRCDGGRrbXaCF2Y9xI2gnvbFd+IujwrwdAmps/x5wHGdXcNAfhCQCcBDegtRBEAgRAg3tWn1V5TgGtVipLYGkcIjzwH7gENHiNW3z/RQeshUEBIH4ItDQ7v4MBJrE3RMwxDqp9hBHhTlePJ82JUohoOJvEgHYX/zl6SFFQHXmIa1+RdVW87pUIXHUZOqaXIVDnC2gKy3t/jZtXrjCRLaCgCAQTwQarT5BUR5jF2gFQey3imeKa1vQvwc0hji7goP+ICQRgIPwFqQOoULgoGXtWrauM5x9qCrvQmWXbzBpj9uAhsjXdu7OcbYAN24yA6O50MykCEFAEAgxAkrgAQlxGyNAsyQg0JlWtHuOxdUbQP8egEqc+QXQH4QkAnAQ3oLUIVQIYP5nHN1+8ZJUJEfsqxQ3C7Cd+zOwiLNLEwRgifSKViBJEBAEgMAKzQV6m7hAA5LYprVbW+lQcxv5sbJ8tpGc/cUYmd1p/4EreKvMGmpHw5+NCMD+4C5PDTECa7e2UFNMl3XQmRr1CuOmDIACRNGubzGg6cdx2m/cZH0T4gIdp1cutAoCeRFQEaCRCV4z2EqKJwK69TO+ArDpOQfhd/e+aEvAQW/tIgAH/Q1J/QKHwLptrRTXTryh3Y1JfylxE/xW2QTAAh479+I3nmnlpvh+E/F840K1IJAfAV1RGNfxMj9C8bkKBamidvc+tRevbYPmEaEo3xFjnkFh4Oe2ygKwn6TJswWB6iCAgX3rrnhq7lZsyKU7bnNZVm42NbmqlcWVyYNrG74JcYFWLUG2gkC8EVi+3hwn9h8k2nsg3pjEmXruObZ1p9k+oo4NFMR2NMaVZ7DDwo9zIgBXE3UpO5IIrM1agCNJWkGiGjblCn9iAW6DbVdMNdsr2y3icXOFb3vr8isICAIcAbtxQtygOUrxOdYtwKBalOZAgSjOXmNtCPj7KwKwv/hH+ulRJW7NllbaFkMLMOas2FmA4xThExHA1261117HCQf921Zz/eL4Teg4yL4gIAi0IWDn7hnX/rENkfj+gm/gFtC4tQW77wEtIm44gOYgJRGAg/Q2pC6hQGDj9lYqouMKBS2lVBJzXzGY8Xvi5Nq2xkH4BSY799oLxrgW5dS4qY1uuELv2R9lSoU2QUAQKAaBRhtPoaY9xdwpeaKGAKbHYGzQ6YrbigmN7WOkjgH248ozgPYgJBGAg/AWpA6hQUBpMg8cIoobs8/X/9Vf2qYdbUJQ57lo7q10mP8LatEe7BQEuBbl1KAN7mIFjvKbFtpKQQBM/5K1uVNGSikjrHnj7ikU1vdWjXqvsAmcGbe1gBttFELAOm6uig8E4gAAEABJREFU4KA5SEkE4CC9DalL4BHQ3V/jZgV2cuPBS4vLWsCwgoNep9TRJpwyRPD8Sm1w3yZLIUXwDQtJ5SCwbH0Lbd5Rzp3hvgeCP1ZK4FTEsW/kGMTxuNEm+nGc2kKLpQNz4hskCJa/X4QIwP7iL08PGQJrtlq9WXud48bs22ly26GIzbJQTgOZwiFuyxpgcF+juYUrxkbhIVtBIK4ILFnTSnEbI/CuV2zoHCNxrNL23WpPtnFCQPcQUnTHKXAmxkcohRTt+jYuhgOd5iDtiwAcpLchdQk8ArpmO24DeqPm6spfVFwGNMxn4rTrx3Gb07NycytBCFYYxM21TdHNtnIoCNDitS2xjBXhNE6ItSueH4XuIaQQiJOieGWeaVNx4xfU+w/KVgTgoLwJqUcoENAFoDhp96HBRPRrp5cUF8GHD+bD+yYMSOKm0W1g87vEAmw0h5geCNlAYPGaFtq6Mx6xEUCvSitsXF5xLU7jJeiVRISYGHYKkTjFimhw+B7QPkQpBBT8SyIA+4e9PDmECJgW4PgwN05ubeoVxiGq4xaLmdUjXtd1I+pbzwTgmEWCXmlZgFUbwFYEYKAgKdYIWMTvO0AExj+OkY8btZgAFhQdfxLwpwOK2Ow0bmrNCsGc4DjwC4rmlRYGap9v42QJV7T//N6D9LkbD9BvHzyoTvm2FQHYN+jlwWFEIK5BsJy0+uodxkGTyef/9uuRoKQlBCsMsI2LKzhoReKDe1w8AUC7JEHACQEV/TlOli6FhZPFa7sEyFMQxWbb6KQMidF88AYHDNAI4ughsmB1C6F/fHBOMyDwNYkA7Cv88vAwIaALv6j3thh14lwA7scsn3GYD82tncCg7jDTArxzL1pGfBJncMQCHJ93L5Q6I4D5v7gat+8BHjIbmuw9o2KCBV67pHYEnJQhW3fZt5H22yK1Wc28pDhxWD6Rn4vqMWjNN5XOa7pFAPYacXleaBFAND+98nEa0LkL9OEDTMEvHhZgM7pp30yC4Aatt4k4uXaBbs7gxOmbAP2SBAE7BBavaWPw48ToAweuEMM5lQ4cIgIDrI5lG0UETJq44ly/umtv2zein4vaPowmaPeKrkwdUa+0yTvFyWvsrfUmD6Vw8WsrArBfyMtzQ4cA11zFyb2NCzoj+5udeBwEYO7u27eeKHmY2YzjYAlXFDfazG3auktdla0gEF8EFq1pY/R27yNCAMG4IMHHCU63KMg4ItE+bmBBEnVqIzk/XifQ2m9gAbD620ybatoTfUWABUX2T3nGZA8C8CMCcABeglQhHAis3drG1KjaxmW+IzS1CACl6MaWRz+OQ4ATPge4bz3mAJuKgDhZgBtt5jZhWQdE/kQbkSQIxBEBzHXV3YB53xllTBoZw89pFQGYIxLdYyh+uNFApxbfiX4cxX0+RvYHz8CU5lFaOaLQO1y2LljCvgjAhd6YXBcE2hHQI0DjVBysnqCTuzEN7pWgHklT8It6MIf9B4k27TA7b7hAcwswBEBgFofELeKKZlnuRCEh2zgisIQxeXES+jjDz99/nJh9Tnvcjp3GB4VDHCIgNzIvKViAUzlxQ0y+QuETxe3SdaYRyW8aXRaA/SZHni8IVA8BPgcYT4qDG/SKDWYH3b9nm/DbrQsQ6Ey79nXuR21v1Waz48ZABhq5AByHQR10I/HBHeeQ4uQGDnolCQI6Aovb3Z/VuW0xmhbAlaXD+raNFR1YSCRoBUXktyvyuD+D+DgohvgYmV05IqYWYBgRCilF0C68TCIAu4m2lBVpBFbZRPOLg+svD+M/oF0ATjJNZpSDOazaYioBEAEajT1TZzJ4UbeEg2aVVtq4QOOaWICBgqS4IpAjAMdE6EOAq83MSyZ3qozZj8a1jcSBbi78cZqjzC8oWvkYCcV5Dt8Ug2BgwGMZC4A1qJfJOyGP10kEYK8Rj/Dzokza+m32A3cconwu5xbgHm0dV5JpMqOs0V3JXJn6ZDpbe9fazn3sgRHENsqpxTKINzBMFL1x8IpQtMpWEOAILGyPAK3Ox2GMAK3c4jfQUpSmu7eNFbiOFCdrOOiNc+LtAVOndDyiHgRr7dZW0iNAp7tTdtUIvnJElPkm/X0vWWvy0DyQqp7Xq30RgL1CWp4TagTs3J9BkNZ54TCSiYeuH9CjjcwUE4CjPL9rJbP+IwBWGwqIBG0yeXGYB4zvAUKwwkDfxuGb0OmVfUFAIYDgVzy4T1wUQjwAFqxdfIyQvkG1lOhveXvgAg//TqKGCI8ADfdn0MgNB1Hmm0CvSsvY/N+R/f0XP/2vgUJHtoJAgBGANs+uelEf0Ddtb6V9Bzopx7xfFQArabhAE0U5KNgqNgdYuUADGa7RjYNrV6OD+zPw2LYbv5IEgfghYLfMR1ysng1szmdWAGYW4CiPEfFr7fkp5kFDcwTgiC//w8dIfA9AjPNNcVk5ggfAOpwtpQlsvE4iAHuNuDwvlAisdXCBjvpSSCvYshb6vA249OgvM8odOV/OQQ1moD8JSzh22lMcAmFxl/B20rObOCgAsoTKjyDAEOBufrgclznxjWxKxICeRHyMiPp4ifftlOLiCQD6l6xtwaYjwWOqnq0cEfX4KTnfg8PUsSjzTaoBwBWcB1M9XCzACh7ZCgLBRmDNFrNDV7WN+qC2wkarr2iv62a6/kaVuYEmGx24ohtMHSzh6jjJLOFxEAD5/F+FBbZxmfMIWiUJAjoCi1bnjhNRHyMU/SuYsrR/fYKSTDkYdY8phYXd9vkFuW3DLl8UzjXYtYVuJmVRbwtcAFZeY/ybiMOqCctZAKxe6dy+wWwd3hyJBdgbnOUpIUcAQpAdCVF36eLzeBDYROGQ6q722rZRFfxW8wjQ7ZrcNqoxB1jttW137m3bRvm3MY8LdBwGdPZuOw6j+g10ECg7eRHgli9kjqpiELSptGtvK3FBv3cmQSnmAr1lpxkIR90f9S3mhvMouFGmmQvA8AbgbSHqvNNKNkYqr7F6tnJEHL6JZevN735Ib9N44te3IAKwX8jLc0OFAIL+2FU46vO7nCJAAwuuyYyqRpcPZH0txg70q1THNNtRH9gR/Golc3dUWGAbF5dP0MrT3OXxsfJ00p6798LC5tyTET+Db2KvFi9BkbtrXysdijgc3PqrIv4iQr7uLQNMdu3Db7zSvJUtFAdBR73VBuY5Busn2kGtJnEgtkhUvwvEjNG9xlKWsUDnl4CFwgpbu34D56OSuGJQn0rnJ41ac/SzGvJsQSC4CGza0UoHD9nXrynigRx48CfDAsxcf6M6pyfHAlxvai+TDIedFsNr31qicRbeEDrjclhXk66oKkJMKu2P5r4lAjCQeeDliEt8IFKl9q1dAKz2SxT1aQENzOV1QM/OPjLFrMBx9JKYv6rFspCr1hD9bSNTkKr2kGZtIarKUijD9LesrL/qHOcZov5NLFsnFmD17mUrCIQKgTXMBVav/GZLONaPo7S/anOrsY5dpo6ou2btTLL5XVG1fPLBHAE99Pec1DDB+ai7APMloYb16WR2Qf/+g2REDse5uKRZS0QAxjJgr65ooSj3jXbtedEa53cfZQEYWDRwi582TYQvhcRdpXF/1FOcLMCw7G7c3inwJKzhARZgvGPOM0RVWdrA3Z+50pzxDFEWgKEsX8H6hyGMZ0Db8COJBdgP1OWZoUIA7ixOFcbHHVX3Fd5pcS1milk+oyoAQxGgv/9+9foRUR3DAQKAmSNaR418cLeYXbU0lqI06gy/olPfgmYwdFH9DnRa8+0/N7+FWi3+F3jkyxe1a0vWWEQ7ENW0y+FCRE43MIufPlakmKIU30hEyAYZBdOe/USIgAtrJ76LgjeEPMPyDaYiqJ8l/EEIBlm8LURVWdyY53sADnXsm4iq9xxoXWG1B/DJ2EcCr9CdeY3hvB9JBGA/UJdnhgqBfAIwCInqgN7A3Np092fQjU7cUu5iN5t276Ms45s9iMgPlBv6++1i9Zg9UzrVRNwCHPVlkHi76GcJwOnu5gvXMTOvRPdI4bJlR3RpLIay6Qva3J+37iwmdzTygMFbxiKd6pRB+NGPo7a/YoMp/A/o0Ukhd4Fu2tN5LQ57sP6CTgi/0WsHoMxM+YQ/3haiqizkwUN1hRDQSjGleZSXQlrK3J8HByQAFt6Dxc5hI0kQEAScEHAKgKXyR5XZ50wN78QhBkIIVjhgGzX3thWW9hJ0qcTdn3Geu3VF2Z0J9OYwOJaGP5UjACNnvFJDu5vX5phGusXbhvfD6w1tFqAtu0yhCNejmmD1ghDsRF/U+kWdTtCG967OIcCPriRMMWtXVMdLRT/fYv6vOrc1Bn1DPs8xPlaGXgBWL5ZtOQZQEutZON+0I8JKoaXr2sYDRb8IwAoJ2QoCIUAAQX/0auZ24vrV6Ow3MldXbgEGpWkW1CJq1k8eAIsrAYBBkmlzd1qWcJyPalq12RzQgAlvB1FlbPK904Z2j4k4RXvleLywsIUQJRznIRhhG4e0ZG1+YT/KQh+PCYD+QH/nabbsS9z6hgWrOvvLbbt1ZKK5zwNADejZSWfuONF5LSp7WPJKV4YlLQUQVwKlOM+wN3//EVRsiqnXsoAugYS6iwUYKEgSBPIg8BZzbRve1/xsosjooQNftdnslAdokT0VXHwJoKgxenww75NRlHduERgM1nB1Bmtiwt1NHUdpC2UQglwpmtKW5Rf0cwtwFL8JRbPTdkW7AIyo8U55on7+2Xlt7s+gM06KgMUsAJZaBgg4IG2N8BzgFcz9mQvAfIpIHNZFxjtHarZkX10AjkNgONUPgn4kzAHGFim3LZg8BvKEPXH6+fcA+nJwiOhqIuCDlnELcC+dWwIa/iWTky+5HnKDIBBtBHggFyz50o8FQYqa0Ic3uqLdnRP7SL3TCdLX8KP2f1yTGTXt/qotFgfTTis2di7Q6M4hBOK6SlHDQdHlNLeJt4MofhMKA6dtQ/s3Ewcm1w4DuMG+1u7+jOu878S5qCa+BNK4IegVOqmN8txP7inEGf4U8xKKU9+wdG2LsZJC1L8J9AG6mzd4hr6Zzm8B1tDOr4IoisGfCn0PoJ/jEFUX6BWWUhjGFNCMlKlLUMpSmmM/CEkE4EregtwbeQTWbTU1lOjMU2xAjyJzwwUdO/dnvPwU68yi1pFzF+h+9Z2DOehXKcXaxM696kq0tiuZ+/OAHm14wBKsUxq3QDdY9gPLfwCDqDO5oNEu6e7PuB5lqyfoUwkeEdwKOm6IyVpFWehrsJhchQW23FOI9w1RVQ6Cdp70+b+4FnXPmEab6McqAjTo5+NkFONlcK8xNUaCfpU4DlAcqGtR2nLr7xA9AFYb6+AruWYv7WtV5OFhQyAO9eUBsHpb2szUYSblUVziYnmOW5tJszrimswoMTeYy5gjALcLfIp+teWu4FHCQdGILWd2lUWcD+hRZ/SAhZ707yWuLtDPze90fwY2cXGBXmJZ+UCvSrCA9mKR4qMcEXsZmyLUn83aeBkAABAASURBVHlI8TEiiuOlevd8O2+lqUDfEvHI6FwRxBXGOW1ht4kPxy+Mx3yM5BiAJs4vRHVaAO8bB/UC9e0pAK9eBOD2dyEbQcAOAS4A9U4TtTP7HdmjaAFuaHfnVET2t5n/i2tJFswhSpYOKD8gBINOJKxfh2WQsM8Tn9MTNUu4otdOw49rOUqhCDI2oNMp6d9LHJdBggXj1RXmdIG4KEH4/N8hfRKEKK+6gWPXvlbSXQGd2lHYzkPJoTwfUHdEgK5P6pQTpZl3TBTHS9Bul95oNL+JqHuHNLDAmVAG6bikGL8QRRfo5WzlCI4B8EgyI0pUl0FaFuAlkPAeRAAGCpIEAQcE+BrAfdIJa0A3M0dJ6FOUYe6G2sc2140HZ4lyOvIIhfPn7r79mGWjDYG23zo2sEd1QOODu3J3TDNX+DhEO217822/DZobKKz/CH7TdiUev9z9GVRD4AMW2I9yWswiQA/tnaCERXC6zvrR/qKoENDbPUi1myqDeaCInYHrSAiMA4UJ9qOcwDtwF18oDKJMM5861b+HSW3dYZT9Nqj9H9oB2kP7Yeg3PAI0LL0pNjaCyCTjF6LYN+C9cu+QIC2BhPcgAjBQkCQIOCCAqLf6pT6ZhCUAg73pPBs1LeaufUQ8kE9/B9ffXI1uAPxaOl9NRXurWRRsYy0/VnLqMPMEBnbzTPiP+OCOgR0DPChDcAtsVdoeOwuw2e7596Nwiep2+gLT/VnRuS3C0Y8VjXYWYFzLxMDy2cgtfg6eQinG8EfVQwbvXaV5K03rL85HUdABXSoVUoiAc0pqAiGEJK4kUGWFcdvI5kArBTGnpWstEZI6D2XhgUPqKBpbrCKC+AiKGvAL9XVoAe1ntN32M55vajx/ojxQEAgRAqtY0B/MAc5EXLPfwNyf7bT66hWmmOAXJWXASi4AOwTAAhZ13czePIoMnj64g+Z+DI+6bjjbmeIkBPN+Ik4CMJb9mrMsl9lHS4i6xQvMO1eSqkAvYPiAgUpRVAY0aJ4PoNNJUZrrIWIqjHBv1JKdAAwhZ7elYI4araAH/b3u8QEBr1faHBeRL8WUIVEKmNjIFUIOhgPgwK3AOna4Hva0lC1/pPrFDroC0AWIANzxNmRHEDARQIe+90DnOcz/VAM5X/YmSm7QPJCFE1MDZJI5AnAAejVUzIXEBWBY/52K5ThE0QW60OCezrF4OaEV+vMGAassRQkYW/1knAJhvbDIXvgFHlEXgHPcn/t0Mvz8e4ji/E8uADtPlenEBe0iSuMl6LFLPAK0yhPVb4JPm3LymOJjJfgshU3Yt/x76M+UxDp9XGEcNaX5EjY1ZHAvsw/QsfBrXwRgv5CX5wYeAQRB0iupIt7iXJprMXfjbDRSA7MAO7nxgNpkDg7REYAbGQ798s0BZtbPqA1meNcN3NrDBndu8YoDkwtcVrB2gnObd0bnOwA9ZjKPprPoz/rVKAp9On057s+9O5m8tObqiXui+D3wtu+kLM3tG4BIdNOe/UR8ORxFbVS/iZzxwcH6mWsBjk5f2chcoJ2UAGgLyQgbD0AftwAP0vpGXA9CEgE4CG9B6hBIBBDEQq+YbgHMHdCj04mvYIKOk1Yf2CDqJ4KcYB8Jc1kw+GM/zAlztXTrP+jM6PNXGHFJpgiIogWYM3R8cOeMTVyivTay7wVNIy6RoPGtz13ubAGOJLOPF9yeFrMlkIZqFuAU94jYFZ0xAuRv3N5KegRoWLS40I98SCnG7EdRGQA6VXqjwfmbiKoFuJG5/zrxDUnWFqKkLF7JMHBSCKGdpDjPsCda/cMS1jfmuEADBJ+TCMA+vwB5fHAR4HO7+mQ665pmzE2UBnQuAA/U127rhKBjj2MRhQBQfPmrfAMZgOCDehQwAF16Wsnmw3MGh0e93R4hrwgdB77fwLT+uL4lYsIOaLJLLyxsJn2pMJ4nivNedRoXrzGZViyBpK5nWKyIqKz1qehrZO0+n6cQHyMwd1qVE8Wtk/szaI2qYrDY9pBmnhFRmfu6yVII6UrzfAohtAM9GBiOd+zFbzTSmi2tpAfAAn+EZSSDRp0IwEF7I1KfwCDAhaDeWkCHFOvEo7LsC4L3IKiNegmwfBbquNC5qfzYRmGA54N530ynayNo5AmDnX4uSsHAQBcGd1j7sI+EdsG/Aa7Rjrr1DzggrWDrPuIc8MI26uk55v58+ADzO4mqtQvvFe8YniLYR0LQn37atIA0U5JGTSnC230+JWHuGAHEQpmKqvSbNhGg1Y1R9Q7hLq/9HKYM1THLZ1SMB9xwkO97QFtI5kybMpVpyBPWtIQFwBoUwPm/wFYEYKAgSRCwQYC7QCMCtMqWYm48OiOk8oRxy+fx5NPqK/o4cxMFlyYENlL0YavP/8YxT0k2qEfNwsGtnHYDWpophaLC2PB3rR/D5Z8rynA9DnOAoRCZvdR09TxprMlSRFkJkuP+3NcU/rmCKCpjBNo3ElcS5mP4U0wZEOW+AWuAL1ptfhfAS6VwfxOKCnMLRZfuDg8Fac+U+T2oOzjvFBVlcSnuz8CCKwKiYgkHbUtZAKwguj+jnuZohTOSBAFBIIvA2m2mRq6v5gKdYfNBoyLwNLA5LNzNNQsM+0kz5iYKWKzeYjIw/XswotkhrD9dajtPQjDSXYA6r4RzbxVzf+5vE+AkzQTgKA3oTm9t5eZWwlqW/PrWGATBgvuzTnc/y/o5aoDJUkQZhyWMyRumzf8FLnwd4Kgw+qANaSV3gbbpE5APifcNURgjQJddWrymhSAE213DuSgKwFwZkk9xngqzshgv0CFhLNAvFeKdUsyIsjNCLtBvrTf5p8EBDICFd2WOVjgjSRAQBAjWDX2QxhJIutCbZJ1XVAa1FRtMod9O0OHNg7vyREG7zwf0PgVcoIFJspup8Y4CDqALiXsGQNjBeT0lGWMT9fmfoH2FjfszzmNZpKgrALj78+ThCTqsK5EeFA9z4tCXApOopYXMyseZvDprjEhoRGM8gWJMOxXq3WWMyc0n9CQtLHRit+7Sj6K1z9f/5davqPAK+lvj/WA+voG3hShMmQIW3AWaB4lEHj2FkV/Q659vn3vHBHEJJNS/Bj+SBAFBwESAW7x092fkTDOrZ1QCnPBOPB9TAxyQkgyLsFs6Dh4i2tDUqQiosbjYQi7QWRwYkxelSNBcIWDH4KSYBThKCgC8X7vEFQN6nqjO9QONEGrnvGVq+ScPb2Mn6pPWB4NM7SmKDD9IW8KinOoRoHEdKPBvIirMPgJE6sI86ORxEICBSimmHINyyM5zQuUP85YHwJrU/l0omrbuVHvR2RYzPihqU3yc3KOuhHvbyJbDs1MS6xRyRUBUgmChb9i9r5PS7pZStJcWP6fziv97bSNW0fWQjIJAPBDg83+5BZB34lFh9rkmt5AbD1oDxwLMDc6HNa3a3Cn8ggZ03hCCsZ8vweKjX4/CXGhFD28X/WxcwtOMyY3KN6EwsNs2MKZHzxPlecBwf9ajP6N/VEqRDIt+HEU3aPQRUAKo940+0C5YYIZNlYnKPOBGtvRXoXECXgFghBVeEH6jpCBUdGE7b6U5fowfAlUIrrSlXfvM621nw/2bozjP4w6fYgrzKIwTCIgHbxf1FjEHOsP6QXVNbXME4Igsg8SDoXHPGEV/ELYiAJfyFiRvbBBYs9UcpHqnTdJ5Jx4FzT5C1+tafWj0U8yqZ6LQdsQ78tALwGz+b1+HaJZt1Hf+cpemqCyFhMjgfHCvZ4w9UOjejXLcX/X2hDxRS5zx0+lDYBj9OEr70xc0G+RMHZHoOOZzX6MW/RiE5lh/WQAs5EHi/WdUpgXwWBFK+QGanVKKCT5RXCYNihG4uisMMCUAlkCuHFnP4ouo/GHdckVgfxsFqaINyhDgoo4xRujKJHU+TNsGNh9+YBFRj5NMYay3mzDRzuu6bJ3JOwfV/Rn1FgEYKEgqCoE4ZSpkAYZwiI5cYYIIiOjI1XEYt3wQs4v0a0dXinXkYXeBBhOj09mviPm/yJ/krl0RCWrB3dvyucXzthBlIRDfvO4qjzagJygO9OOo7INZnevg/gwa08zyERWrJ2hTadEa0/17aG97VopPlYmCohQYNDALcP88Fj/kR0qx/jEKlj/Qpad5bPmjw/u3tQtuDYySUgh9IPpChUOb9bNTIabO69tkDs9gCk163jDsN7LgocV8D8BJ5yGhZA47D4l3xZWDYgEGKpIEgRAhwAXg3ulETu1TrBMPO7PPrVmF3NoUIEnG2GzfHe7BjEdz7FuffzB3wiEqGl0e7TXf4J5mHgNRYfjVO9a3DXncn5Evqi7QMxY1k86o6e7PoJtbgKM453HxGrOPG8IiQAMHpJzvYZd5H/KEMTWUIwAzC3BTRFw+9ffHBeDh7Z4BGeYxE6VpAY3M+lmM4jwVNZ6BYdC/aJ7B5C3C7j2Hb4ErBwcFNAI06tqmnsKeJE8ROHjwEN3136fohLM+QrU9j6dE/bHUa9hZ9PXvXk87du62rUtzcwvdcc8TNP6Y92Tz454h486n391wO+3du5/4v9bWVpo+4xU66eyPduTP94xS8/PnRemYu0D30ZZAUnRy5ibsGm3O1JiWPkV17pa7toU9mMNqNge4XxHWDaBSx6JAR2VZg8YStNspJgBH0c0R7xqJu71hKSycVynsCjFFB99y9+cjR5psRD2zAEcxCBZf5oMHwFKYccEnKgqhVWxZtGLGCt43RClGgnrfC1aZngEj+rcJOBn2TUTFFR50NzBFYD4FKfIj8bYQdq+xUpTEoF8lrggIO8+waUcr6QGwYOXuW6QHncLEy605cnn55Bg/a9++A/SBj3+L3nvl12nOqwtp0MC+1KtnPTVt30k//80tdOkHv0rbd5jrBEBg/syXr6UrrrqGtm7bQVe+/0K6/NJzaFvTDrr6q9fRp7/4E0MIhjB73W9vpTPO/xS9Pm9JNi/u6dq1S/YZ513yBdqydXvHWyg1f8eNEdyxdBOkC7MIgGS3qHuSMfvb7PUWoUFoOVvSpZiBDMRxCzDmvlq6F1wKZWpgAl+2Ay+CkmQ3M1MUtLmgqIFptzGnDeftUqp7G8OnrkWF4Vf06NsGZgUbNdCkffMOPXc09uH+PGdZi0HMpGEm3Wlm7YqaImDZuhbCMlcKBATJq2PfvrrGGdwmc1hX2UK1RawInf6M9b71AFdOxHAsouYaD4+f1Vs6LfzgG5RiJM36xSh5h/B+sBjPsSRTFod9rMzlnZy+AvM8D5yp851mznAchcn9GYiKAAwUPE7NLc2USCTor7//Du1Y+xytXvQwbWl8im77+/9RTU0NPfXsbLrtrseNWt1939P0l5vvpbNOP5YWzb2b/nHDD+j2m6+lhXPuojFHDKdbb3uY7nvouY57Zr78Jn3nx3/KXnvjpduyeXHP0tfupbPPPJ5emv1G1nKsbig1v7oviltu8eJLICmaoxT1Fi6N+uANGovR6iMf2F+dAYTwG9YBbeP2VoLsXMd+AAAQAElEQVQCBHQhQYPJBXyct0t8MIMiwC5f2M4tX99Cep375wlwkmaubWEf0HW6+X4Ds3yMHmgOp1FichXtLxZwf0a+DLN2Rc0CvIi5Pw/N4+LHBZ8oYMHbfb7+AO1BJa4ci1rf8GajqRiC8AshGPRnmLI8Cu0AdCFxBWn/IjymuDIkzG0BVk/M3wUWSOAZMpZSCPuFElcEQIlS6J4gX18WogBYwNEcsXFGUtURSCXr6I5//JQ+fuW7Cft4YCKRoPe8+2y65J1n4pBefmV+dosfWIxvve2hrND8tS9dSb171eN0No0YNoi+d80ns/t33fckHYIkYx39587H6MCBg3T1Z95Ho0cNs860/fWoT9P3r/kUdelSSw89+kLWgowrpebHPVFNfP5vHxYBWtGdYoNamDXacOGB4Kpog8UbHbk6LrRNHQYxuDNXWF2aVjH354FFRHNUVCcZBlFw8QOjxgf3HmydV0U/tilm6YjI+tggLSfxOfOHD2DfQMjnwucQbJ14Lk/0Z+ty9i/D2sCWndnTkfnhVg6n+b8gOM3HiAi0CS7wFGPxAxYprhzbg7PRSfPY8kcj+nX2B2mmFAozr8DfGF8irxgBOMn6iLDyC8ACvBO2Kg3s2fne1TmnbZJ9E2GfPhamJZDwTkQABgoBSRBKU5ZwzKuzdv0meuX1RXT4iMF01NTx/DJNnnAEZdJJWri4IetGDbfol2a/mT132knTcvLDYjx86EBa3rCa1m/YkhWCS8mfU2DETvD5v44WYNaJh5nZX8GsWQN6lvZSczrykAY44QGw8rn7coSSzA0yCutc8vU+CzE3Kcbwh1mzz9+vfgzr/tadne6Olv6SEPikB1MOrI/EcidtlNu5P08eXtN2UftNWm1AZwGBVbteVssV3t3FPAK0QwAsUJhmY0QU5n6W2icABySORdT6hnls/u9wTQDmFsGoKIVgLNC/bXiC8TEA754nrgwJq8cY6Mr1iNB7P+RwTpxvCjMOoHIx844JcgRo1Dd39MJZSb4ggEBWGzZuzT77uKMnZbf4gUC7Y8duGjZ0AKVsepf+/XoT5hBv3bY9G0ALFuONm7Zmz+EaytATykBZCLaFecCl5tfLiuI+OnWdrj4Ok/j5qwjzgL6CzWcsVquvcEoy62dYsVjNgrsUGwEaOHAMomABbtzUKeSBxkIBwTiTGyVLB+hXacUGhkt9giAE1ydVjrZtlNygX1rcTDqzi37RTiGSsEjPZfhNvKws4fnTarr/IJHeV+Kd52PyoqgMaNhkuvratQENso7dJLN2hX21gA7CrB3MiV661sRleN9O9jrDLMDwrLFuC/0fHx+KtX5GqS1wDAqNkfpLTzK+Kcw8AxTCOt+HoJDFxk/RMfFyv/ML9fKp8ixbBOa8uoCeeX4ODRncn95x9okdedau20R79u6jLl26WEwW2IuOS9kdBLZKWxZgCMkQlmEx3rylycpfm51TnM2k/XSp7UIpy9IMd+ly8mtFRXKXW4D7pBO2dKa6m+f1j9/2hgCfXMECYA0owY0HZKUsqw+2KoXVpSnHAuyg/FB06ls+B3jXvlbS3cr1vGHZb+TMriXo5as7bwdh/iby0dngoDCqZ3O/orQWMI/+PHWE2f/peHGXz6gw/HDx079pCH9g9HTa9X0gFPZvQqcHtOe0/SLHCq4cC7PHlI4J9hetbqFmTf6F51BSE/gzVr+AtoC8SOgXgSX2w5waNmpEW4T0L7ItpJjg1xRid/iVTEmMPsGCoqg/vY3ghjBbgJey+b9YDgsKQtAV1FQT1IrFrV6I+vyDn/6lbd7u/7yPRg4flAPBkEH9soIrv9C9ezfq17cnP+1oMUb+vn0qz5/zQIcTs+fOpzClxg0HDEq2b11LS5atzElbNq438q3dvC9UdOrvZMlqk+a92zfk0GuHgTq3b88OA4sFyzaEEovl60wcdjWtKxqHpVYb6dbFZAienbkolDiotjFvhRm29uDuTXnx2LhurdEONjUdCjX9Coec7YItBp21zduzuDQfMCe8vrpwfSTof37WQpq1pNmgOU3OfURNyz4j76zXV0YChydmrTPoynTdnX3vqh+023atsczG2l0vzHkrtFg8PH2podRLdWumhobcsdEOh7WrV2ooECHgz6zg8wZFvatHZ5q8QI/DzHax1BobDuvaOTZA+H3qxcVFlZ3T9wQIs7mLmox3Svu3Ffwe0DY2bjC/o43b9ocWi6XrDhkY7HLgF0E3T9u2bDLuXbV+Z2hxeGau+Q0ka3flbQsG4T4diADsE/D6Y5st1eHv/nx7NvozIjR/+mOX2lp611iW4N179uq3ZvexRNJuffGt7FmiVas3kN15WH7tyik1f/tjIrU51JKgHfu6dNAEDVbaGuQ7Tmg73bUBDad376/FJnTpQHMNNe3VaLYo6FFndurWqbx/3Zngt/tA+LA4cKjG5t2XhsNhtZ1MDgDbeyDcXeyGHZoZwyKoULvo3tUUknZZ30Q0nF8t4rW/DTvMCd8927+XJOsTtu8N33egkdmxu2hD0rJwddqwMt0PkaK5I5O2U8fawc590cBhdZP5PfRJmcKtBkHHbh1rEzutb6LjYsh2Nuy0b/fFknGYNk6gX9gTYix0mlduNV2g+qdNRSry8m8CfSPOBzvlr91G3h6SxY2X3buY40RYeSfwiuAbFEpdalop6cAvqjz6Vv8ecH5PCPkm1Btp7Xazb+ydLNw34j4/U7i5Mz+Rc+nZrZYq8Je/+2d2yaJjj5pIN//p+4RIzXrxvXrWZ92ZDx06ZGlfMWzoV4k65vD2qqcB/foQ8tfXp+jQoWZqaTEZcty5b/9+got0Xd1hNHBA35Lzo4xS0vHHTKKwpEHDJxik9U4naNyY4TR2dG6aOn6IkXeX1Xlh7nZYaFX17DVonEEH5rCMHzPMlmY7HHBuxJBeRhl16d6heecKh35DGQ71zu8eNNulHumuBg4jRo0OHQ4Kj7HjJ9Leg51DRK21e/SkIXnbxXjrW9HXBEVvNWHCxNBioLDg2/W7uhvv+ajx/bK4jBpmetZ0TfaJBO1r9gw26D12dLcsvXbfAM4NHZA28tf3HhQJHDbvzRh0HT2+T14cgEX/XnWk/+s/cHhoseiSNse8wwfXFaQfGKiUSZqKkMNHjwstFnqfsGq7Ofn/hEl9c3Dp06Ob3gxo0NBRoaYdvM6m3SZNx08emEO3evf6dtK4YdSpTiPabymfj54WQD6xAO/aa+AY8532rimKfoXFhCMGGvc3J7qHtk1s3mv2+UePz/0GFN3YGoT7dFDj03PlsRYCEH5/9ft/0de/ez1NmjCK7vrnz2jokP7WFfOvT+8eVJ9JOVp0N27amo3kPMgSZhHgCnl79+qRPYdrZmmUtQrD2gtBW5VdSn5eXpSO1241FQa9zW/aIBUCgcHsW9x+GCP/NrD5jKXMYVGAJPmcnhAu98GXQColAFYHDiY/QDtDPLepkc1tKjYwWqq7ztoQRWmuH97zlp2ttO8A9toS+gEVKb6eRYGOwhxgBH6atdS02NhFf25Do+0Xcx7b9tp+gVnbXnh/EQV77Vark28nAe99UBFzHtPd229o32wLYd/YXnVqrHCsSB2mSmrbYi5s2154fzF+om0oCpIWjao/UOew5d9E2OfFr97SSpaNBaRlU8bS83Trkt0t6ofHCdgewpUjVrIxslTeqY7xTUHDoKgXaWWCA+qm7WbfWCoWVjGe/4kA7DnkbQ+E8PuHv9xJX/vO9Vnh96G7fksjhg1qu8h+Bw7oQ6NGDqWVq9fT0rfMeTTI+vxLr9HOXXvohOMmU88emWyaMG5k9ty8hW8hi5FefWMRrWhcS0dOHksQmnta95SS3ygsYgc8AJbdQKaTHAVmv9IAWMCDMzY7Qij45QTAqgdlpSU+oIVRIaIo5gJw/x6mYKvy8W2KMfxRYHJ1GsHw6sd6wLh6iwnUr0VB8HtxUbPB6PbJJKhQW+BCX9iZfbzThatN5SiiP2OKDK7lS+k687sJ81JI5UaAVvikmHIsrAy/ogfbeSvNdjGyfw1O56QM6xfD3jc0bjLpLtQncEBSXPjbzXME/7jS7wEGFL13gCKltVOODD4A7TXkfWMYAmCh6vZfKq5kk/xUAwEl/H7xa78gCJ75hF88v1fPerrwvFMJLs3fv/ZGQsAsnEdatnwVXf+n26hbt670wcvPo0QikXWXvuzdb8dl+sG1f6HGVeuy+/jZum0H/fw3t2Rdqa/64DsJbtBdutRSKflRTlSTruEHjU4RoHENKcUGtTAy+zkMfQ9QVlpKHWbmDyNj44oFmOGAQC8mMuE5amQRPuEaX0zt04zJDbPFy47eFQwX3TLOLcAbNa24XVlhOPfcApPRzRf9WdGTYULfVjM2mMoWqu1ivv5vb511dSYlzcaIsH4PYMx5HzmwCAu4jgwfJ6LgHcIF4OF97dtFzjexK4SSjvYyc/kGe7q1W4xdWMr1E00htAA3cgtwfWkYgH7OQ4axf1i6zhwjoBwEbUFPIgDne0NVurZoSQN97yd/zs7PXbtuM5127ido+MQLjTT+mPdko8GpKnz5cx8gBMh66tnZNGbaJfSRT3+PLn7//6OJx703axX+0bc/QyceN0Vlp/e8+230yasuyV6bcOxldMVV12TTEVPfTc9Mn5O9hjzqBuyXkl/dF7VtqRbgNNNihlEAfmuDORDrDH2x7zfJcAijxWf1lhaD3H5lDGbJbuYAuCM3Zp3xjCAf5AzuRSpGosjk6u+JM379NSEAS+J019zgm60mFWYlSNb9mUV/njS8MNuQ4ZbwkDP7eP+L11ovEzvtaUgf81tvP52zSXOFUEixQLuHEKwI7JVOENzAqYR/nNkP43jJyZ2/ymwXI/rZt4s0U4Rs3cVLCtcx2oNe45ItwOy7CKPSfPl68933L3KM1HHjvFMYveeWsiWQBvey/wZ0uoOwX3gkC0ItI1aHmpoay0rbNlliW9OO7NxezMnVE8KlY11fav+H+br3/Os6+tqXriREfb7lPw/RfQ89R8dMm0DPPXIjffWLH85af9uzU9euXei3P/sKXX/dV6mXZUG+454nCGlA/950+83X0p9+fU02T778+fKr+6K2zbUA56eQD+hhc2+DoLprb6cAXGv1CIXcvu0QOawrGcwQ5gaBebbLG8RziBWX6wKdKLmqyShZgMvUbnNGLwpMrt4QOOPHFUb1zPq5OcTWzxcXNxO+ZUU/3J85veqavk13N7+dbZbQpwtPet6w7M9f1dlPos7FCsC5Y4RZDsoKQ+LunsW0A05XFBTGOk1Qbq3f1vk+u9QSOVm/Mqxf2Lqz8z69zLDsN1boAs3Hyu0hc4HG+9urxYLA/GfuAVTMu+Q4oE0Vc1+Q8iwVC3CQXkew6zJuzAja8Nbj1LpjjmNq2f4yvf2s4w1CENzqZz+8mrateqbjvpee+judfsrRhvCrboJ78xc+fQWtWfxIR/5Fc++myy89sgAXXwAAEABJREFUh2oh6aiM7dtS87ffFpkNhCDNZTFLVyFhMM20umFj9jkzX6pLWxak9p8kswKHSaO7vqmV8P7bSaGMZcHCgKaOi93WcQE4pBbgnZZSRG/L6C4KfQsKoxQTfvRyVJ4wb99iWv8BTOtfb7Udnb4wB8KaPt+0cEwdYQq2Op36PtpLUvsWIPyG0bVP0YR3uF0LXgWFX99McVik2fewLWSMvsKgMScAlrpS/DbJxsvtIYwVoVP72grz+xjaJ0E1Ds0CYwpp/6B81g5DtYvvuZEpSPVYCMUQkwoxvwD6KqUfZSAlGQ5hixuCAFi6Egh9f/8i44WAfj+TZe/x8/HybEEgOAis3mJqZHumEo6DGbX/Czuz7xwAq53AEjYpjeHFbTrDiOMgJ279LScCNOjLcYEO4bwm0MEVI6W4g/N2EFaGHzjwtM6y9ugWUShJuNafH28JqaUHHhwvLzOjPxfj/qwwyzDBDxYTdS1s2xz35yLn/4LOlCX06TIRlEsQIHAtTIn3CeUwuVGzAPP5v07uz3jPPViE+LD2C6AFwp/ehkEb+kJcKzbxcSJMCnPQ2MAUAKWMkbhfpaQ2ZQbnwqYUWsKmhkARAiEYtAQ9iQAc9Dck9fMMgbUWc6s/rE9GP7LfT1vMjX4lbJ0XBjK9/ui89ONS9pNMAA7T/NfVm01Nfr8y5v8CK44BmF2cD1uqpF1kmKtflCzA3Ao20GauU33SfNthZXRnLWkmCMGKGjB4A0rQ7GeYJTzMcx6XrDWVo8McAh0prPQthF8IweocBAe4hKvjsGwbK3R5BZ06DjgOo7sn6q0Sd4sf2c+ZpYZQgKi/6l4o0vTpR+p8GLYrWVsY0LP0Wue2hdLL8POOXAzwpZdeI45D2HiGZcwjakgJysHS0XL3Duev1d3nSGmCQOARWMOCIPVOF+7Q0szKETY3v1lLTcGvFAaXv1CORZgEH24BBrPP6SvmOFcALuau4OXhg3speHDNfpjaQaE3kS8CtLq3nikA4D6rroVp+xxzf548vHB/qNOXYTiEUehT9PAI0KUyebxvDJtXxIFDRNxDCkudKHyK3aZyxsti7wxevn0HiJYw61chxQhfEiusSqEVzB2+HL4hxVx/wzZONDILcP8yleZ1LHBm2IwoS5lyMCwBsNCjiAAMFCQJAhYCOQGwipjjlWJWzzB14vfNbibdLREuTMUGdrHgyvnjwl+Yohny5T1KEfh0IJJsUN+0w7Qc6XmDvJ8zuLN5rvnqzpncMH0T7XQ5brgbqB3jl2GWz80hdIEGcz/TsgDrQEwuIvqznp/jEFZLOGhauNpUFGKuJ84Xm9LMUyhs8z9Xbzb7sXKniPDxMswW4EVsWSzEz8Dc8HxtIsPaQVi/Cd4PluMOn2S8U9hcoLkSoH8JY6TeRsL+TXALsFMQOJ3moOyLAByUNyH18B2B8lygTatImJj9216w1Poa6ieMrSHdRUu7VNRuigl/YRrQci3ARZGckwnL4CASqH5BdyPVzwd5P1cANtt5vrrXdTOvIkiGeSa8Rw05rn+5uGA+nE7hltBFgSZ6cM4hgtVP0QGFUP8S3J9xH7d2hc07BjQgQTG6Zz/22hIE+wyzbrddcf7lWIRpnABVOe2+xLaAMlRKMSEwbFgoOvj83+EOyx+p/NjydhPWb6KR9YP9taXgQGcxKcW8AcKkMEd8E919HYqPejbHuxgMkCfJ+KYwBcGCopQbD4oWgHOHTsDhaRIB2FO45WFBRgCMjl6/Ylyg9TU/cW9YmP0H5zST7poJwe2U8bUgoeyUDKlGF3NudEsEsCh3MAN4SebSFKYBDfXftY+IWyb6FOENgXtVioobsKJHbZevNy1hA2wYvyjQ/sirZvCrKSNKZxVyrV0KxYBvWfW4+/PQPqVjEXYLcK7Fj4FUwiFXlDaFNCr2/FWmV0C+AFgKngzzDuH9rMoX9C0XeqAgK7XOKcYvhMkrYs5b5rsvVTmoY8X5pjApAvjyRyVNizCHUh0Sz/ZL78k9q5o8SBDwFoFyBGDUMMOsAZu2B+DLRsXypP88b1p/jxtdQ3xAynO77SXekYdlLssbDeZgVs5grgPCl0LaGbKlPvj8X7j26fQVs8/bQlitPDqtK9mcLwg13NqN/KmQW7heXd5CnNZjjyidVeD9oj7dAjiFJS1aY/bnpbo/g84Us3Y17cLZYCa7WjVsNPtINxn+sPYN81eamBQjAHNPgK0h9A5ZvsH8HmAogNLYrt0UOsfHCd2qWuheP6/f9JTJP1X0PTCPKV0Z7yeNxTybC8BFW39RuFiAgYIkQcB/BLjwCzdG7srqVEswwvq1oA/oj7/WTBuZkH7qhMqsv6CfM3lhcYF+lgX7GTO4sp6ZD+phswA3MkGvXxnujmlm6Qhb0B+0Z55y3EBtrL/qHvQfah/bDU0m04hzQU33zDKZu6mW9TfD3mcxdef3bNkVHgx0+nigo1IDYKEsbg0Pm+sr7xMqYfjTXBmgra8MrHxORT0eniB7D3RmhdcH/+Y7r3bu8XYQJqunoqKRKUPsvGBU3kLbFHP/DYPSHLFTOP904tjSFYQKm2QIMVB1X7DK7NMH26yKoPLmbM1bcy57caL8t+ZF7eQZgoBHCKzZan6NvYtYAklVLcUsPkFn9v813WRwjx9TQ5xZVbSVsk0eZubGPBnzTPCOwMS8uKhyd0+dshwX6JCtBdzAInyWE90yh7EJIZOrv1Psr2CWj3xCQD1bCkmfboCygpqgCJy52LRsnTSuPDaBCzphtQBzAbgkK0f7i87BIkTKAMwFR7toJyW7ydf2sxny/KT4OBEyDxmQxuf/juhfnNI0w7zFgicAg7r8ya3gT3gK95ZqCvhYCX7h1mdN/gkKwnK8pEA/Ep9GhylZOB/0BDf45+abvFNJQVSL+2SqCkN5I1tVqySFCwLeI8AH+D5FLIGkaplmGrwgW4CfeqOZOK2nT3SnG0gxHMKgzX1pcXNOsB+7yL7qXRez5YP6jr3F3BWcPI0swEm/MqJbpnOUQqaCKTjUFl+TRmYZz9dOYBHSSw5LJGhYN/R6w9pZjssvykBUeQSHwT4SBKmwxEhAfZGg9EC9sY/UN5MgO7d3XMuXcr6HEAnAr7MpIpUIv8AoHQEL8Lwy5v+20Y7fzhTGOcCNbHyopD0EjnfqfDW2e3e/dIi4Z9s5R1bOP3EjCn+GbWV8PnnzM6YiAGMFks/VKunxlb+5kh4nmQWBYCKwZqtp9ehtMTrF1pR3XkEWgP/N5v4ec0QNFeO6VQwWaSb0BBkHRc8z80wN5tSRlXeJSTanJywaXYUJn/9ZDoOTymFyVenh3TYw1798uPRgFuAwMLqwbjz6qsnUnDy+su8h7BavRWypm5IsHFpTT4f4e4CSUCOFRg2ozHSTCuE4odOP/XmNJr8wvG9xmHDFWNgswOgjFq42lZn5FIHAKl9KsrYQ5ABQEErvfNHsH+H63DNV3LvPhwM3HviFQ7466teWrWuh6cz6+45pJU6jM5uRXrxn+5WNbp5VUx4kCFQXAW4V7VOCCzRnboLqAo0Oiws3p09wtwvg7jxBDmqBaMfc3XPq8MoHs2QILeHq68JyL5t2mCNTOUHB0szNMQzKEIWB0xYuX/q1fAIwF/w279DvDOb+Y682E96/ql2mjgjufeq4nG2aMbhhUATodL7BBJ1yLRxhFvpeYi7xE4ZWNmYkWd8QBk8hvU0gyKXeR8LTodjot3x8hEeE7mGgPyeI+3fMOETbmPfCgDyxEArRkMppC+bYU+h+L6//53mzf0TgrzMnlyj0OVSYe5UEPW7I3582FQFQiiE5kBfY06wnC2w9pWKCQFURWLPF7HgR2bDYB/JOPKjM/q3PmZ0WmNtSLN3F4JFiwl9TgOd3Pb/AtP4igIMbePDBLEwW4JUuubelcixe5vdVTFsKUh5ovPX6QOuvu/fq17AfxjnA97LgV8eNrpy5y7A5j2ESgBEN+8nXzT6iXHdwtAmuDAiD9Q9RXvX562jzlTK66ZD3Ddz9eViR1l+0AST0HdiqFJZvAu0AArCqN7YnlxkfAPciJRm/EFRlCIIYwv0ZdVbpVMt4kGICvLpW6jbFcQjw0mBvNrbQ7KWmB8S5pVp/AVDltgaUUlESAViHT/Zji8DabSaD3re++K8zyQZ0riENAqgzFjZTgxbcCNSdPcX9zz/JBoQgB8J6+k2TuZ08wh08OAZBVYjYtUse4KQc6y/KTTHL39aQLfsCGvSkfzs437/AvGgu+AV9DvCsJS1GbIAaq4OAex9orSSFNeotPFd+eu9Bg3S4uVYiAKdyxgmj+EAevLjIZHTHDKq8j+T9YxDHy3wvg7s/j+hXGiZp3jfuNHmPfM/28xqW/tGt1VCGvG1KZUqysLSFW1jgKyi5T3Vh5Qz1PnncELhbq2tB297wuGlIgUdIOYEBKQDNvrQvN2hvQurjKgJxLWy9Jfy2aOM8BqguJXwZyK9j1xRA7d3fmcvKxGE15Ia1U6cb+3xAC2pURzBdPLjL1BEW1w8iKkzJbmY5O0MUBGslC/RUTgAswJdiipAwKQFQf564AFxo3lt9nVkCrCfmmWAdcesvvEPA5FVayzQT+sKy7unP/nuQ9KjVcHO9/JRaSpifdknwpJnggz6opAJ8yPziYlNJOH5IBQC01z/FrF1B9hJqr7Kx4RZgKEaMDAUOuHIsDMuDof97gnlDQPiFEFyA3LyXeVsI4hq4q7e0Eqf9LEvwR5+Ql7gSLiZZ3JAg4gByYPldrMVFQH/4DheCgKFsP1IJbL4f1ZNnCgLVR2BN2xJIHQ/qU0IALNzEGZugMfszLetOIxNs3lYF6y+wSDLmJqjBHJ6d30KtmgYSbmw9kpUzd8CAa3ODPp8HdVap0SUXaM7kBe2bUPQWu13BA2AVmPdWz9oSXzey2Od6kW+dpQCc+5amAbQeWmnwK6uI7F+GKQLCwOw//loz8dgAFxxdW3GwwDRXBrC5lFnAAvQD11ysd6uqBK+A8UMqZxnRP+o9Laztel+snhfELebIIzK4qhsEgBH9dGrUFect/ybCoBT6/cOmNwTcuE8YU3lbSHFFaQCnTN34+EGDV6ivS9DxoyunXW8hOXxTQJXmf3vSbAdQlJbiLanTHIR9d99iECiSOggCJSLAA2CVahkNOmPzDxaufpylxe/fgw/aJYLmkJ0PaEF15XmWRX+eMty9rjDJLMBBVQLYvcIGpijpX8JUAL28WgtOXUN+yDIkIeiYnidM+7CA6PUt9P0gQEr3rp13NFvyZVC1+jyyKSxaxQb16aTQfi9jMYv6Fd2qqp8Pyj4CHP2OMfujByXomCOsBl1hJdPcArxb08BVWHY1bn9hodVotYKHW4JepRY/FIeRJ8mxCLgyAPVGWrDKVJwOshRhXWpxpfiUCZkiBMog7i11/lE1hD6+eKrtcyaZABy0KVNL17bQSywI3DumuUO7jkgODgFcDxk80/INnX0WFGJhti3CGtgAABAASURBVP4C/8p7dZQiSRAIMQJcAC5lDWCQjYFAZwygzQ5K4CNYdngAn7On1KLaVUlJZgHeHkB3cDC5YGQUAGDIprg0/xdlcuZu175WQ4OMPEFMWOIC2Ki6YYCrRLubZoxeWK3A+w4QcQtuIRdoYMitwJt34mywEixasHjqtTqpwsA2ellpZgEOcuAn9Ns/uvMg4X0rGqDQu+ykLuqwom3O97CrouKqfjNf/sgN66+qdJqNE0GcNqTqqm/nWwKwflyq9Rf3Ztg3AUs7zgcxYWrYny0LqF43eEthCpV+rtx9Pi8+aP3DHx4157si4vWRLiyVyPFKMkVA0JSlaAeYA67X+1jLCs7HOP16GPZFAA7DW5I6VhWBNTlrAJf+uFRAB3QevOGIgQka1AsiX+k0FnNHinXkQbQA8+BXI/snKM0sEsXQ6pQH6OrWPzDWQVGIONUZ57n7MyKhQ7mDa+WkFMM0rALw8g2mJQxTJIrBhTO6QZwH/NDcQ7Rf82rDdzBpmHtsAbd2BZnZv+2FQ7RwtfmuIfzyPq2cbwH3AFtsVdoWYAsw2sSrK0wsJg5Fz6ZqX9mWKwmDGiuCUzlvpYkJrOI8T6HjNFMMBk3o0+v/4Nxm4itkXHSsewp0eMrofSk8hdD29Dr4tY/AgPPZ+y4r2nERBATda+yx15oJU2UUKfB6OMulJaBUmX5s3Rvp/Ki9PFMQcAGBSi3AqEI6gMz+axYDo1s6Uc9qWn9RPtdkBlEAfmaeycRMcdH6CwyQ6phCZEdA5/SgrirlBsCqjOFNM0YvwEF/FAS2W+7+XIz1FwVx7XjQhD8oZu6d2YyqdqSTxtVWFOipo6D2HfQHOoMLizOY3PbLgdlgXiefKnL0qBqC+7NblQzT9zBzSTPB6qNoRzT4XunK+gNVFra5FuBO10pcD2LC98LHUzcswEEVgPGt3syCZ8L6ieUC3Xw//LsIgqIU7/pvT2maQYtgKDvGDHLvG7CK7PhDP9lxYO0EKW4I+utbWRTsk8bWuGo0sEj25U8EYF9gl4cGCYFGNu8RFp5S65dmc92C0In/+3nTfQeWTrgvlUpbKfn5YBY0wQ8RHd9abwrAk12c/6uw4lYjBHpR14K65daNAQWW+ilER5ophYK6xmMhOnj/MKBnoTvarvdItm3Vb9AEYATH27QDgkdbDaHVP9aFua5tpXX+ZljfGDRLOCxOP7rzAGGetqo1gvxceEytOnRlm2aur0EYI5wIQ9vQr01w0fqLcnnfEIY4CZhKpC8DBIUAb9ugrVDiirFtAXWFh0eE7rmE/gHzXwvRV+r1nLawt7NPKrUst/I/M6+ZoBTTy0MgPP3Yzf0UUxYHiW96YE4z6eMEpvudNtGFvrE6uoSSXosIwCXBJZmjhoD+YYM2CC74wLFfSsJ9en6/5zTBle/V5aagd+YkFzotnUibfa7JDFpQi2fY2r/Q6Lqx3AuHgpcZpAGN1xXHmPv7yCumNbCstf1QWHtKMQE4yAx/e5VtNzkRoIsMIIdooXqBQRP87n7JVJDBusO/X73+5e5nmOAXtEjQf3niIK3abDLd7z2plvQgbuTCvzRjcrcGVPABqQh8hK1K41yI/qzKwjbJsAh637BodQt9/3ZmEexbHgefZv1iED1jMB78hynQTx1fQ7xPw7usNPE+JwhxQ256yuwbMS1kSO/y3ncx+HB+ISh8E5SD/5puYnHahFri9S2Gxpw8Zpebc9mLEyIAe4GyPCOwCPD5LaVGgFaE5QxqPs/v4i4rQ/skCPN/VX2rtU0y19+guUA/+YYp5FXD/RnYpgKOA+qop9tnmIMc5v9OGFrZ8MAxCPKcRx0Lvp/jAt2zOEYoR/DbGYARv504WDd4ZNeTXAx+1f6Y7IbPAw5SJOg5y1rovtlmn3D6xBqCu2O28i7+8DEiKEIfJxHtAoH71PnkYUSIDK6O3dimrDL1coLcN2As/cJfD+QEwhvZr7h+QKdT7fO2EDTvkL8xARDKTFesfgoAbZtiyhC/eQb0BxuazL76nCMrGws1ch138Z3pF4PgNXbPzEOkC+P4bt1aIo/K/3x0mCrar/5brah6crMgUF0E3Jj/ixryTtxP5mbJ2hZ62WLsUC+VvApYoAd/wrMxjwjbIKS31rcSf98TKxTynOjiGlLdlczpHr/OYw4aBn39+RAC9ONy9lPM0uG3V0Q5NCAaJ7fQYD5kMWVxV8dNO4q5y5s8984yFR6H90/QgCIt26XWkLv+BsXyCQbzuv+aVr2BlnLjnCOr5ynDvwnetkrFthr5+bIvbkZ/VvXlOPho9VNVytnCY+NLNx0gHkgSGaEgqSQScoZNCwiSUghL/zzFFMVvn1LrukcEtf+DUNW+m934KQAjAvw/nzP7xuNG11A50+KyxJTwwwNh+T1lCP0j3OB1Es6YXEsIXKafK3vf1DGUXUwlN4oAXAl6cm/oEeACUbkWYN6J+zmv51bWgWPN0rGDE569K67dBiPh2cPzPIi7P8PCWY67e55HdFziQbCCLPzd+aJpAcvUER01qvKhgQe6CSKz3/HCHHaWa+seIssAS0DCtpjE3QU3B8QCDGUM94Q4sUrWX+CUZhaeoFi7fmYJv1D+oI5ICNZ1+SnVE37xjNxvAmeDlV5YaPYH44a4P3akmIeMnwpjO/SBwcf/sJ94FGAsDff2qbX0ibO7ELfY2ZXjdC7NlINbdjnlrPb53PJ//4gpAIJ/OKYKsQHUk5M5bUFd8X5710uHSG+LmPf8Nkv496Imdcwrwu/I6LfNaCbdgAGF7vGWMsALLLx6RuVcjlc1lecIAlVAYM1WUw3VO13eQ1KMydM70fJKLO8uBOzh87feNsXbz5wzN35rMhWST88zGbspwxPqkuvbJBvMIHS4/hAXCty1j+iBl02GB65uYPQqLT7FmDy/volK6Mhxfy7BSgr69RYGVzI90FIl9ark3gfnNNNB7ZWDsZkwpHp9BBQqen2DIAA/+moz8X4Slt9irfs6PaXso03o+YPm+ov2rrt/QikwZpD7bSPF+seg4IC10H9270H6we0HDeYf7wxBr/7n3C50xqQaSugfNi6WmDIBtQDPsJQfPNL1eUfVVkxvPnj4WOnpOKFVDGM0nwp0sqUY5MoK7RZXd1NMEbBzj6vFl1QYlNX3ztQGCevusy0+Ev2BtRuZv5rIUCKECAJlILB2qxkoqlxXlxQb0P3qxG9myxaAnkpctcqAlJJM8PHTpUnVf/6qFkJgD3UMN57xVXJ/xjO4C3RQg2Dd+eIhYx1YMCNuRQJO5SiFgEy4UsNGs3+ANaRYCsAjQ7jU8/vtDYHlPe6dZSqCMPe3UoZep5Hv58wB3mUqHXn+ah9jPcs/PGK6PmOOq2tz2/IQkCP4+IwFr+pLi822gbgR6Ct5vkqPed8QhDFi8ZoW+uQf99OTr5sYgFZYQL9wQRca1AtfNc5UljJ15v26J4J5xbsjLHv1p8dMoQdTIxAospq14LyTXxHB4TkHF2hFK7zDTncj2rEqsMCWW4C9+CacqvTP6YeIRzw/6vDoiYvRo8jpjcp5QcAGgVVbTGasd5lrHaYZs++HRhvW3xmLzMEb1l93hmwb8BxOpZgm08+OXFWRuz8jqmk1GDv1vCTDAHNJ1bWgbGHt4FreU8fXujbHJ2kphRIasdCwQwDTTgV+t4EtkTagZ2lVrk+a+f0WgJ+b30zQ7qta4Rs4rorujXhODrPvoys42t+P7jhInNGF67PeVlHvaqR0d7NU/V2YV/w5enGxqfCpxvxfUAYFoY737n1EWG8U17xOaBOY9/nFvx0g3fqNenTvRvTB02vp4uNrXesXUS5XCgXBK+K+l5sN+qEUu+jYWlS3qonzC364/qJffsCiXyf0zMm1BCGYPPqXstqa/ii/1gLGyijwEtLr8o4ja6rqBaA/y8N9qvHyYfIsQSBICCDwhO4KiMEOTHs5deT3YUAvp5xK7sGyBRjMVRl9MwmaOsL7T5xj4ZdGV+GA7bPzTcZu6ogETlctcQx27q3ao8ouGMIvhGBVANr/CWPday9AOBVwhl/R7rTlFuBSA0UFbR7wf1nE42mWVr/aTF6OAOzjfMd/P3+Ilq4z+wIw+T2SaK1OrcC982mmKA1SbAAI41juR6e2WgIwnpFmbsB+KAk3bm8lBLr6xzOHjHWgUb9RAxJ0tWX1rQYG/JvwM2YIaAW/woN9HTOqhkrxeEE55SQ+RvjRDv7+9CFDAZOx2uap490bC4vBJZmjNC/mLvfzwIsQ3gCqZHg9TB7uLRbq2dXeRpOqYlGTfLFGYO020/rbp0zrrwIxU6f22rbQKrbtefOLwB36k06f6M/nnbIsf3o9/HIHV3V4bUWLEcofDD8CYKnr1dgmA6LNdaIN6/vdPdP0FjjJEn7dXvs0FWCG3wkbdR7fLxhDdQxrKeYBquNitvWsT/DT0rPMEvx4UB+4PxdDRyV5MhYzqd/vV3+A6Phg7vS6IAr8tJHe9ZNprhDyebk8HYuZS0zFwJDeCcqw9qvnr3Q/d5yotMTS7n9ufnPW5ZnPeUUp5x5VSx99WxeL/uooRjLsm9jisys81npF1F/QjoRx4Oyp1bf+4lkpJvh5rRTCGuCPv2aOhW+fWoOqeZqSh5mP88MCbIfFO6Z50w5M6r058v4te0OXPKUIBOKeZS0LgIX5spVgwjtyL4M/QciDUKPqn7EYFzci+aryStlyocePjlyv7zMs+BWYXv16NfaTbFD3Q6udj64H5hwivU5geE4a5/5Axxl+P9zb8uGQ71rDRlNBNqCECNCq3HpmWdyyU13xfssVHpjfWe2gT4pK3g78UAT8mc1vRJ0uPsH9Nq9otttyq6dfygC7ur3E5v9WM0YCng/8sVXJy74BAs+P7zyYE+gK38Pnzu9C1bb+YXxWdGML6zu2fiS4fSMWhP7s0yfWEn8/+nU39+F5pJeHqTL6cbX3H2PCL6zeR1vW72o/l5ef5AKwD0GwYAnX6zWyf4JGD6yOEkh/jl/7IgD7hbw8128EiEeA7pOprEp8wPByUHt5mam9HzfYv087CB25/ianLzCxmeKBWzgESr0O+82YO/olX/bvnGFqvE8YU0OYl+d2ZbhSyMtvolJaGioIgKWeXc/mAGN+lbrm5RaCFg/uc3IVFB5ONGWYxQvTT5zyVuM8LPlvNpr9wHtO6lKVNk95/vExIgjBj1Bd9E9z3zLxGV+F5Y/wLJW4otTLvuGBOWb/hzrBA+bqC7vQwDIUXbi/lJRmnjEQQku53828f3vKDHxVbyntTvHY/Tfd3aQIEfPNM9U7en6B2RZOneAP75RkSnOvY6dgagjHApHxq4e8/yX786b9p1tqECEEENDk/b/aTz+yNLr3v9xMCAZVDHncAtw7U5mmiw/oYDqLqYcbeea8ZXbihSM3uvFU+zK40OMlDrxGcOvTXbsg5HmFTcaywuv18cPqpT9f7eMb4Yz3KeOrYwnLYWz2mFZVVacUl5GtAAAQAElEQVQgble4YQFmgh/cqv2glQc1QbC/sYMr6+9KoSPDGNwtHs8Dnrvc7B9H9PPHspFmgo/fcz/VO3xleYsR9RVzoqstCKaYxcsrhh9unvpcZ0xtuPLMLnTBMdXpAxXG+hbry2Is0s95bfnEsxetaSEeIPLcaTWE+pGH/1I5wp83D1++oZU4H1jt6VFOlCXZ9+B1e/jXdLOPxNx3RMd3qm8UzosAHIW3GHMaMHiDsZw+v5l+99BB+sQf9tPlv9hPP7nrIIHxw4BnB1GOBbjCOcBpxuR5JfjBmrJ8vSlYHDHQv0+bd+S6q63de6jmuWeZ+3NHMIdqPrS97KRPg3r74x03t71gavxPHFtDKdZ2HW8u8UIqoAx/MWQ0cAG4R+kCY1CUIFB66DSfOM7b/iFjWZX056PP0o+rvT+XWTf96h/5GOGl1TMfxjOXmMzvhKGlt/V85dtd432DV3M/ucvr+KE15JVSVMchzfrGrR4rhVCXG9i0AMz79iNwZoqNP17xTtziiXbQvSuQ8T5xfsHr4KFzlpl9AFYQqSoK1e9iClbf21GwYHUkgyBQOgJ88EYJYCwg/Pz2wYP0sd/vpytsBOI1W0yXr0otwLwD82pAn8OYO1g3EOgJOPiRkoeZT23yYS4LaoB17F5ky0JN8TCaIdfw+6kIAB5Ij77anF0PGfsqVdPlK8XbQoCC/ij6nbaNm8z+oX8Pp5zO5zPMAuyHFwD6QfSHqpZwzz/6cG+H/jRjcLkHgqpbtbYvLzXfJRjdaj2rULlB/CZe8mj5Ix0bv3B4gs359Gt904zPHkJwu5630vwuzjvKOyu43haSOcpiU6Gv53VznwcOnTjM235Rp4V/D172kVAQYhqEqk/PVIIQ/VkdV2XrzSvOW3X/3nbeaslFQaB4BODmWig3OhMwgkogvuy6/UYADAiMvAMqVCa/zpk8r9YC5gLwmEH+ftb1jOn32tqj3gsUI/oyP3g/hw/wTu3IB3WvXZoUDvqWW3+POaKG4O6o53FzP82sHF5p9gvQUPAy3OJ0hgDKjAxr1wULsTJA2MS91m72D2XqLvnZk1X+eZEJNwjwgv6uyo81is/pEzyMertyUyvpc68RdGdoH+/6AQMI6yA3EJZ10sc/uMHqChK0DQRIq3aVkkw55oULNLzFwAso2tKWYsYvZQjvT/R3oOpXzS3nm/DOEfSoms90KpvzXl4EEF2zpZW4l8/Eof7yTvpYAaz27Mdv9RPnIT2ZHuNfF9wBqL9vu6MasiMIlIcAH7wxn4d3pnYl8yALlS6BhGekfGL2eQCs0YP871nARAETlbzqyNXzsH3mTVO77aX7M56fuxQSzvqXMNcLg75eg9OrHPAjZTGY+vO88orQn1nOPmeMyokArZ7Lhb/NHkeC5tbPI0d6P+xD0FB4YOulJXwOj4/g4/QQ0M6x0AUyXPc6vbjI7CfHeKRATbPxcvvu6lOO6M/6U47yIdqven6a9Y1et4OXWNTvST5aP/1Qhkxnwa8O758gXg/1rrzaJn2yhM9lfaQnkZ/FAuxVs5LnRBWBmcy6gYn737i0K33hgi504TG1hGMujNlhUan7M8rkA5oXAU6gANAtSklLq455PKiPnynJOnKvLX8QuLl7kxfRn3XMk9a70I/9doH+13Rz7i/mernR7nUa+X7ONxESF+gGFyJAKywyzNVRt0aqPNXaIvLxrn2dnAaUg35YPzPMer7VQyVAjoLQZwVhmgl+Xlv+eFvjgtD4Kkd/Vs9HW1T72FbbYwpjwlNvmPMc/XJ/Br38m/ByiTRgMZdNnRrn0XsH7TylGL/ADRQ8vxvHz7PVIfxUACh6OM/ghVcElJErNnSOEajLqAEeKEn9t9OQB1QCTkmCQHUQ4IO36sT790gQgvt88PRa+tZ7utKn39GFENJ91ICEbYTD3unK65diAo8XQt8ctvzRaJ+tGwpFbv30oiNXz8aWC79w8x3e19set3s383leB7UADioBj8ZNnYMcanbGpOp3/0nG2GCwVXUK8pZHgEZ/Um59eQAoBOwrt6xS7+NujmN9Wh4tzaxdXrWDg5bO5/UG08I5zicM1Lvj44TXlj9VD2wxD7RBC/ZWY3UM44dUv1/As5NMEVDt8fIZFhBxcO8E9au3CEZlfEh+fRMgdQ6z+A3qlSDuqYJ8XqVkDu9U3Sej3WPZH/0pkzyMD6I/V9/nLtBe8AyzWXwEz2LIdLIjOgSe7nvT03lKkjwsLgiAiUIYe0UvhjK7wTthXYDV4/SJNfTRt3Whb13WNbuFAIDzGPT7VLgEEurANbrV1mjjmdy64dd8JtRFT5zJ88K9TX8+Z3amDLcagZ7Bg32uBNix178e/x/PWJKARjMin1Yi1GlF5d3FHNhabZQ5ZBlgYH3Ie1MALjYwC/AAS6FWbrXqmQUY/Va5ZZV6H+bB6/coBaF+zot9rC2qPwd9Y6sHn8NrlvALIVg9G22eu+Wra15t00zw88JTyIk2KMb0a8P7JeiwrvqZ6u0j2q7eN6BfQP9QrSe2B7/qKN7rQHAdD27f4fyCp/0C85zzq19oh4JS7JtoqvJyeTz6M/jANFPSqbp5uU0yhbEXhgNuRPFqCoSXuDo9q8bpgpwXBIKOwAw2d2lE/0RRg3eXGiJYgt8+tTZrGf6mZSF2Y+03DOZg+BVuGMwxqKtjt7e79xEtWGVaN/yy8HDauHbfS+EPgwbv1L12fwYeKTag+uUCDQ1vg2blQd3Ommx9BNjxIHHhB+/Hg8dW9AiO14Ce5StQ6pn7r1eMLqwcCAClA+GXhwj6Rt26gb7Ri6Bwc5mbZxAUhGmmEKm25VN//3yfewjYKZD5PW4ep5jgA8WIm+WrshDUbj4bK6eO9K4PVPXQtxnWDrxxhW+rwSxm9fP6vbfVovM3R2FeZQH4hYUm3xQE92egwXHwoo9EYDg8W6Ug9JGqLtXe+tsDVJs6KT/SCOS4Pw8urzlD460zZ5WAxgf0arq3zV1umdO0ysKNKclcibTLnu7yjtxLJm/6fHNwg/vz4N7lCzDlAlfHXaD3lltSZffd/LRp/UWAC7SVykot/m7eFrxk9IqvZWdOLvzCMlDXrfN6qXuc0fVqDjBf2gZKP/R1pdbfrfxpJux4MefxZba25WiPAjzlw8zLMSJfPaCcfaPR7CsnerD+r14n3jdUa5zA8m/6cxHtt5JvWi+r3H3+PVSTV9DrCEWArowFzzDEh/FRrxPqoB9XzWPMeghwXrDabPeTffAQs6qS81fHeIZqB41EW9BjRHS3xrlBPreFHFCqeKI8iaGKFZKiBYFiEMByIq+tMDsxv914UO80s/pVa0DHs7iVc8wg74U81MMuJXNceexyVeccd3+edrg/uNRZg4lOoc506OeruY9vhM91OnNybTUfmVN2in0T1bLy5Dy4zBMruPtzBdZfVIFbwDfvwNnqp1z3Z3+He275BCNaTRSgaNAt4PD88WuZF53OTEC+ByiQW7QhFPNhe6W97StzBWAdKXf24WrPoz/7NSboFGF8gGeEOgeFBDwj1HG1tjxwqBveb5XWNZdfqN78CAS/QptQdR5o9e9Y91Yd+7lNMgOG2xZgThvnIccOqiFvewBeI2+Pa7x9nDxNEHAHgTmWZl8fLHpbAzcGcHdKL7+UNLNyVDOaIe+8gjR3gzM2Xgl/YCKWrNW4OutVItqxtfH8L8WUADt9sADzyM+Y44cgF16CkftNePn00p/VyNzFK5n/i6fDAwFblTbvrB5zp56x7wARd//1KrqvqgPfclfwagvAvH88HAEQA8Dx8O+haRdHyptj7iEw3mPrL6hMsfGyGuMElID6tAMInhN8Xu8VtCNx5djG7dXvG7hizO9+AThAEYA54dhHAm+HsRz7bic+7z0Iwa8UjSkmAFc7CBYfI8YMjrT4q2Du2AZgOOioi+wIAkUj8NISU8gJQieOyqdytPs4635CRF9YOFTJmHscBOuGqg/HodpBLdRzH37lEME7QB0j6A2SOvZyyzHweu7rwtUtBOZPp/ksj62/eHaafRPV9IrA8ypNDVq0bJRVafvh9FdTKYb6IvF5XX3rEwQlIa75lbjlc2uVFQFcAA6KgpC7xFdbEeD0vrl7uB/zQPm3UQ3vkCdeN6cKTTs8OGxvDv27qisAb2hqJT7F44iArByRYsqQaoyXKJOPiZOGBUfoSzKlOerr9P1Weh7WZfAIejlB6SP1OlVzPzg9QTWpVGXLNjIIILCPTgyi2urHfu2nmQavWsz+XLaMgV/BbZxw5h35zj1OOd09/+Acxuz4HOhE12qD0l378OtN4tZfzPPC/F9vnt75lBQb1L1ShnTWoLS9BpddoPF0bgWutqWHW3nGBUCzn+bBwKrM7PMYCaMDNEUkxcaJajK6aH88wfKjW9iSVn28XiYOdUqxvsHtuZ97DxBNX2COCUcFSADmXhFbqvxNzGKGA/QLXb2dEYPXbptSVhvUL1RDUci9HqAYDILnoKIb36Hax7aawUO5knRQrwTxd4A6RDmJABzlt8toi8ohtFZ6IB0Edjm8fzC0eFyLWQ2NNt4jX/4oSMwd6sc78mrhgGepBM3umi2mBv3oUf52cXWMwauGi5+iX98uW9dCnNk508PIz3pdUt31IyI/l30xa5J7NG9lC/E2VKkFGE+pT+K3M+neG51n3dvj0X3HDfH3OwBlOZbPnThbnYTgLoiSr0qHAiJIjG6aWbu8/iYw/1dhg61f7YP3DW4rAqbPbzY8gjCdAYw+aA5CSrO+cWsVvwnQ++JiUxng13tHXXhKsrGyqQpKc7QH/blBCX6l6sQxqKYLNOchgxRDRuFR7a3/o2K1KZTyI4fAS2wNu7GDi2rGnuDAB/RqRPGDi2+ue18wFAAK5BQbzKrZkatnPsCsv1OG1xB/HyqvV9ukT4Gw7p1lMjoQ4vxwcQTOacbsV8srAs+qNN36rBkxe6xlOcX0gkrLzbH07DAVNZWWr9+PoGdBVBBmmAW4mq6/sHDqmASNueP9UjWx0HFQ+3wJwQlD/Bk/koepGrVt3VaUPvaa2Q8efURweAVQ7OU3AYs//y6CMnUMWPC24LayGAoxLvQhGjieHZSUZgoRfe6623XkPOToQcH6Ntym1668+FFsh4KcCxUCM5eYg1qQOvG0B8w+rFT6C4MbT+Eohvod1d9HoBH9KXqoff28W/tg+Ll297gx/ndvOYO6R4GwXlxkzpH3y/qL98uZ/aAKwPAs4W5hbs2Zrq8DEp2pmksAzWJujmMCwtjkzAGuorsnZ+7GDPJHwOt84+YeF3y8/CaWb2ilzUwB49c80Nzx0sSpkqP121rpTbbM05E+T4nh9GRYv1BNRcgrNssmZphSitfPy2M+TrjtDTCT8Y2IeD6oV7D6BeDNp03BjR/n3UwNG1tJF66h5A2KF6WbdBYqy38OsVAN5bogoCGAj3aFNYCrU+i+xgXIAswFHghmqq5ubfn8Zz/mdRZDS4ppsobmVgAAEABJREFU96s5uD/8iqkU6ZNJkNGhF1PhKuSpY+v6ua3VtqsytPy6wgFTBPzUdKeYN8C23Xa19v8ct/4eMTBBQ/ugh6m8bpzR3MgEkMqf0FkC95AZZ1mxO6/6t8eFnQ1N1bGCY579ojWdCiC8wVEDgsXqpHjfWOWAYPpbn7HQ7CvHDkoQGGA9j1f7fLx0UxHArb/4DjjuXtHp9Bz+TXDFhNN95ZwPar+gaEmyccJt7zk+F3yiD1HPFa35tnzaVDXmQs9eavYBQesf8+Hj5rUaNwuTsgSBaiPw/IJOxgbPwrIuYPCxH4TEB7RqMPs8emdQLDwc/xSzhrsd4EQ9D2v63T/b7NCPD4D1F/WrY4xuNYNa4HlIfJkHKIiwzASu+ZFS3clYWxBKALwzCtA/zJnm7nFnT3EvOgyfA7ylSgIwrCb6MmAQ/sYGREHYvRuR3g6rtdQJlsjT29fQvgnCswPU3CjF+sZqjBNO9HJByM8AkqkcoccdpQje/yNMKRqk6M/q3WQ8sgADj1nMMyRI83+BR8rqH7BVyU1lCKaNccPBpGHBFH9ypk3tdeebULhiy8e60ZYSDOfjloLZAuL2FoTeohGYxTRXQVnPTxGQYgLPLpc7LwTPWbXZ7BCxvqV6fpC2SYZFtYQ/dOa6dbmLJbccHZBInynG4HmxFjB3f/Z7mYeE1Sj1tgBmDEKwddqrv4LPufU5c+7vqAEJGmYJTgVvLDIDgjDpWasV7XUmi48AGnTs9Tr4sc9xqIaHDDwgdNrGBsQFXK8TF3zcZPb15/D91VtaCXPE9fPjfQyQBuW1HoV43wGiA+anqFe16P03GlsMF886S7iaPDx47G6GuSBXKxgaPCKgHFMApi2lpFveLarMSrcphoWb/AL4RijcVB3rrWehb1THQdqmGN/kNs8AZQAChuo0wwtEP47LfvB6hLggL3SWjACCOPC5XeMC4t6nE4PBRT/WhTP9fDn7nH64aeoMRDllVuueFBP+9AHYzWc+8LLJMU0dURMYi0+ONnePqbxwEweUNX9lC/H2NiYAFkA/LV7AJV96a30rcaXB2VMtLUq+m0q8lmaWnmq5OvLoz2Oz777EylYxO8eBt1U3Hg2FmF5OEK0bOd9DFedD61hc/9BB/ZCG9E5QhrVNI4MHB0k2TrihDHicBb+aYo0JHpBS8iM4r+AG7XaV4Fb/oFl/UefUYfjtTG66QL/APAcnDoNatvNZQdqrxveg0/d6g+lFibnQSHoeT/YD8ApEAPbkTctD3ECAB3HonU4QAkC5UbabZaS5e9su90rnzN2YAFo3FLVJNqBVIxI01lPlTH9Q3J+BQ64LNM5WLz2/0BzcMPc3CAqSlGVx0KmuFqOnP6PYfb5eMuaOu70mKrd8VksA5uuDj/Mpuq8T9hnWNyKmg1Pecs7z4C5wfR7q0jzucurjdE+GfQ/bPJgX/+y8Znp1udk/HBuAqMhphkWlfQMsyHwayFEB8Qiyaw9cAVGNvmEmCwA1LoCGg2oqizn9kwLq/oz2kcM3uRw4M3cKnU+SaHVtAYCyYBIBuCBEkiEoCHAtZpCiP+sY8Q6s0gFdld1s8S688xod4Lkb1cJB4YHtg2zpIyz3A6sGrgUhJVkQrGpZwRWtz7xpzoWeGBBNd4pZearh+qowKGXbuKmVOLN85mR3rb+oD5QQcPfEPhKY9J0uT4+A668eMRRufgN7+sTcgEibxC3AbgvAOf3jwGCyOFwhVA1LuIIfW3hP/elR01NmsGX9PWa0//jkjhOocfkJgj7oVSXAuhU0d19VN2zTVVYK4RvTA4diHv7oACrOk2yMcItvAt+o94twhx/RP1j9ItqBSnWMZ3B7ulCuESW4WChMqrX1v/crgrLW1lbasnU7zVvwFj3+9ExavWYjNW3fWcSdkiUqCFhNgGYFPIiDwpoPaG515FimBXOk1HNSloV1QI/gdl4pNqC5LfxBIfDQXFPgO2lcsLq0HAvwHvX23N8uXdtiuD/XWE3Dz/l9OoWc4XfTvU1/Tqn7iPyMvkXdh3lhmP+rjt3cQiDVy9u8Qz+qfH8Wt/IEzPoLCjOM2d/qoncMyudTRMYEVEGYqbM+TlS4PUEhpLfD9tOubW5+5qDRN+Dpl55YawSnc+1hJRaUYm2i0vHyideNMYGCYOXOB0mGuaC7/U28wLyC0L9BIZevTn5cg4IQwrl6NpQY+rxddb7U7fMLzPYw0bL+ov2XWo5X+ZMWX6c/y02+CTFk1mzpNL2CR4hrBGhgHCxuETXS0u49e+kn191EqYGnUt+RZ9OUE6+gcy/+PA2bcAH1GnYWDRl3Pv3uhttp7979JP+ijcCC1S20XZs/ic5yZEC1eCnm0gXmxo23w5m7IM7j0enM6chddvObsbCZdO0oBvWgrfOY7KYjQuRmYA+zZCLu/oz54fhOeD4/jtNMGbJtd+cg7Ed98My1W1tpOmOO3Iz8jGfoiUeC3uzy0jczuYJwcPCGd87swzqlY1TJ/kHLwPnmyhajCERAN04E5AAMeJ3WN0D41fsyN6sJ6999LEr+iWNrKCjK0xRj+CsRgNGe9DmOwHna4fh1E1F3y+IKc3e9AYheWmwKgEFRitqhmGLjRCVtAeW3WN3BjEUm/ZMsARjXgpo43+Tm1DEeJBGrqPi1BFoQ8A/eCNmOSuOqdXTCWR+hb//oj44C7tp1m+jqr15H517yeVq/YUv7nbKJIgL8wx07qIagvQoirbmduDu1nPOW1ZtrRQXVuqGqyHHQFRgqTyXbB5j789GjaghCMAXoX5IN6NVickEy13QHaaDnSqFKGRvQW2m65dlDBMFDlQPrL5QG6tjtba4F2D0lACLDr9vWWR4sKUGcHpFmlk83mf1XV7QQhGD13iDg8XanrgVhm2FYVGse8C/uO0gQBBTNaUtB+/Yja9Wh79sUswBvr8BLBksf6d/0qIEJ4t+d7wSzCmTqzBNbXVSMIeKvrhDAkyYEdP1b1C1ltU1sVaqkLaCMV60+AZZk7CNBIVzNPh7PqDRxnsFNvolPERlj8dGV1jfM9wdSAN61ew998vM/pvkLl3dg27VrFxo2dEA2DRncn2pqOqv+/Iuv0tVfu44O6qNfx52yEwUEZobAvU/hDAZD7WPrhrVr1z4ivr7n6IDObwPNSEk2mDVpFnxcryTBesdD+Qcp+JWi7bCuZLgZgiFxw62L2D/MZcUSJ+o0bB5w9VLHfm+r8U1UQhPaz9NsvvRZVZj7q9eRW4C3uMjo8v5xtMX413YOkXo1fN3PsD7BTWYf6//qxI0OqPuzqiNn9t3yFFLlY/vw3GZj3MC5i46tpSBZfVIuWoAfY9Gfjwpw8Ctq/5dhihA3lUKzlzaTPt4M7Jkg/rz2agRikzzMrEalwh9XCk8YUhNYw4minGNQideYKhNbTBmDkhD7KgXdiKLqWa1tAIdIohdeeo2efHZ2luZpU8fSjCduor0bX6SVCx7KptWLHqYDW2Zmz+M6Mt7136foqefa7sGxpOggAEYR0T0VRWDuA+3Gw5i8JhfcPV+2BjJdsz20byIwS/2o98K3nLFx05XngZdNt6YR/RKEAFi8DkE45oqASgd1O5peWGjigekBuoul3T1enksxK4/fc4AR+Vn/ngb1SlC1mQFuiXIz2muO+7PF6Hn5fot9Fme+3ZzvmOshE0j2pgOqNPsm3FCUdhRu7UBp+pcnDll7nX9QCgTJMwQ1y+0bOj0ZcL3Y9GZjC63XvCAg5AeNVjtauFII/I5dvnLO5fYL4J7KKcmbe1LMY2p7BbwT+vfpIVr+SCGcIwDvUVcq285b2UI8hgzGvcpKDfTdBSsXuBECAa9uv/sJwva0k4+iZx++kU4+YSrVMnU2jnEe15EP+R9+bEZBgiVD+BDgnRjmLcCyFlRKOGPjBrMfNuYO7yYXh/IYG5SlJzh6PPyKydgdF4Bopnod9f1kTlRH/ao7+y8sNN3jg2T9BYVpptl3QymEcstJWDrrqTdMhUE15/6qOmaYq6Nbc4B37yMCc6Oeg23Qlj9CnZBSlnJQZ8ERCVu3UCFPOQnBXeAGru7tYnE2QY70inqmLSywVcltC/ANjx2kXfs6+1xgcsnxtepxgdmmcvqG8qrGg19NHl5DXYJHLvF/mRwLMM9R3jEEwFksLkCQDQegMqctVCD8QSGC/gXlImF61NgAxkVA3fSUYkoAt8ZKHkNmdMzdn4G5NUxgE5y0a/deWrZ8VbZCX7n6w9SjPp3dd/rBdeTD9TfmL6Vdu7UvBiclhR6BmSEK4gCwUzkDeicTguvlpFlLTQFnzCCdjSynxOrfA50VBh31JDC6+nwcdb7U7bPzm0kvBxrTKSMC15V1kIX6dRxYO265NFlFZf82NLXSsnVm+wDzl70YkJ8Us3Y1VaDZr5QkWH/hDqbKGWRZf70QGOuT5jfrVhRozOvS53jCzZFbmxWtfm+BAJ8H7IbFizP6hw9IEAQ+v+nN9/w0+ya2uRgRG9NlHn3VVPKcObmWeBvMVz+vrqWZIqAcDxksK/bMPJPeMLg/A+MMU4y55QKNVSN0LDEODQngmtjAQKUk+yZ2VDBt6nnmFYWgoeBJ1LOCukUd4b2g6ge+SbfcqvOlbmX5o1zEAsc17tq1h1auWk8DB/ShyROPyK2xzRnkQ/5VqzfQbqjDbfLE8VQUaMacydcaTObeC2a1EuxSrBOvdEBbvr6VdFeg7t2Igj6QKfySTJtZyYCmynzQJvhVUAOioc7VwADlqvQ8i2SMNS85U6ny+rWFxwYGdvV8DOgY2NWxV1vMOX2MCQZnTfZmGORCqVsW4LC5OVaD4eceMqNDYN3g36hbLtBQhiDwlf5N9a1P0GkTvWnn+nOL2ef9YzkKEfSB6FPU87D2L6aBqOMgbzPMAgxPAFhvK60z7xdg/YUCqtJyq3m/m8aD6fNNvnHisKBT34lsHfca21uZEQX841vrTTzC0Ed2IlKdvWD2iBat3bp2pbruzJRmnbf7Qz7kP2RxVC3o/e0yyblQIjBrSbMRwRIDWz9rMC+CGN+yQHunM/tWszQslqVWDBYe/Z4xFnOX0E8EeD/lgnZfJw9zwRes6uzIgQOW9NDzBG2/zlJY6HXasVc/qnyfuz9PCugyD2mmGCqH0a0ULW79xbzx8UO9GQbTlqUH7VXRAGWQbolW50vZglGeafWR+j1BXfpH1ZHPeYRSQl0rZwsM575lWv/GDNKRLqfU6t/DvwcIPm489Z5ZhwhLH+llXXpCbWCD/9iNl7owq9PhtP94CINfKVrAK0CprY7BL7jhJZTTLwwJ/jeRZCx/uVGgF61uId3wAIyhAFAYB33LFQG6Jb+cunPr7+BeCeLPKKfcsN9TE3YCpP7RRmAmm8MyIQSdON4I1+pW4vI5hy9/NLCYgQy18D+5NaApSu5/2Zz7iyUNejDXUpU3KFuOAQQft+qGQX6BNdjr5U0eHsz2wZUhblm8dNrz7UPQevgVU1A6e5jEE4kAABAASURBVEqNEaU73/2VXsNbyWhtFcJrpYGw8O51pye0NQTIq7Su1bw/zSxeWyp0/YVCTBeY4OYbdCUp8E0z5aAbyyChP7j5abOPPGpUDWGJLzwzqKmS8RKKNB7ddtpIfG1BpTa3XhmmHNy6MzdPKWeAia4EgQAIxXkpZfiRN8U8xsoV/J5nMTFAuz4dyw/aSnlmHVMEVBpAlAvAo0OgICwFr3Lz1pR7Y7XvW7l6PR1z+odo+MQLCybkQ/5q10nK9x4BPvd1fECjm3JkOHNTrgAMxo4v9zMmBIEcFB58QKtE+AMWPHiR49JHqgIB2PIgWIjO6la1ZlgDPQQpVd4gS7PbMxVM5i/DGP7tu1WtvdneNuOQsSQIrL9eBwvrkTRprdQNejaLDYAgL8F8+51011uW8M4jokotn3OZgnDsoKAj0EZ92mUcUOofHzlEmDaEfSR4n5w3rRa7gU58vCxF8LnzxWbS+0C4PsNTLNAEs8plWFuAIoNlKekQ44J+wxEDEhQGAZArSeG6q9NR7P50Ni1oUkCVwk705PBNFbpAz13e6TWHZ44ZFFjRD9XzLAUahXXrNxPm9RZKyOcZYvIgzxCYv6qFdIGpe1ciBDfxrAIVPCjDrBzlRoJ+nc1/HmQJOJxZqKCaVb81xTSZpTA2vHJPvWkGvwLGEzxyX+V1KeU4Z1CvILAHf+6MRaZFUwl0PF8QjlPMylGuUqgcWvCsh+eaWL3Nsv6WU1Yl99SzfgGWmkrK426O40PgIYPvVqe5UmY/x0NmUDgEYLfbAhQBz8032/h5R9USvAJ0vIO4n2LKsWLHSyx79ADzCjr68ECztbbw82+iUqUQ7xcQAMr2wQE7mWIW4HKmCy3f0GoshwUSw2I4QV2RUoxv2lnBtKml61qMGDKIxwElEZ7jawpANx24nqKmpoa6lBm7HvfhfpJ/kUBg5mKmtQqR5ZMzHeW6e85eZjI0o0PC3KkGmGQDWrGMjbpf33L35yAvfaTXW5/fhfO6UgfH5aZdllYYTK9+/8ShARhV9App+3xQL/eb0Ip02s05f8eMZsMyBuuvH3OlM8zSU4kLNO5FgDyd2NEDAzek69XL7nMFXiVKAHxLi9eY48SoEGCQBcL6gYXW2nT8gZ6OgxJ3fvvgQeMOuD0fPSr47QGVzh0nigv6c/1DBwkRoFEGEpTkQVYCoo52iXvHVPJN7D1A9PIy85sYH+BxQccjyQS/chQB05kSCDwT2oX+nKDv1zG+qVxLOOjkyx+NGhCQPqG4TxwkVC0FBIlO+gb0751d+/fef/+C7rzlZ0Un5H/24RsJ93eWJnthRuAltvzRuMHBZe45zikXOnKUyTuvMSFi7lB/jkO5FmAEtdCZ/YTVFMIiAHMX6Ern8wBXpBeZgqhvJkEQ7HAtiCnFLMBuLvuSj160Oa48OWOSP0NfhlmAK1kK6SX2/uEdA+0+UT40/L/GMdhSwXxHbv0d3jdBYWJ20+yb2FrmfOhbnz1E67Z1cpSIio/AV/6/7eJqwMcJeGwUuhOCDhf03jGtlsLwDRD7l2b9wpZdne+SZS14OJcFhAvysmh2xHAheEeJHlN8+aNJIfAS4zhwDDCG8TzFHs9m02RGhyiGTLE0lpvPHy6gQG2HDR1AF190Jl128dlFJ+THfQWKlsshQQCuTY2bOgcBS96hMLmxcGa/mAGdv5pNO1pp7dZODBAtc0R/IMFzBveYd+TlCn8PsKWP0BbSzG0uqCjUMWWIGxE+QSsf6CcGfJmHFHtf5XwToLvUdNeLpvW3j6UomDLcn6GvPmnWvpI5wLOWmt4hQY/+rCjPMCt4JS7QXEE4GnPb1INCsOV9WDnfBATf/7xgBr46ZXwNYemjEECQrWKKKQKa9mRPO/7AyvmHR0yaB/dO0LGj/fmuHSta5IWcb6ICpRBXjAV92UgOUYpbPwu0Bf3+1VtaaSXjGyf51Nfr9Sp1P9nNvKNcvglxUxayIJlhmCZjUl+9o3D2FtXDQ0oOCAIvsejPEPzCpNnNdDeBLCec/yyGwRGW9ReafbPkYB9xxqYc4Q9Bo56dZzL7J4wJT9fFB/RK5vOotw0GkE8RCPpAn2FMbiVabYVDoe3Ova1032yTUca6v/AgKHRvNa73YJYeRKYu5zkIdMT7h7AwNj20SNigvVwMcC8P7jI2RF5CqH+GtYdypgX87qGDdFBr4giCd9aUWhQfmsQVAYWsfn9/+qCxzA0IhcU7XOph1LotudEO2kqycX8OSeBQVf8U450KtQV1H7Y8YOjIAQni0wyQL+gpxcbKcvgm0Dh3eTNhmTjsI8FLrJ71vzgf1xRILrJp+05CYKtSE+6L64uMGt2z2NqWsPiFiUbegZWj2efr/4bRdYVbgMvB4YnXmo15XrDgHREiNx7O3JWDAW/7s5n1D0zv4F7BZv9SjLEph9nnOBQ6vmdmM0FZoPKh7Rw50r9hL8MswPDyUHUrZcuD4/VOJwi0lVKGn3l5v1DOXD8Eu9GFZzC6QywroJ90lfrsnG+iRNfX5xc058z3fOextaGI+KtjlWRWv3x95LJ1LXSv9V3r9582oYYG9EzgVChTprtZbb1dm1fyHy1a02JEVUf7GtonXLjktIUiXaARE+OvT5rz4MPo/ow3jL4MW5XKCQaGe3M9ZALUFgJQFf84Abwdm7R5SxOdcs7HafDY80pOuA/32xQrp0KEwJ79RDy4T+jceNiAlm9Ad3o1r+aErg9Aj+FUWYfz3PpZjivPA3M084b1nDC6uXHvBbRxi5Sy//gyFxNDEOSEt4VKAqIVA9yGpla6+yWz7Zw52d8hj1s/yw12M5MpCCeE4P3r74xbvMqZ+zqHBQgcEzL3Z+CRZpaeUr+Jvzxhtu9Jw2oobFbwNhzw25ny4fCbB02a8U2FzeLdSWnbHv8eyu4XFpvBr8YN9re/a6OutN8UnzJUpAv0HS820+59nc/CmDvVR2VnZ01K38vFoHMqXCmlzWbzfwPVR5ZHUinkF8wbuK/j4MFDtGtXkS2ekYf7cD87LYchQ2AOC+IAywZcN8JEBmdstpW45umbjS05lquwrW2I95Vkg1mpbq/AYdVms6cM4zIXSWbhKBUHYKknLgAF3f0Zdc/U4bczlWvl6Cwh/97P7j1ofEP4fqb5zBBhLU49KjhcmWG5yE9J7tWZbHrE2JAxummmICxnHvActv5vGD1kuOWvFEv4jY+bga/Qti44OnAsXW7jtTmTLnKcuP/lZuJRv995XG3oLN4cAghreH/qPLxW0Deo42K3LzHFWFimRej0ceGvGOMB+o+sslMr6LQJtaF0fwYJdYxfKMUNHPcjYT70xu0m74RAibgWiJTwvxaB6y2Tye40aGDfspDBfbi/rJvlpsAgwIM4RKETLzWMfa7mLgC9RZktJHmYeWMpwt8DFsOj3w33VV6efj2o+zkuTUW6ddnRg7m/YJDUNQgTiH6rjoO8dROHfHTe9sIhgvJEz3PRscGYF5lhVr/NJQa8WbGhlTZpjA2C440aEK7+IcPmvpZq8YJwwD1kRodsiTi0zRRrC2Dkcb5QghB454umJfTsqbVUH9L5fUnG8NsJPcDmb8zFdeLQGho3OFxt3+ndpiv8JtAn6Csl4DmIG4JtmBJvC8V4jf3zuUPGNKmkxXOcPD5w4k3RrwHKECR1gz7eq3N2W/3cy2wpLIwRepl6Xl/2TdnclyoEroX0qE/TzKdvptYdc0pOuA/3+4KkPNQ1BGYx68a4IYFrpkXRmmJWjlK0+9MXmEGfxoTQvU+BlGLMTTEDGu6F0uAZFvzq+BAFvwINKvGojpUEwnphkdk2wrTuZZox/OUEh1OYOm3BBP7tSVM4wJJZYwMiINWzecClCn8zmZVnbMisv3hvGeYNUErfiPv5HGjM/8wwAQL5gp7SHIciPYV+cZ8513FwrwQh8nPQ6XWqXxdLNwUrqLoOBQdn+v/82CHSp46Amb/wmHDyBopOfZthbQECv3690D4PHIr+DsqxQvcF7Trnm5oKKIsRBZ0rys+eUht6r4Ak45tKHSdypoiEcJwosW2WnD06vUfJpMsNQURg/soWQuRWVTes6Xh4yJb+UXVPsw6sWGb/H88cMpY/QnmBcl1BhUpISUsbq2cvxgJ8wJJfvnebyeQN6JGgsFg6dXqxn2RtodyojihrxiJznhfm/eF8GBJnbkoVfArRiHbz47sOGNkQIOr8oy0O2zjr30E9s9Jt3lGaKnwWVxAOTvhHTJlPzjBhtVTmjgcIHBMQ5UapcKRZ39i0q3BbgLWrYaOZ7+ITgtO+S8VA5eeKUihA1TVY+59501T8vf3I8Fq8FV36tr7Cb2IWU4yF1nDAxkq9Heh4qf2/P20xC+rA2mKqS1gV5Vb1O/6SrG8oln9UBXAlYeCmiARg2IqWAKzevGxDi8ADc8xBLozWDQV+Ocz+0rUtBAZHlYHttMNrQq3NTHGr326TeSObfz+75yDNX2UKeieODW93VelgpiDCMg/6nFG4FMO1SV0P+pZbgAtp90ul569PHCQ+Z/y9J9cG6vvpwSw9pUSChnKQfxdjQqjZzzDvmK27SnvTLzIlUFg9ZLgypFBbwBqnUJDqaJ0+sYYGWRZg/VwY91OsTehu0L9+wFSGgt6Tx4V3PLB7P2lGfynfBOIp8GlTYQscqjApZayEtw9XjJw9JRrtguNQyjzgV5a3ELwoFKYZa8wZGLQo6YXZQFX9qm2j0VKqBk+4Cg57bWH9feoNUwAOayeOd5Figp8+oOO6XfrpveZAn7G0whcGyHplV+dC53hHXkiTecPjh4i7gE8ZXkNhjP6ssIGgqvaxhSCDbamJ4zJhaLi68BTTajeVKPjkw2vuWy107yyz/0DU56AtA4JvWqejFOvnc/NNpdCwvgnimOplB3WfYwAGvti63vXiIdKDu8AVNkxKIE4n7x91BRfPy12fESDyrMnht/6CzhSz/DW1x0K95dlDBDdX5FHpXcdFg2ZFD7Zpxi+U4h3zVzblY6Al7CA6NsoNW0qxMSKfx9jfnjL5JUyFQJyQsNFsV98k+x5KEYD5/N9AKggTdlR7ey5c3JO32MjTPEbgtw+ZnRk68BIYfI9rW/hxaabRzbe0A0rDvEVo+LGvElzb9Kix6nyYtqUMaPfPbiYwuDp9cHu+/JRwMzyVDGY6FtzyFab5v6CDK4W27XZHDQyh4br/mv3HkN4JOntK8NpNPZsDvHlncRgsWNVCf3rUpDGMy5ygHXAL8JYiXH9xHwTlf1gCEfZVwvxutR/GbYoxuk4rBtw7s5kWrjYVIJecUEuYPxtGunmdU2y8hOsrvDluZe/7hDE1FDSlFqelnON6y0qn31esYmyR1SaeeN1U/IXZOl7Ppog4GQ7mrWyh2WyZn3OmBq+/199pKftJpggoZS1g7g4fOPdnAFHcsIecVUsiAFcNWim4FAQQwh7RTfV7EOAC2n39XJj2cxkb5y8ejA0i1+r0HXNEDSFuktRuAAAQAElEQVSQhX7OeT+4V5KMwXNSBEC4+93DJoMPC8eHzugSXOKKrFmSD2Z7irxRywYPCZ0pQoCTcSGb/5liODgxNxrZRe3+4v5DpGODmy47OZjMELd+btmB2uZPa7a00rf/fdCIdIo7Jg1PYBO6lK4z671+m3PfqBMH75B92hRvCE1vC6CSQ69zoX2uKLULfrShqZW4tQuC/4h+Jo6FnhXk67xvgHLs+ofM8QBYnXNkML/rSrHl3wTvz5zKv/5hcw7sYEvxd9SocLP2PCCa7s6rcPjLEybd8IYJs8egoktteeDMfJZwdQ+2/3n+UM40oNFBDKIagK4r3F8J3rak0COAAZ/Pa4LgF2brL14KBmtsVXJi9hG452fM9RnW7/OPisZAzxkbuwBQWNbj/+7WOFsLNLgNX3lGbXFr+Vn5g/yX7Gb29nYYFKr/C2ze4/gh4eu+08zK4aQMKYSFfh3WjxkLTQvIO4+tpb4ZE3P9Hj/365nwV4jRBePzzX8dMIIDov7vPzW4NKJ++VI3S6eFpOfZtU8/yt3HslZPs0BI502rpcO6Uqj/pZnrq9048cv7Dxpz+tCGzrVoDzXhrPIphsPDc5sJMQ/0bBccXRv6900O/zJ15gXwReaZ3KPHXm0mxA3Rr6Dv04/DuJ9kSnP0gTodM5e0EDxi9HNR+x44BsWsnrF0XQvd9JSpGECQTPBSOlaB2C9O51nVqgaegzp48BA99ezsbMK+HRqbtzTRfx98lt6cv8zuspwLOAI3PHaI9CUPulitMihrdlYCXfIw826nOT3osGDh0XNfemJtZAZ6vqg7Z/Bg3fjWvw4aDF6t1QY+bFl+ewdUiKES/3E39mIGM/6I59nSWBOGdgp4PG9Qj1OMsXH6Joqt/6btrcStRCP7JyjIUUChBNDfHCxdzaZnawf5sHxcc+vBnKjwiGodNvf3DqLadzIlKAJaLHx4IKQhlqULAQLbiwvtJsVcf7fuNEl51BJyEAVZP4s5sGEX/HV6sJ9i4yWf94vVIKaMsAYGZI5g4oqQLawdcJKxJNRf2NzfqRY+UXAPT3YzqdV5hlZLcLrxcdMzYMygBEXJGwLUc/6RKwGQR08wpFx7t4kLvql3Hx8NQ4pOq1v7ge9NINx+7LM/JCTs2xG+Y+du+syXr83m2dZUhD+ZXSFyzhcE4NbJtfqnTqwhhLL3pUIuPpQPaHbWLtB/z0xTY3fC2BoKc1AXDiE6Yf2cHgQLcze/dssB0jt3CAeY8wuXJv2+MO/zwaxUCzA0uxuarJG/HQQoCMK4zAVvCxD+2kkqeQNG6Ed3HqR9B6jjXmi6Lz/ZMi92nAneDtq3LvyBDrulkHD+h3ccILx7nQoEgwvzHD9FSzpH8Ots3yqP2v53tunWBwwRH0FdD/M2zSyf+jcBBdGfHzOZ2snDayhKrp7q3aWYckydxxZKccx3xn5UExQhaNeKPgQ9OmQ6tqhL2S3mRmOedPbA+sF0sfMi6jWm804IlIq54RbJHX9Rs/6CsGQ3vTUQoT3gvFO6wVIKcFwus8ZCjIlO98T9fOAF4GJeUHNzMzVbKvSNm7bSPn2CUDE3Sx7fEIBW/5f3m4M7XH/PmBQNjRUGNB1cnbHB+azG7p6DBEYXx0hYsxRufdiPSkoxzb4atDG4f9Oy/K7dajK+mOM1MWTRjQu9q1IHM17eCwstE5h2cuzgmkAt7UNF/ksxZl/X7BdZREc2zJnH3PmOE9YOPCcyzJXQOh24v/qkWSW7QFi/ffBgTpCXsYMT9K5jef9olhWWowyzADu5fEI5xqfIHDemhhDpNiy05qtnmisCdnX2h7+yxsfdmmt4965EUXBxtcMjxXDQ84AniIJSXKeJ70PcgXeIfh4KEP1Y7WPMvGeWqTg/3eKbMiHo+xQN+bZJNk4o4Q88Azzm9HvhFYDoz/q5KOxzpbluOOD0YQUEBBDVz8MLKpDBr/RK+rwfSAF479799OFPfpeGT7yQjjn9Q7Ry9fpswj7O8TTp+Mtp0+Zt1KVLLdXU1PgMqTy+WARg+Vy1uXOwx30XHVtD0PZSBP6lmEabz/WDG49u1cMACMun1YwjQH0nCUmGA6yfEPp/fNfBnKimRx1eQ6dNjN43DBdovF+FClz+gYE6LrSdPt80BUwMofszaIQ2ulZ7vXDjA1ODa6UkBMzjQhGWvwjLvGjM4dTp3bLD7AcRCf2hueY7H9wrQe87tQsl9IakFxKyfc6s8/5RkfPnxw4R2ok6xrdkRHtVF0K6TTNmXwk9WPIMcx11si44ppaSTKGoXw/zfsqBrr71CTp9ktZphJnIAnXPsLbgFB0dyjEYEFRxMBycOiE6GPG20LSnrX98cE4zbdL6yhqrLzxnanToVu8TW/6dg2/CeZ527W2lay1Din4e30xUYsjodLm9H8iW07R9J02f8QqtWr2B1q3f3EEz9nGOJzU3+PhjJ1Gf3j068stOcBHAcha3sOUNxg1OUFgY2GKQPczS1sMtSeUFo485fTh+o6GF7pttMrhw/ca8NlyPUkKwG12oh5PG7x85SDNY4CIEPoMFL0q067QkmYWjWOvn6i2thKSXNT7EFvIUY/K4Z4ROp90+PCd+dOcBataM4mAAw2QZ4xbgLdp6yC9Y38UNj5vWHXiGfOSsLqG0+tu9Q5zLMAvwtt04ayYEunmSLfECDxkIwWbO8B5xqx8sPWBqf8+i+x4xMEFQEHJKo3Jcz5a/UXRdfHwtQdBRx1Hecgy2af2CohtKkVeWa52fdeGCo2siYzgg6x8fIxAzA7zTv6ab/SKmg0TVMyDJDQftSgALHuMPKyAorzp14b0n15LOc6nzsjURqDEPg3FUY1lxYc0tpTannXwUXfejL2WtwKXcJ3n9QQAMHqxg6un4WC+KiGufoglb3pFD6IEA+HO2Zmn/Hgl6R0SXd8jiwDpz7q4Dd8YrLOsW8kY15bhB7y2O0kdfMRUlCPgBV8ji7g5ernSZigBFyV+fOJizzMNlJ9WGKmgctwCrOcD/n73zAHCi6OL427sDgePovQnSFBERARWpIk0EpCsqIAooKnYUC/YGn4pYsIGIIoJUUUGQJkWkiCK9iTQp0nv/8h/cM8kld8kmmdvd/NHJ7s7OzJv3m7mdfdMWBp//RiYYNe9SP9F1I38pftM10Skqfv8Gfef7wosOwivL2vK1xS/noV+m+P09YCr4B54OEHMkGCmhI9Xta2Chp3/HBgx+t21uBD2DOf9nI+qCf9j3PZ3H3n7Y9M/pG+J564Nz/xFgLIPAjEG8P+E+HN4ZG1R2x3IQ6OPv/AcOvGfBmGGn/nYmzUAC3iOL5TXMIPY92iCLtmxJChfKJ0vmfCHb106R3+Z9KcWKFlQO5/Dzd4f+/kl+mvKxlCheyL6FzZylEsDop//GV/UqJUqeZBv8RaTmMjon/g0aXmo+8rzAe099hiS8wOPoVuffoHnriV7vzvWTBA98b3+3nee4wFcjc12Tr6/v1eApp2XUPF8jwOkvO/51wXuDE1/t015hrdP4X3w7BDD1Dy+BaUPb1yeX/xrgg+fUTs/+3/rFS56bdkP3LpEUv5kAew+f874t3yw6Ixt2+I50tajhvhfeXH4jn9jZHJ+38YbRqGqiYJaDt58bz3N6dZSi48ctmzqFWlb+nUJ4X/COO2ruafHfHfvGK933N+HfVmKpHPZ88GZxTcUE8X+/8r7vhnP/TnPv+oB3yHe/991DB+2gG5eQxaosbWkAQ9k8uVOkaJECyuXNkyJw5rX/MWey39sEEqCzLYG3v/P9o8UUlvqVbVsVI+KY7Ne7P2P5GZnkebHzTvS6yxKlqBN67LwzHea5f4NmRofRe3u9RPFv+M37bjrm8Hq5g17B1vTgHnp7n/zipKDXG9fezukbhOXMZnirI969+j43/C4wLXRAgJkTTtwB1H8EeOPOs9LXU96Hjp1f62aq3t4zsu2m3dBNvXD0/5v3Hu3ClL5P/b5nWd0z8osRYMR1m4OxJxJYK5T/NRXc2T76a+y9TATGbw6/TkP/8G67TvFbFuC9Lh4zJD6f7dsZio2OCufxfZ66gUmyX1v5x19nffcByCJS5xL3Gf7+Zedf/7E8wgyDdb/esyix5M5RAym+TZ2pltaj7Z+qhQrmk+W/jFYO59ztWWv9iLowbO6yebdvzXfS2r1wgfi/7I9f4Dt6hakqDVxq/HuzyuHXoJn3bqmT5JrdXE2dgh39X3KxrilQWPTs9v7khCxa7zv6hbAdajl/Kmyy30vtYo+e0BXfOx0557SgV/vF0afkoaEnpcugE9LilePS6Lnj0vr1E+L9QmjywNFpLsWvz3bTrvMjwN56YEmI00f7vfXxP0/vZX+Ix/g9fPy/dgJTY7E7vH8abrn2bye89YqHqc9KX89P8r/tRKmChlS7yPavp54cR/f/nNl80/PuFPrkx9OCdbBmCPxNNPR0npvXbjr6Dxz461anUqL4t6f+YdxwneMCXy3MDlK0kys2+74f4D06HmaJ+BKJ7MoxT5i16zdL3abdJSlvTSlctrFcdV0X2bP3gBw+clSef/Ujec7jDhwMsGNAZHwYO4oE8PI6bKZvDyZGs7CmMYpibJVUst8DzD9z7TwGjb+fG68DNWjY3CSetun3b8wCjQCjUev10Un5y6+TKKfnxejuJkmCTz44vX4k+41yYDkERrvfmHhK8IkLbA6HHXCXexp4fO4Da+YD6dzkikRx6uiH/wiwv37XXpwgV5V3TPPsn/2Qrv1fYPG5H2xwtmbbWZnst+69URXnd/ykByXQ8xHhr/MYOAVzuW+ED7oFciYHtA2B7rvZD7ql7RSCr8jqrWdlmt9mcDB+/duU86Gd/5vj346QQJqgLcT050D33ObnzwFrodf9fVa1k966XlYqQfAVBG8/25/b4LHmiBZ21Zo/pV6z7jJn/tLUMt2//5CcPHlKsl1wgaxet0kZwZOnzk+9zxP7EfjwB98eTKxvu+FKR1RByzCT/aZ7eieEqZvx8nLj/yCvWylB3LaZjXfZBjrPntX3iX/oqG8ovOA86Bn19F8bjOnxvZpmEbdM/0zOoFPIl0rgK6x1qu0xEgPftb8vpv5jylqgnF5aMkEw/TPQPbf5+Y9YYDOwt/02vkL9x1RPt+nurU/OAO0EPmUSD7ODvDng2YC2IV7aRW/dcZ4SZGO4d/x2BC+U25Cr3TUtHuqnuvQ2eWxQOdFVu+GnKh3gJIdfW7n7gMgrY3yXEKIztWUNB04HPxdAYc1etrc+zp07J+99/LXs2LlHoSlYIK86mj/YLbpLpxvFMAwZM/FHOY1vzZg3ebQNgd83nZWZy8/45Kf+pYmu39gjZzYflVMvMMULm/ekerj8BC82pororXTzdEZTT/+jNwPc8x4BHvLjaek/3rdhQxgYQ90bJblqjXTOAC/70DUjh5eifDkNKVXAEEetdQqimL/xh2Bu0Q26hOL8X/jxmZN129NO7QslLSeHSQnQnstFMwAAEABJREFUTrS92oEvtREWAjr56nsMnAiTcWx0/2cCvnk7ZekZWev3N3FDNffXjRS/mUIoVOwX487OMGiX1vkbwFgDvnWPr+WIWYSYDp82Nn0yIpCQUYDMvr//wCH5ZdFyZeB+9ekr8vv8kVKqRBGfbFW+pJzaJXrVmk2C8D43eWELAu/4bXyVz/MiW+9S21e/iNklB5jKg09atL3K/Q2YNzzzQY4X/A7XxpfuJofsWc2z88eDx0QwvbffyJPiv8MlQmD648213dfbnezp1cYIKHZ9L5bPkHJFDTV9C9Parq+SKOjNht53NkyS+25IksdbZ5EXb8kiT7XLIg+1SBJ0CPi/KIKX01yK32hP/hRDbquXFFffb8TohXe54bMe3tf4DE5JT4eHt58bz/1nCtWqmCAl8htuVDVdnS4pkRA3o3sS5J/ZVpq3P/jBt2MUjPBNaPO+W49oJ/x1u76K+98ZvXX23wXaXANshsEsqDKFHPqc8M62qZDmo+1r03HPG+Ku3XulZPHCUvfaagHxJCYmSGJCghw+fFROnfJdYxowAj21E/Bf0+jGz1kEgpozW1pfTG/M53nZTXvHvT7Jno4A8wXfvVqmr1kODwPvENv2nBVMef55je+IFzpIYAA2cOnmaDB6n2mfRR5pmST3NEmSLvWT1IguRjXQKVajXIJg5BvTnAvnNlz7qQvvz9/kuEA8HBLjYmMX77+BnH6dAN730EnSuGqit5drz707Q9C5c/3l8aG3aws0AsVy+s2Qwdp47+SaXWH713bv7Fo+xzPRO3KRPIZUuTA+dDf19mdg+uOIthH7YOCczhoBu9SmDHN/8tQpOXb8RMBwmzZvlx279gimQyd4DOGAgehpGwJ4uY2XzY/8e/bLFDYknqbwmJUudw6RzvXj7wXf1B9H/8YMO//6f+c0JbuhRjjxN4I4dO4lkOtf4w8dHp09nQCY3udebQNr5v+y7x2qYZVE13Z+eOuJc3QQ4giHXZ9RJ3BOF38EUv59LgTSvE6lBImX54T/u1M8LpvK4ddp7l0nHD+Tzncmt7dq2s5tbwDnzZNLKlcqq9YAD/18YhojeOu2XfJ4v3fUhlhlSheXnOl1KWvDGq6g+AmPhr1ZNdtXu6gVSLJnBNic6YERjTZxNvXZBIlGG9Pezet4PPpPgfZnUDSvIfc2TRIc/e/x2n0EUjydHYbn4XBz7STXbHAWbikFWvuKNLAJkps3+YGO3g7tBK6rlk6QeJjeCl3pAhMI1imUfIFIg8rxMzMgR9b/+GBteIVinoflf15xcRbsnaFZtUTBRmhxASGGStreEsmWLavc0r6JQvDygKFSvmpr2bx1h3KlK7eQkpfckLo79E031pfkHNlVWCf9LPp1pZS7/CbJVayu/P7H2qBZxzeQR4+bJhdf2VaMXNWVK16xmbzz4Sg5dizt6Dg2EPtp3q9yTcM7VFjEyVuygTzeb5AcPHRE/P+FG94/fijXeIDnzuH3IAslokPDQNPsnoYL2W9+ZaJg3SPO6eKPAAyeYFpf7nnx7dEoSZKzBQtBf7cRwAgwngnx+GJnlmWwvwmsA08wzFDuP6Z4Xlvwt3+Dp41wv7bUMD0CeC4Euo/prhhACHTPjX7JXlPBYfC5UceMdEKnh38YdJBhjwB/f8dd2+D5bnsDGIXasU1j6d61NU7l7Nn/1svhM0jK0/PTsH5Nuf3mGzxnzvkfRusLr30sNet3lg1/bhUYuKfP+O6UbGqDtc33PPSqdOzaV/buOyidb2kuHdo0kn37D0rvxwZIzwde9jGCYcwOePtzqdesh/y+fK0KizhZsiRJ/4HDpWnr+9V3lM30ww1vxgvniM86YApPOHHcEBY9unjJrRbkw/5u0JE6hEbggixpw11fJVGtgcVnwdLepY9bCZQvmiBXlXdEExyzIkjJkTZprPMrXcgGb0dpsxYzH3QKozMk2IhPzAQzYdsRyJk9bd3HCOgVZeLrWWEafxU9I78XFkzLxHYFF4MM+U+B9owHSturk2IgKT6TdMRfVBaP0Tb4rb4yatirUrZMCZ+Syu4ZXuvzYGcZN2KA5M6V0+eenS82btomtRrdIc++8qE0aXiNXHrJRelmd+zEGfLxsPHSoG51Wb1krHz24fOKx6rFY6R82VLy+Vffy8TvZqemsWDRH/LMS4PVvWU/f6XCIs6638ZLQ09nwc8Ll6mRYzNCuOHNeKEeMcLVonr8TN/x5oLNn26qyYeWNxOv87g6zZ71v4YcU+JvrZso2PgpriBQWUWAHR4i/lOgMcLVNE42+VGVwOvnslKOeB3zyjFPY0EAswH8070xDt+dcvw7cy6eN4S7wK/DHEvoAtUP//rC69AIOOaJi52eMeK5/vcJcnrfQtm5Yaoc2zVfju6cJ6+/0FtNfd7nGQ3FSGZoqmduqK/H/ygb/9wmk0a/JaOHvyYF8ucJmiHshP35V9+pT0HB2M+XN1dq2AtLFpVn+3ZX12O8voM88usf1Lro3vfcLOUuKqnu4wedBM/17aE2DPtuylw1ggz/cMMjTjgO3+28qPB/L//hxHV62BbVE4QPLaeXYnTynz3r+XSwAzA+53Nxccc8gs9nnL8kEEUCKX6jXQ0uS/Q8K+OznYgiViblYAIpXlN/oQbWhZeIw09iJV9gqF2fi+SJ7+dBSnbUAhHMIMQnsM5fueCXm2BlXIgHDh6W9p0fl8nT5qcGhjFcqGA+yYb5AB7fHTv3qDA163eRXbv3eXzs/z+mI29Z/b3c2LSOJGSw2Gn7jt3y6++rpcyFxeSKKhenUa7yJWUlJWcOMb+DjI6Anxf+ofzqXFM1TXiMGJcqUUQ2btqqNhcLN3yaBOmRLoEUv5e8dAPzpqsJoFcb3zXt1SRJ4r1hVwXNn7gnkDPbeQRqicwlCecv+EsCcUog578GD9THjIjGcfIpMOjr7VI8HK6vwudBjqyGYO8YLJHw5sPzyAnYvnYdPXpcFi5eIa1ufljGfTPDR2OM9o4aO1UqVmsj4yfNVCOe3muEfQLb7KJokQKSKyU5pFzBQD148IiULFFYkpP/fVvwionOgLx5csnefQfU5lYYMd61e6/AD/e8gqpTpIG0sBHWnr0HJNzwKhH+kAAJhE2getkE4WZXYWNzbQQqJqkjvjdyAyhWBxIQ7xHgepcmCgzBeMSCDjF8PSIedffWOYfnlb9DrUTBkinhv6gSsL0BjO/6JiUlCjaBat/5CRk2YpLA8MVGUB279pWb73hSGX2gAqMyB2oLLlzktv+9W44eOy5JSUlqGrS/almyJElOzwgwjGQYyxgx/mfPfk/4RM/ocoJ/cElKTJLkHNnl9Okzagp0uOHTJEgPEiCBkAhU5jq/kDgxUFwQUEqmeF7wLi2ZwM//KBr8iXcCF2QRwcgvRv3qXZoQ7zjiXv/GlycKZo3FPYgYALD9X1ehgnnl5X73So7s2dQO0Hfe+6LAYdQX62hNJu1bXy/fjx3kqI2wzLyHeixetKAyXP3DZ8uWVQoWyOPvHXTEGOEL5I88fBqBQTwWLlkha9dvpiMD1gHWAdYB1gGfOnDu9BGpmG+Hj198tBdsE1nOgevABUln5PKie/k3wWelHN23xZX1IIi5oNXb9gawYRhyc7vGsvinz+XiCqWVEfzpF98IRjhBCtOIv/r0FbXLcT6vzaFwz21um2ck+MjRY2nUwuj4kSPH0/hv2bpTAvlj5DdQOuGGTyOQHiRAAiRAAiQQBoGqxQ9JctYzYcRgUFcQoBJBCZTJf0xK5T0e9D5vkAAJRE7A9gawqeIlFcvIvGlDpU3L60wvad2igaz5dZx0bNs44NTg1IAOP8Fa3qSkRDl9+rSa/u2vTuoaXk8HQOGC+dXa31y5kj3hz6gOgzThT5xQHQjZs18gRQoXCDu8f3oZXde88lKpUK4UHRmwDrAOsA6wDvjUgSqXlPC5ZlvBtjIe6kB6Onaol5d/E3xOuroOZGQ36LifoENIqDJOnz4js+YskTETpgd0M2YvknY3NZRrr75c2ra6Tm5p10Tm/vxbaljERRqhynNKuPz5cqsNs4KN0GLDK6z9LeoxZrHBFUbF8+XNrdb34p6/nhgVRlr4JJKZdjjh/dPjNQmQAAmQAAmQAAmQAAmEQIBBSCDTCdjKAN79zz7p0vNZ9UkjfPookOvU7SmZt+B3GTtxhnTo8oRPWMRFGplONcoZKFI4v1xUuoRs3rpD1m3YnCb1OZ5OgEOHj8pVNSpLntwpyl1SsbTAb/mqDWnCL122Wv78a7tcXrmCwGjO44kTTvg0CdKDBEiABEiABEiABEiABEggAwK8bQcCCXbIBPOQPgFMgW7etLaa0vzcqx/JgYOHUyOs37hFBg3+SrJmzSK3dmiqpoJjunS7VterMM+/+rH8teVvdY4f7J7df+BwNZW6660tBNOgww2PdOhIgARIgARIgARIgARIgARIIGQCNgloKwO4YIG88mzfHtK9a2tLDnGRhk3YppuNVWv+lF4PvyY9er8s9z86QFas2ijHjp+Ql/oPUX64hzBmIg/d20ka1q8p02ctlPJVW6uR8ptueUQq1WivRoVffPoeubrGZWZwNUUcHDFifEn1doJPRsGVrdJKZv60WPHFNHIzAs7DCW/G45EESIAESIAESIAESIAESIAEnEIgswzggHwwEtnt9pby0aCnLDnERRoBE7eZ56bNf8vgT8bIx8PGy7ARk9SmVOfOnZMJ385SfriHMGa2sV533IgB0ufBzoJdn4eP/E4mfjdbrqx6icye/JE89sDtavTXDJ8lS5K8/fqjMmjAY2qTq9Hjpglc4UL51I7Zg9/qKwhjNbwZj0cSIAESIAESIAESIAESIAEScAoBWxnAwaAdO3ZCps38RW14debMWZ9gMAane0ZFv/thrgT6tI9PYNtciDRrVEvOHVycrkMY7yxjc6vXX+gt+7bMTI338/RPpe611XyMXzMOpjff37OjbFszOTX86iVjpUObRpKYmLboww1vyuGRBEiABEiABEiABEiABEiABJxAIK0VZMNcD/l8ojRuda+88NrHcux42m+jffjpOLmx/YPy6ReTbJh7ZikNAXqQAAmQAAmQAAmQAAmQAAmQQCYQsL0BfPjIURkz4UdJSkqUvo/cITmTc/hgwjRerI/FJlCYPuykUWAfRXgRNwSoKAmQAAmQAAmQAAmQAAmQQOYQsL0BfOjQUflz03YpVqSgXFyhdEBKpUsVkyKF8su69Zvl4MEjAcPQkwRIwBYEmAkSIAESIAESIAESIAESyDQCtjeATTIHDx2RPXsPmJc+R/jjvo8nL0iABEjAdgSYIRIgARIgARIgARIggcwkYHsDOG+eXFK5UlnZf+CQ+mzQn39t9+GFa3wyCPdLlSwiOXP6TpH2CcwLEiABEiCBzCNAySRAAiRAAiRAAiSQyQRsbwBny5ZVWjSrqzDNmb9ULrqspSTmqSnFKzZTR1zDHwHwndwUGsBAQcLLyrMAABAASURBVEcCJEACJGAzAswOCZAACZAACZBA5hOwvQEMRF063Sidb2mOU+XOnj0r2//eLTgqD89Plcrl5a7ON3nO+D8JkAAJkAAJkIDNCDA7JEACJEACJGALAo4wgPF92k/efUY+HfysFCta0Acc7vV5sLPM+eETKVG8kM89XpAACZAACZAACZBA5hNgDkiABEiABOxCwBEGMGDhc0ddb20h29ZMltP7FsrODVPl2K75cnTnPHn9hd6SKyUZwehIgARIgARIgARIgATsRIB5IQESIAEbEXCMAezNLDExQQoVzCdYH+ztz3MSIAESIAESIAESIAESsBMB5oUESMBeBGxlAJ87d05GjJ4sPXq/rI64Pn36jMyas0TGTJieoUM4hLcXYuaGBEiABEiABEiABEiABOKSAJUmAdsRsJUBvGv3Pun30gfy8bDx6ojr3f/sky49n5X2nR/P0CEcwtuOMjNEAiRAAiRAAiRAAiRAAiQQZwSorh0J2MoAtiMg5okESIAESIAESIAESIAESIAESCBMAjYNbisDuFDBvPLUY3fK5ZdVkEd73y758+WWggXyyrN9e0j3rq0zdAiH8DZlzWyRAAmQAAmQAAmQAAmQAAmQAAlkIgFdBnBIKhqGId1ubym/zftS7rmrnSQlJSoHv48GPSUZOYRDnJCEMRAJkAAJkAAJkAAJkAAJkAAJkEBcEbCVAQzye/YekEateimHc/g531EDEiABEiABEiABEiABEiABEiCBzCZgOwP45MlTsnbdZuVwntmAKD8KBJgECZAACZAACZAACZAACZAACdiAgO0MYBswYRZIIKoEmBgJkAAJkAAJkAAJkAAJkIA9CNAAtkc5MBck4FYC1IsESIAESIAESIAESIAEbEPAtgbwjl175NGnBkqP3i+H7F57c5gcO3bCNnCZERIggXgnQP1JgARIgARIgARIgATsRMC2BjDW/3759RT5eNj4kN3gT8bI/gOH7MSXeSEBEiCB+CVAzUmABEiABEiABEjAZgRsawDbjBOzQwIkQAIkQAJhEWBgEiABEiABEiAB+xGwrQGcJ3eK+u7v18Nfl1DdZx8+LwUL5LUfZeaIBEiABEiABOKLALUlARIgARIgAVsSsK0BnCslWW5sWkfa3dQwZFe/zpWSlJRoS9DMFAmQAAmQAAmQQLwQoJ4kQAIkQAJ2JWBbA9iuwJgvEiABEiABEiABEiCBdAjwFgmQAAnYmAANYBsXDrNGAiRAAiRAAiRAAiTgLALMLQmQgL0J2M4ATknJId1ub6kczu2Nj7kjARIgARIgARIgARIgARL4lwAPJGB7ArYzgHMm55Bn+/ZQDue2J8gMkgAJkAAJkAAJkAAJkAAJkIAQgRMI2M4AdgI05pEESIAESIAESIAESIAESIAESMCLgENOaQA7pKCYTRIgARIgARIgARIgARIgARIggcgIxMoAjixXjE0CJEACJEACJEACJEACJEACJEACUSZAAzjKQM8nx18SIAESIAESIAESIAESIAESIAG7EaABbLcScUN+qAMJkAAJkAAJkAAJkAAJkAAJ2JAADWAbFgqz5GwCzD0JkAAJkAAJkAAJkAAJkIA9CdAAtme5MFck4FQCzDcJkAAJkAAJkAAJkAAJ2JYADWDbFg0zRgIk4DwCzDEJkAAJkAAJkAAJkICdCdAAtnPpMG8kQAIk4CQCzCsJkAAJkAAJkAAJ2JwADWCbFxCzRwIkQAIk4AwCzCUJkAAJkAAJkID9CdAAtn8ZMYckQAIkQAIkYHcCzB8JkAAJkAAJOIIADWBHFBMzSQIkQAIkQAIkYF8CzBkJkAAJkIBTCNAAdkpJMZ8kQAIkQAIkQAIkYEcCzBMJkAAJOIgADWAHFRazSgIkQAIkQAIkQAIkYC8CzA0JkICzCNAAdlZ5MbckQAIkQAIkQAIkQAIkYBcCzAcJOI4ADWDHFRkzTAIkQAIkQAIkQAIkQAIkkPkEmAMnEqAB7MRSY55JgARIgARIgARIgARIgARIIDMJOFQ2DWCHFhyzTQIkQAIkQAIkQAIkQAIkQAIkEB6BaBnA4UllaBIgARIgARIgARIgARIgARIgARLQTIAGcFSAMxESIAESIAESIAESIAESIAESIAG7E6ABbPcSckL+mEcSIAESIAESIAESIAESIAEScAABGsAOKCRm0d4EmDsSIAESIAESIAESIAESIAFnEKAB7IxyYi5JwK4EmC8SIAESIAESIAESIAEScAwBGsCOKSpmlARIwH4EmCMSIAESIAESIAESIAEnEaAB7KTSYl5JgARIwE4EmBcSIAESIAESIAEScBgBGsAOKzBmlwRIgARIwB4EmAsSIAESIAESIAHnEaAB7LwyY45JgARIgARIILMJUD4JkAAJkAAJOJIADWBHFhszTQIkQAIkQAIkkHkEKJkESIAESMCpBGgAO7XkmG8SIAESIAESIAESyAwClEkCJEACDiZAA9jBhceskwAJkAAJkAAJkAAJ6CVAaSRAAs4mQAPY2eXH3JMACZAACZAACZAACZCALgKUQwKOJ0AD2PFFSAVIgARIgARIgARIgARIgARiT4AS3ECABrAbSpE6kAAJkAAJkAAJkAAJkAAJkEAsCbgkbRrALilIqkECJEACJEACJEACJEACJEACJJA+AasGcPqp8i4JkAAJkAAJkAAJkAAJkAAJkAAJ2IwADWBLBcJIJEACJEACJEACJEACJEACJEACTiNAA9hpJWaH/DIPJEACJEACJEACJEACJEACJOBAAjSAHVhozHLmEqB0EiABEiABEiABEiABEiABZxKgAezMcmOuSSCzCFAuCZAACZAACZAACZAACTiWAA1gxxYdM04CJKCfACWSAAmQAAmQAAmQAAk4mQANYCeXHvNOAiRAAjoJUBYJkAAJkAAJkAAJOJwADWCHFyCzTwIkQAIkoIcApZAACZAACZAACTifAA1g55chNSABEiABEiCBWBNg+iRAAiRAAiTgCgI0gF1RjFSCBEiABEiABEggdgSYMgmQAAmQgFsI0AB2S0lSDxIgARIgARIgARKIBQGmSQIkQAIuIkAD2EWFSVVIgARIgARIgARIgASiS4CpkQAJuIsADWB3lSe1IQESIAESIAESIAESIIFoEWA6JOA6AjSAXVekVIgESIAESIAESIAESIAESCByAkzBjQRoALuxVKkTCZAACZAACZAACZAACZAACURCwKVxaQC7tGCpFgmQAAmQAAmQAAmQAAmQAAmQgC+BUA1g31i8IgESIAESIAESIAESIAESIAESIAGHEaABHFKBMRAJkAAJkAAJkAAJkAAJkAAJkIDTCdAAdnoJ6sg/ZZAACZAACZAACZAACZAACZCACwjQAHZBIVKF2BJg6iRAAiRAAiRAAiRAAiRAAu4gQAPYHeVILUggVgSYLgmQAAmQAAmQAAmQAAm4hgANYNcUJRUhARKIPgGmSAIkQAIkQAIkQAIk4CYCNIDdVJrUhQRIgASiSYBpkQAJkAAJkAAJkIDLCNAAdlmBUh0SIAESIIHoEGAqJEACJEACJEAC7iNAA9h9ZUqNSIAESIAESCBSAoxPAiRAAiRAAq4kQAPYlcVKpUiABEiABEiABKwTYEwSIAESIAG3EqAB7NaSpV4kQAIkQAIkQAIkYIUA45AACZCAiwnQAHZx4VI1EiABEiABEiABEiCB8AgwNAmQgLsJ0AB2d/lSOxIgARIgARIgARIgARIIlQDDkYDrCdAAdn0RU0ESIAESIAESIAESIAESIIGMCTBEPBCgARwPpUwdSYAESIAESIAESIAESIAESCA9AnFyjwZwnBQ01SQBEiABEiABEiABEiABEiCBeCcQzACOdy7UnwRIgARIgARIgARIgARIgARIwGUEaAAHLFB6kgAJkAAJkAAJkAAJkAAJkAAJuI0ADWC3lWg09GEaJEACJEACJEACJEACJEACJOBCAjSAXVioVCkyAoxNAiRAAiRAAiRAAiRAAiTgTgI0gN1ZrtSKBKwSYDwSIAESIAESIAESIAEScC0BGsCuLdrwFTt37pz8NO9XuabhHWLkqq5c3pIN5PF+g+TgoSPhJ8gYJOA4AswwCZAACZAACZAACZCAmwnQAHZz6YahG4zfAW9/LvWa9ZDfl6+VDm0aSedbmkuWLEnSf+Bwadr6ftmz90AYKTIoCZCA4wgwwyRAAiRAAiRAAiTgcgI0gF1ewKGqt2DRH/LMS4OlfNlSsuznr2TUsFflsw+fl3W/jZeG9WvKzwuXyTsfjgo1OYYjARIgAccRYIZJgARIgARIgATcT4AGsPvLOCQNR379g5w8eUp633OzlLuoZGqc3LlyynN9e0hSUqJ8N2Wu7Nt/MPUeT0iABEiABFxDgIqQAAmQAAmQQFwQoAEcF8WcvpIwan9e+Iek5Mwhda6pmiYwRoVLlSgiGzdtlR0796S5Tw8SIAESIAEScDYB5p4ESIAESCBeCNAAjpeSTkfP48dPyq7deyVvnlxSqGC+NCGTk7NJyRKF1UZYXAecBg89SIAESIAESMDZBJh7EiABEogjAjSA46iwg6m6fcdu+WfPfjXNOSEhbZVISkyS5BzZ5fTpM5amQF9SvZ30evg1OjJgHWAdYB1gHWAdYB2wXR3gOwrf0VgH9NWBYPaITv+01o5O6ZRlKwIY5cVor3+msmXLKgXy5/H3Duv61OEdQkcGrAOsA6wDrAOsA6wDrAO2qgN8P+M7qtY6kJwtLBMiJoFpAMcEqzMT3bJ1pxw5cjxN5jHye+TosTT+oXqsWjxG/pj9Dh0ZsA6wDrAOsA6wDrAOsA6wDtioDvD9VPc7enI2I1QTImbhaADHDK1zEsba31y5ktUU57Nnz6bJ+PETJ9QU6ezZL5AihQukuU8PEiABEiABEiABEiABEiABhxGI0+zSAI7TgvdWO1dKsuTLm1ut78VmWN73cI5RYYwO45NI+fPlhhcdCZAACZAACZAACZAACZAACTiOQMK/OeYhjgnkyZ0il1QsLYcOH5XlqzakIbF02Wr586/tcnnlClKUI8Bp+NCDBEiABEiABEiABEiABEjAGQRoAKtyiu+fpKREadfqegXh+Vc/lr+2/K3O8bN330HpP3C4nDt3Trre2kIwDRr+dCRAAiRAAiRAAiRAAiRAAiTgNAI0gJ1WYrHIryfNtq2uk+5dW8u6DZsFny3q2LWvwJWt0kpm/rRY3UMYT1D+TwIkQAIkQAIkQAIkQAIkQAKOJEAD2JHFFv1MZ8mSJG+//qgMGvCYYFOs0eOmCVzhQvlk1LBXZfBbfQVhoi8581NkDkiABEiABEiABEiABEiABOKDAA3g+CjnkLTE9Ob7e3aUbWsmy7mDi5VbvWSsdGjTSBITWVVCgui8QMwxCZAACZAACZAACZAACcQNAVo1cVPUVJQESCAtAfqQAAmQAAmQAAmQAAnEEwEawPFU2tSVBEiABLwJ8JwESIC8FtUhAAAQAElEQVQESIAESIAE4owADeA4K3CqSwIkQAIkcJ4Af0mABEiABEiABOKPAA3g+CtzakwCJEACJEACJEACJEACJEACcUmABnBcFrs+pfH94O1/75ZJk3+SMROmy6o1f8qZM2djmoFTp07LT/N+VTJ37tobsazDR47KrDlLVP6ffeVD6dH7ZfVtZOizYtVGgTwrQsBmz94Dsmv33pgzCZQ/6PX3jn8EjKzqECjd9Pygs876AL1YF9Irkf/u6a4PrAv/sfc/A5t4ejZAX/3Phei1ESg//P2wnQCJyJzuuoDcsp0AhYwd6jjfGTLm5B0CzPhc8CZin3MawPYpC8fmZPqshfLY028rQ85biQMHD8st3Z6S4hWbScuOD0v7zo9LpRrtpWK1NrLo15XeQcM6n7fgd6nT5C4pVam5dL//Jdm6bVdq/N+WrZWyl7eSes16KJlFyjWWN975QtCoSpj/1q7fLI1b3SspRetKg+Y9Vf5feO1j+XjYeHm83yB1XfmqDpKtYC3p/dgAOXjoSFgSduzcI9Vq3yqFyzZWTIaP/E6OHTsRVhrhBEYjP8bTCVGjXmcxclVXehWr0FTAKGv+qwWuaev75bsf5kZkkE/XWB9YF8KpAb5hddQH1oUBYT8XUEpufDa4sS6grBzbTiDzAZzbngtQke0EKITvdNQF5MqNzwY+F1Cy9nY0gO1dPrbP3fHjJ+XNd0eoEdIsWZJ88vvBkLEyauxUSUhIkAZ1q0u321tKxfIXyoY/t8oNbXsLRk99IoRwsXDJCrmx/YMy9+ffZMvWnfLJZxOkVqM7BIYvDOFbuj2p/CGnWaNaSnafZwbJjx6jLITkU4NgpLpes+4ybeYvKo3LLi2n8t+9a2sxHfS59JKL5OzZs/LOh6Okza2PCYz+1ETCOAGTLj2flfylr5OX+g8RjP5IFP8hX2YnxOKlK9OkjE9gobH7YfrPii86GMAzTcAMPHTWB9aFDAojnds66gPrQuTPBRShG54NbqwLKBu2E3f5dECDSUZOZ11AXoK1E3xnAJ3gTkcbAek66wPrAoiH73TVhfBzFlkMGsCR8Yv72PjDWL12k1S6uIzkzZMrlcehw0fl2ylzpGiRArJi4WiZ8e0HMuS9frJq8Rj56tNXZO++gzJ4yJiwRmZPnz4jb703Qo2ovPLsvbJl1ffy7dcD1ajpo08PlP4DPxPk5fUXeis5348dJD9P/1RypSTL0M8nCuKnZjCdE4wWv/fx14JRmAfuuUUObp8ty37+SuX/o0FPiemgz/JfRsuBbbPlnrvaCXox33rvy3RSDnyrTq0rZMGMYdK6RQOlyzMvDZYCpRtK5x79ZM26vwJHCtMX+Zry43ypUa2SzJ06RE7uWSDnDi6WPxaMknx5c8nQ956V0/sWytK5X0qjBlfJzwuXSdd7ngvboNdVH1CWrAthVgKv4DrqA+tCZM8FFJdbng1uqwsoG7YT1toJXXUBZcR2AhQCugw9dbQRyISu+sC6ANrWnK66YC131mPRALbOjjE9BDD6iQeL59Tn/8MeA3jzlh3SoE51Nepr3jQMQ9q0vE5a3lBXflm0XPYfOGTeyvCIsMuWr1cG2oO9OkmJ4oWkeZPaygj++ZdlahT2xqZ15P6eHcUwDJVetcsvlob1a8j6DVvl0OEjyi+jnz17D8jMnxZLk4bXyKvP3SfJObKnGwUGNsJdVb2yMoJh/Kcbwe9mQoIhGEkeN2KAbF75nfTq3l6NOn/+1fdy8ZVtpWb9zjJj9iLL05L37T8o302ZKxdXKC2TRg+Ua6++XMzR+nIXlZSra1wmn3/1nVrLXLVKBZk87h1BBwMMeuTBL7vpXuqqD6wLZ9Mth/Ru6qoPrAvJ6vlh9bmAMnTLs8FtdQFlw3bCWjuhqy6gjNhOWGsndLURKCNd9cG3LnTi+yPgh+B01oUQshPVIDSAo4oz/hLLli2rFCqYT44cPRZwhDUpKTHVGDXpwPiC0YjNnzD9xfTP6IgpujCsCxfKJ9mzX5AavOaVl8pNN9ZXcu7t0d7nHuTDgA1HVjA5qQIDnOTOlVMZ+jD6kccAQULyKlmisLz3xuOyb8tMefHpe5QuWC/dsMU9ctFlLWXYiEmKtYTxD4yhPziBnXdUlF+B/HnUyDl6YnEvMTFBetzRRq64vKJMnjpPEB/+oTikp6M+BCsj6Mi6kH5JoTx11AfWBZFoPRdQok5+NritLqA8gj2DcC+Yi1Z9YF0IRtjXP1gZsZ3w5eR/pauNgFy3PRuC1TnoGsxpfy4Ey0gAf511IYD4mHrRAI4pXvcnnid3ilSuVNZjKM2XJb+tSlU4V65kKV+ulDLW/EeIcQ2DGcZpQkLoVRBhESdVyL8nWCM3c85iNZ36nz37//W1foCBnjNnDmXQY5pbKCkhHPQKJWwoYdBB8HSfO2XPphny2YfPS6kSRWTz1h1yxz3PS8Ey1ws248KDNpS0QgmDvKMn1gybP19uuaxSOR/D2LyX3lFXfWBdiF1dQPlGoz6wLoh6JoElmEbLOfHZ4La6gLJkOyFipZ3QVRdQRmwnYtdO4LnGdwbUMl/H54K154IvxdhemamHbn2YMXgkAS8ChmGozaFOnzmjdkXGVF0Ygxh1xVrSBYuWy5ZtO1NjnDlzVr6e8KOMnzRLjTCiAU29mcEJeskwjRcbYG3avF2FhiH9/Ksfq/W6F5Ys6jEMP5G/tvyt7uEH09T+WLleSpUsIjBq4ZeRQwNdpXI5mfDtLJn/y7KMgqv7GKX93jNais6AvF5rodXNCH4w0t35luay8Y9vZPqkwYIpytgpesjwiRKqsY/8IF/e3MwsgQ82cgEbPLhNf/Po38iZ/sGOhqGnPrAuWKsLKDdd9cEwWBdi9VxAOTrp2WAY7qoL4M92AhTOu3DaCcPQUxeQM7YT1toJXW0Eysgw9NQH1gX71wXUB50uTg1gnYjdL6v2NVXljVcekm3bdwum6hYp10Q6du0rWHOxd98Beer596TXw68pP3x2p1O3pxSUnt3aSqARXXUzwA+mytx+s8cY3LRNKlzRRn0GqfBFjeWLUd/LXV1uksnjBgm+uXbTLY/InPlLZd2GzXL/o/1l6e9r5IoqFSXFM6obINk0XsjTQ/feKlmzZpHaje9Um1H9OHOh4Pt33m7rtl0yedp8we7N1zS8Q+l7S/smgnymSTRCD0xLvq5eDfl1zgj5ff5INeUb+QslWeQH+dro4XZ9i14y7psZShcY99hoCy/p2KXbuzMCLzToXMB0ZsQPRY4ZRkd9QJ5YF0aEXRdQRmCnqz6wLsT2uYDydMqzwU11AdzZToiaJWWlndBRF1BGeNaxnQi/nQA3XW0EyklHfYBOrAv2rwuoD7ocDWBdpO0kJ8p5MQxD7uvRQX6ZOUxtqIT1haPHTZPX3hymdjUeOeYHGfzJGIEf7pUtU0LtCo0R4nCz0rbVddLnwc5qwyZ8BgmNb7ubGsqAlx6QSyqWkXcG9JFly9dL3abdlZEM2Vgv9eC9ncIShTVCXw59We0gjY2gGrXqJTDevV3JS24QfM5p+Mjv1KeQsGa3Y5vGYckJN7BhGFKlcnl5u/+j4m2wZpQO8oXPN2G6eNvb+ihdrm3UTTBqjTXA3T0dCIZhpCazc9ceWfzrKjW9HSMdqTdCODEMPfWBdcFaXUAR6qoPhsG6oOO5gDI1DGv1gXXhB7HSRoA52wlr7YRh6HkuoIzYTtj7uYAyMgw99YF1wf51AfVBl6MBrIt0HMipfkUl9dmhfzZNlx8mvCufvPuM+jwQDC98muibUW/KtjWTZd1v46Ve7WqWiGCaLtI69PdPMm/aUJXe6M9eU5vNIEE84H6a8rHawRkvNR3bNpYfvxksF5UujtvKhfrTrFEt2b5uiiB9pFu8WCG1O7MZv2CBvHL5ZRWk3xPd1e7NWLOL/Jn3MzqmpOSQbre3VLtiZ7vggoyCR3Qf+Rr8Vl+1YzZ2twabiuUvlKce66Y+8QQ9vAXkyZMiH7zdV+0GbRj/GcbeYTI6j3V9gE6sCxmVQuD7YKezPrAuJAUuiCC+bn42uKkuoPjYTlhvJ2JdF1A+eNaxnQCJ8By46WwjkLtY1wfoxLoA0uE5cNNdF8LLobXQNICtcWOsdAhgZLLxdVfLnZ1byftvPqG+m4tR2xbN6kqxogXVbs3pRA/pVs7kHFLrqioB08NnfqaMf0cZpfjmcIVypUJKM1AgrGVu3/p6GfN5f9m6+ns5s3+h+n4uvqG7a+M0+W3el/L8kz3VCEKg+On5QYdn+/aQ3nffHNZU8PTSTO8epko2b1JbTDarl4yVl57pJUWLFEgTDXo3vb5WwHtpAmfgEev6AI6sCxkUQoDbmVEfWBcCFEQAL9Rptz8b3FIXUHx4XrKdAAlrLtZ1AbnC3xTbCZAI3WVGG4Hcxbo+sC6Acngus+pCeLkMLzQN4PB4MTQJkICjCTDzJEACJEACJEACJEAC8UyABnA8l34m6n7XfS9K2SqtZOeuvTHPRSSy8G3cqTMWyKw5S9QmV8Eyi7XI17fspUWnSPQJlv9A/rrkQLYuWZHIcUVdAGyLLhJ24Yh0ghw71gUwdgI75DNU5xR97FgfnMLObnUB+YmEHeuC/d/rUMahOtaFUEn5houEm29KsbuiARw7tkw5HQL4hi12Gvb+jlw6wSO6ZUUW4jzeb5DkKVFfmtx0nzRo3lPylmwg1zS8Q1au3pgmP/j00+nTp9WumLHWCXk7ffqM2ngrTUai6KFLDrKsS5YVOYgT73XB7mWE/IXivMOgXMP9O0Icu9YF6Ib8hasT4oXrKOc8MXCwa31A3lgXzpdTuL9W2CEO68JpLe9AKE/wtmv9Rt5YF/TVBdQHK44GsBVqjON6AvjObv+Bw9PouWDRH3LZ1TfL24NHCr5pnCYAPVxHgHXBdUVqWSGH1wXLejNiYAKsD4G5xKMv60I8lnpgnVkXAnOxmy8NYLuViMPyg88a4Zu8Rq7qEo7Dp4PCVVWXLExnHjNxusoedng+unOe2vgKu1tjwytsBvDg42/IfY++rj7HpAJa+NGljy45QKBLli45bqsLbiwjt9UFltF/bUm47UT6deG/dP3bqnDloIzc9mzQxU6XHJSRLlmsC+f/tqz8HekqI11yWBes1wX8zep0NIB10nahrHPnxDMSekaLZrpkHTx4RNat3ywXVygtve5qL9mzn/9EEXYmhEG8duk4wXb9HwwZK/c+Yt0I1qWPLjmoBLpk6ZLjtrrgxjJyW11gGYGANaerLiB3jns2INPpOF3sdMmBqrpksS6AtjWnq4x0yWFdsFYPMiMWDeDMoO4imYUL5ZNe3dsrjfCpo+1rp0gort1NDVWccH50ykK+IC85ORtOfVzpUsXkx0nvC3T4eNh4ZQSfOHHKJ0woF0hfBztdcqCzLlm65EAnOMhzQ10wdXFTvUPZ6NAH7OAgL5Z1wZShQyfoQjlT1LMc3K04MIxlfUD6LCNrZeTN51ku/QAAEABJREFULtbvJ6g7kMe6ABKhOzBzU/02NYderAsmDXseaQDbs1wclSuMkt7YtI589Ol42bJtp/p2bNEiBdI95sie1rAMRWkdsnLlSpby5UrJ7n/2y/HjJwNmK3eunPLJu8+oFycYwXc/+IocOXI8YNj0PHXoA/m65OiUpUMnN9YFt5WRLn101gVdOlHO+XbKSnuksz7oeNa5sS7o0skBdQEownK66hwypUuWDjmsC9afqagLOh0NYJ20XSoLU4Tfeu1hNVX4yeffE3wGIFaq6pCVnCO71L6mqqxa86csXroyqCowgod98Jzc1vEGGTNherphgyWSPfsFooOdLjnQU5csHXLcWBfcVka69NFZF3TpRDkgYM3prA86nnWg4DY5unRiXQBp6y729e583nTIYV04z9oJvzSAnVBKDshjuYtKypD3+gk2GlixamOGOb6uXg1p2+o6SUnJkWFY/wA6ZN1xWwuBnNfeHCaHjxz1z0LqNR52H7zdVxnBqZ5hnkCODna65EB9XbJ0yHFjXXBbGenSR2dd0KUT5YhYbY901gcdzzo31gVdOrEuWP870lVGuuTYri5A8X+d1WedrufPv9nUcqABrAVzfAhp1qiWLPv5K6l1VZUMFe7S6UZ589WHJWdy+AYwEo+1rAtLFpVf534hY78YIDByITOYw/2PBj0lUye+J0Pf7ycF8ucJFjSof6z1MQXrkgN5umTFWo5b64Kbygi6wLmtLujQCTLgYs0OMuDcJMetzwY3lRHqHFysdWJdELH7ex3qARzrwsOW3r1jzQ1lEwsXLE0awMHI0D/uCcA4x87PhmFkyAJTaxo1uEoa1q8pWbIkZRieAZxFgHXBWeUVy9yyLsSSrvPSZn1wXpnFKsesC7Ei67x0WRfsX2ZxYgDbvyDclMP9Bw7J3zv+kVlzlqi1sQuXrFDXwTaUikR3XbIox3opkZ01drq4IXe6ZFEOaFtzZGdvbsgdywgUwne6uCFnumRRDmhbc2RHbtYIhBeLBnB4vJwZWkOuDx46Ii/1HyJ5SzZQrliFptKgeU9p3/lxuapBF8F19kK15OIr28rocdPkzJmzlnOlSxblsIzMSuq2ugC93KaT2/RhGVlvJ3TVBZYRywh1wHS66p3b5ICf23SiPtbfH1EfdDgawDoou1wGRnsbtewlz7w0WNBzl5CQIMWLFZKSJQqnOlzDf826v6Rj175yz0OvyqlTp8MmY0WWFVmUwzIyK6fb6gL0cptObtOHZWS9ndBVF1hGLCPUAdPpqndukwN+btOJ+lh/f0R90OVoAOsi7WI5H346TjDNue611WTFwtFyet8vsnX197J55XepDtcn9yyQpXO/lBrVKgm+nTtk+MSwqeiS5SI5irEufSBMlyzK4d8R6huc2+qCG3ViGVlv+9zGTpc+/Duyf51jGdm/jHT+vaI+6HI0gHWRdqmcffsPyndT5iqjdtyIAVLp4ovEMAJvGpWYmCBVq1SQSaMHysUVSsuYidPlyNFjIZPRJYty3FRGIpHUO7fVBfyxuU0nt+nDMrLeTuiqCywjlhHqgOl01Tu3yQE/t+lEfay/P6I+6HQ0gHXSdqEsbGyFb/9eUrGMYMfkUFQsXCif1LzyUlm3frMcPHgklCgqjC5ZlCPCMlJVThxfF86r4fPrNp3cpg8Ky206uU0flhEIWGsndNUF5FCXLMqxVhdYRiBgjZ3b6tx5Enp/aQDr5e06aQkJCZKUlCg6/umSRTnWS5PsrLHTxQ250yXLDnKgb7ScLn2QX12yKAe0rTmyszc35I5lBArhO13ckDNdsigHtMN3uriFn7PIY9AAjpxhXKeQO1dONZ152sxfZP3GLSGx2LR5u8z9+TcpU7qYpKTkCCkOAumSRTkiLCPUOBG31QVo5Tad3KZPFMsISaXr3MZOlz6AqksW5bA9Qn2Dc1tdcKNObisjXfqgLuh2NIB1E3eZvGzZskrPbm1l5669cmWd2wQbW+3ZeyCNlufOnRNMlR42YpLUa9pDNm7aJs0aXSs5k0M3gHXJopxJLKN/a7Db6gLUcptObtOHZbRXrLYTvnWB7VE4bawudrrk8O+If0eoA6bTVe8ox/r7o1lWuo40gHWRdrGcFs3qSP8Xewu+e3bXfS9KgdINxchV3ccl5K4hhcs2ljvueV42b90h7W5qKHff2TZsKrpkUQ7LyKycbqsL0MttOrlNH5aR9XZCV12wfRlZaGN1sdMlh2XEvyPUAdPpqneUY/390SwrHUcawDoou1yGYRjyyP23yeolYz2jwW2kUMF8ATXGWoJrr75cvv16oHz16atqemnAgOl4GoYeWYZBOSyj8xXRMNxVF6CVYbhLJ8Nwlz4sI+vthGHoqQssI3uXEcoHzjD01AfDoBy+M6DGifoSio53YsNwV50Tzf9oAGsG7mZxFctfKB8MfFJ2bpgqZw8skn82TZfta6fIjvVT5eSeBXJm/0KZO3WING9SW32aJhIWumRRjvVSIjtr7HRxQ+50yaIc0LbmyM7e3JA7lhEohO90cUPOdMmyiZyovW/p0odlZN0c01VGuuSgLuhw1onryB1lOJaAYRjqs0hFixRQn9TJkiUpZroYhh5ZhkE5VgvRMMjOCjvD0MMNeTMMPbIMg3LA24ozDLKzMzfkzTBYRuAQrjMMPdyQL8PQI8swKAe8rTjDiIRd6BINg3JCp/VfSMPQw+0/idE/owEcfaZMMQMCp0+fkUEffCXPv/qRHD5yNIPQkd3WJYtyrJcT2Vljp4sbcqdLFuWAtjVHdvbmhtyxjEAhfKeLG3KmSxblgLY1R3YZcAty223cgqgZsjcN4JBRMWB6BFau3ijN2z0giXlqStb8V0udJnfJdz/MlTNnzqaJdvzECRn3zQwZ+vk3cuhQ+AawLlmUwzIyK6/b6gL0cptObtOHZWS9ndBVF1hGLCPUAdPpqndukwN+btOJ+lh/f0R9iMSFGpcGcKikGC4ogYVLVsi1je6U76fOk7Nnz8qpU6dl7s+/yY3tH1SG8KbN24PGDfeGLlmUE27J/Bee7P5jEc6ZLm7Iky5ZlAPa1hzZ2ZsbcscyAoXwnS5uyJkuWZQD2tYc2ZGbNQKRxXKpARwZFMYOnQCmVLz13gjZf+CQlC1TQj58+0n5evjr8uLT90jBAnnl54XLpEa9zjJj9qLQEw0SUpcsyglSACF4k10IkAIE0cUNonXJohzQtubIzt7ckDuWESiE73RxQ850yaIc0LbmyI7crBGIPBYN4MgZ2i8FjTmC4bts+XrJkztFJox8Q3rc0Uba3dRQnu5zp/y14lt59bn7ZO++g9Kiw0NqSnQkWdMli3KslxLZWWOnixtyp0sW5YC2NUd29uaG3LGMQCF8p4sbcqZLFuWAtjVHduRmjUDksWgAR84wrlPAdOfDh4/K5ZeVl9IXFvVhkT37BfLEw13lh/HvStasWaRD5yciMoJDlRWpLMqZ61OO4VyQnTV2urihLHXJohxrdYFlZL2d0FXnWEYsI9QB0+mqd26TA35u04n6WG/3UB90OhrAOmm7UFa2bFmlUMF8arOrc+cCK3h9g5ryw4T/jOBvJ1v7A9Ely+Fy0hSCLn0gWJcsynlC+HeEGifitroArdymk9v0YRmd79C28gzSVRdYRiwj1AHT6ap3lGP93cQsK11HGsC6SLtUTp7cKVK5UllZvnKD/LX576Ba1rzyUpn2zXuSI0c26XTnU/LTvKVBwwa7oUsW5Ti5jHxrT6T1zm11AXTcppPb9GEZWW8ndNUFlhHLCHXAdLrqndvkgJ/bdKI+1t8fUR90OhrAOmm7UJZhGNKpQ1M5eOiIfPLZBDkXbBjYo3v1KyrJ5HGDJH++3OmG8wQN+L9h6JFlGJTDMjpfBQ3DYXXhfLbT/TUMd+lkGO7SB4VnGO7SyTDcpQ/LyHpbbhh66gLLiGWEOmA6w9BT7wyDcqy+P5plpetIA1gXaRfLub5+TRn+0fOSN0+KHDl6LF1NYQRPm/i+4FihfCm1NjjdCH43dcmiHJaRWfXcVhegl9t0MvWJ9TNIlxyWUSWx2k6wjOzPjmXEMsIzznS66gPlWHuv08XNrA+6jjSAdZF2sRzDMOTWDs3k2b49JGdyjgw1rVqlgiyaPVy94KCnKMMIXgEMQ48sw6AcltH5imcY7qoL0Mow3KWTYbhLH4tlZOm5ahjuYmcYevRhGYlYbcsNg2Vkd3aGwTJiGeEpJ2IY+uqCaPxHA1gjbIoiARIgARIgARKIBQGmSQIkQAIkQAKhEaABHBonhoqAwOP9BsnFV7aVXbv3RpBKaFF1yaKc0MojUCiyC0QlYz9d3JATXbIoB7StObKzNzfkTmsZaWhj3aYPywgErDlddQG50yWLckA7fKeLW/g5Sz8GDeD0+fBuFAjs2LlHjh07oT6VFIXk0k1ClyzKSbcY0r1JduniCXpTFzdkQJcsygFta47s7M0NuWMZgUL4zgq38KWcj6FLFuWc523ll+ysUBNxGzdrFILHogEcnA3vkAAJkAAJkAAJkAAJkICdCTBvJEACYRKgARwmMAYnARIgARIgARIgARIgARKwAwHmgQTCJ0ADOHxmjEECJEACJEACJEACJEACJEACmUuA0i0RoAFsCRsjhUOgerVKUqF8KcmaNUs40SyF1SWLciwVj4pEdgpD2D+6uCFjumRRDmhbc2Rnb27IHcsIFMJ3urghZ7pkUQ5oW3NkR27pEbB6jwawVXKMF5DA8eMn5d5HXpf6N/SQ7X/vVmHu79lRpk18X/Lny62uo/WjS5YuOYG4xIqdvyxdciBXlyzKAW1rjuzszQ25YxmBQvhOFzfkLBaydLVHuuQcPnJUXntzmMz/ZVnqRpmx4Iby0CWLckDbmsOGqZOnzZc/VqxPTcC/Ppw+fUZmzVniEyY1cIgnbpMTSG1/boHCRMNPl5xo5NU7DZcYwN4q8TwzCezbf1C+nTxHNWQpKckxzYouWbrk7Nl7QBq16iXvfDgqXW7nzp2TKT/Ol14PvyYvvv6J/LNnf7rh/W/qkmPKxU6Ez77yocxb8Lvp5XOELg/3fVO2btvl4x/uhdvkmPrjRXThkhUyZsL0VLdqzZ/qb8wME62jTlnRyjPTIYF4IqCrPdIl59ChozL4kzFybaNuUqB0Q3nkybdky9adMSlSXbIox3rx7T9wSO5+4BX536DPgyaSmJggHw8bL916vSCop0EDpnPDbXK8VdXVjuuS461bNM9pAEeTZmalZSO52bJllUIF88mRo8fk5MlTMc2ZLlm65IDX2nWbZfbcJcrQgYELB8MHvZUmzB9nLZTm7R5ULw39Xv5Aal3fTf7a8rd5O8OjLjlmRj4YOlZe6j9Ejh47bnr5HJNzZJf3Pv5aPhk+wcc/3Au3yUFHB14M813YQK5q0EXad3481VWq0V5KVWouM2YvChdTwPA6Za1cvVFuvuNJlX/oEMihIwgdNQEzG6KnU+VAb+gfiMesNW8AABAASURBVEsofoiLNDLChDAIG0qagcIgLtLISE56951aRpmpk672SJecIoXzy4eDnpTrG9QUGCVvvjtCPRvKXX6TDBsxSQ4cPCzR+qdLlh3kfDh0nET692lyT0+faMox5YV63LV7rxw/fjLU4JbDOUXOmTNnZdAHX0mu4nVj+s6gS47lAgsxIg3gEEExWGgE8ubJJU883FV+/2Od4OPY3oZbaCmEHsqUFWtZuuSYmo+dOEMZOjB+4GD41G3aXY2QYurP0M8nSrYLssrYL/rLS8/0kvUbt8inX0wyo4d81CHn0OGjMt1jsDdqcJXUvrpqwLxVv6KSNKhTXYVD+ICBMvBEPDfJgbqjx01TywnwN1Sx/IXS7faW0r1ra+l8S3MpVrSgWmLQqNW9Mm3mLwgekdMla9Lkn6TqtZ1k1NipapQHIz2B3MY/twnqulWlnCzH7KAKxCUUP3SiIY2M2CEMwoaSZqAwiIs0MpIT7L6TyygzddLVHumSYxiGNL2+llomdXjHHBn92WtSo1ol2fDnVrnjnuclT4n6amYU6supU6eDoQ/J3zD0yDIM/XL2b50ln3/8glStUkGxu/vBV9SIeqNWvSRSdobxnz6xkINyRfs9ZsJ0+XbKHDl46Ij8+dd2NRAAP3/3QJ//ydcTflSDLeioCanwPYHcJsejks//I8dMEbCBnsHeGZq17S1z5i/1iRfuhS454eYr3PA0gMMlxvDpEsAfXq5cydK6RX0ZMnyi1Kh/u/To/XJA9/yrHwnWyqSbYDo3dcnSJcdb1e4eQ2ft0nHyx4JRcsdtLWXx0pVqShBGUf/e8Y80a1xLWt5QTx7odbPUvfYKmfvzb2rU3TuNUM5jLeewxwDevGWHFC6UT7JnvyBgluCP+wiH8AEDZeCJeIiPdJBeoODwx32EQ/hAYTLyQzzERzpIL1B4+OM+wiF8oDAZ+eHvYvCQMZIlS5JMGPmGrFo8Roa8108+GvSUfPbh87J19ffy6eBnVTID3/syol5wXbLQU//BkLGCv6fHH+oi29ZMlrMHFsm5g4vTuA3LJqo6oxQM88fpcjDa8uvcEbJ97RRLDnGRRkbYEAZhYy0nUD6cXkaZqRP+fnS0sbrkeLPEbKD2ra+XhbOGyz+bpssHA58UvMj/OHOhtOz4sOQuUU/u9hh2mDmAWSveccM91yVLl5zcuXLKbR1vkKVzvwzIrnq926MyIhwLOVjGhenM6OzH+yJmAsBIw3Ugh2ViqJ+3dmwqeT2DLqGWvdvkeOuNdvyTzyaozWYDvTNsXvmdfPLuM6pj+bU3h1l+Z9Alx1u3WJ3TAI4V2ThN9589++Wue18UjC4CwYpVG9VaDazX8HdDP/9GDh06imCWnC5ZuuSYEJo0vEbefv1RKV+2lFSuVFbee+NxgR9G+nbu2iNHjhwXNKpJSYmSMzmHXFiyqKxbv1kOHjxiJhHSEWnGWk5CQoIgnxjNC/bCAn/cF0v/zkdymxz8Xfy5abu0a9XQ09FRVwzDOK/ov7+GYaiXHXQ0LV+5wfI6KCSnS9a+/QcFeW3b6jo1cwGj2Ibhq5dE4Z/T5RiGoTYMLFqkgFhx2GzQMDLmahh65AQqUqeXUWbqpKs90iUnEEv4oR7f1eUm+Xr469K8SW14CWbDYMrtpTU7SPmqrWXkmB/UC726GcGPLlk65fTs1kaw+WiPO9oI2sf9+w/JySgvS4M+0ZCTkpIjdYZTp/ZNlRFXulQxNeMJnfT+7vUXesuaX8fJA/fcElapu02Ot/IZteNYN92l041qcGr12k2WlxbokuOtW6zOE2KVMNONTwIF8ueRoe/3U40WGq70HMIhvFVSiIs00pNh3kM4hLciC/EQ30wrvSPCIbwVOWYcjB5iFNG8xjn8MJqIqb5Yj2Lei+SINJG2mQbO4RdNOegtvrhCafl+6jxZ9OtKU5TPEf64X75cKcHIhs/NEC/cJgcjvzlz5lCdB4YR2JhBx0JyjuwhEgoeTJcsU47ZeRM8R5HdcZucyGjYM7Yby0iXTmhf0M6k1w6Z9xAO4a3UAsRDfDOt9I4Ih/BW5ASKgyn3T7/4vhQt30SqXHOzfPfDXDWD6OH7blWjwmXLlFDTfJ/o947s/mdfoCRC9tMlS5ecPXsPyBvvfCFYQ12qUnP56NNxcvbsWalXu5rAAAwZTAYBoykHHfnP9u2hZjj97+UHpUih/GpmG2Y8BXJ9HuwsFTzvC4YRuG0MlnW3yfHW03z+4L3AMAJzwT20vxhwQJ3wjh/quS45oeYnknAJkURmXBLwJ4A/job1a0q7mxpm6BAO4f3TCPUacZFGrGXpkpPt3w3EsKEVppmYHNDrvXPXXilTupikeIwi09/7iAcbenm9/YKd65ID+ZDVs1tbOXjoiNRufKf0fmyAYD0S1ndNnbFAHnz8DcEnszDlCaOdeDgjXrjObXLQs96gbnXB7s8o+0A80BGy5LdVUuvqKlKwQN5AQULy0yXLlIM8I+8hZS6DQIFuu00OdMQsCbxwYvlDRg7hEB7xwnWIh/gZycB9hEP4cGUgvBvLSJdOutojXXJQH+BQnz4cOi7VcHt5wFBl3F5d4zL5ZtSbcmDrbHnjlYekp2dkE6N/86YNlZturK9GCxE/HKdLli452HT0i1HfyxW1O6l1v48+NVB1EKCjANPIMZ18+EcvqBlj4XDyD6tDDjpS0KHyaO/b/cVH9dptcsznT6zfGXTJiWphB0mMBnAQMPQmAd0EsJaledPaMnvur9KxS1/Bt/B+mP6z3HxHX8ERG0WdOHFKGZMrV/+pXg7QwP6xcr3HOC4uOXOGNhqoS47Jr0WzOvLOgMfUJdbuYC0Xeqeb3HSfvD14pJrW9sj9t8mdnVupMFZ/3CTHMAx57IHb1aeOnnrhPcXImwvWPz394mDZtn23PHTvrWqk2Pt+OOeGoUeWYRhyz53tBAb9I08OtLRmPRS9DMNdcqAzPvFVrfatUqxCU28X8BzhEB7xwnWIh/ixlmMY7isjw9CjU7hlavfw6Oxtc+tjynC7+8FXBJ2j6NDDNFcYbj9P/1RaNKur9kMwdcF0zlpXVZG3+z+qlguY/hkddcnSKadzj36Ss0gdub17P/lt2VrJkztFMFL+5/JvZN1v41WHAYyWjNikdx/66JCDPKDjpdZVlwum4KOjDX7+Dht/YlYADHL/e6Feu02OYYTejvd5oIvldwbD0CMn1HKMJBwN4EjoMW5QAhgZWLt+s/QfONxnAyxsjAWjLWhECzd0ydIh56F7O6kdMTEl+Ia2vaVp6/vlm+9/Ug+r5179SC67uqNau4FNscpUbqnWQS39fY3UvqaqWhccKj5dcpAfwzCkV/f28teKbwXTm1o1ryclSxQWjN73e6K7Wssz4KUHfF5wEC9cZxjOlIO/h0ateqlPf5Sq1Dz1WKfJXWqnZ/zNFK/YLNUfYQqXbSwfDxsvpUoWUd9XhkEcCi+dsvzzg5eoMRN+FKz9xWhFyYv/0xU6eTvwQF790wjl2m1yoHP27BfIZZeWU383+NvxdzAYEK5K5fJqLZ3VqY665ESnjKBx+k6XHORCpyzIc4s7dOioLFm6Sq1TxQ73KxaOlp0bpkqfBzuHZdyGwkOXLJ1y0GGO2V8d2jQSjIqj0wAj5VhDaxiBp8KGwso7DPTRIceUOeTziXLdjXfL9NkLTS+f47Ll66RFh4csff3COyE3ycFMwZFf/+BpXwtIeu8M6DRodcvDPu8T4bS3uuR4l1OszmkAx4psHKeLPzDs6FexWhvBp5Dwom66u+57UQpd1EiN/OFbYpFi0iVLlxysZf3264Gy+KfPpZ/HOHzsgc6yYMYw2fPXDMHOuVdVryyLZg+Xga8/IseOn1CbH+ETEjBow2GpS453nrChD0Z6sUMhdiT88Zv35fkne1pay+Odrv+50+ScPHlK8EkZrBHzd6h30G/f/oM+nw3CNfzxIoBdoNFbjuuMnE5Z/nnBSxQ2vkOecQ86+OtrXoMH8opw4Tq3yYH+GNXBcwF/N4EcdtTu3rW16jBpd9P1lqc66pLjxjLSpRPqA9rO0eOmqfWxiXlqipGrekBXtkorNeMCcaw4HXIwFRVTnI/smKt2uK908UVpNv2zkvdAcXTJ0inn689fl4PbZ8uoYa9KLc+oOEbHA+keiR/00SEHeUSbN+HbWYJ3HYz8w8/fofO85pWXCsIhvP/9UK4RD/HdIgfLyPDZTHRUQH//9hXX8EdnudnOmsdw2ltdcpDXWDsawLEmHIfpv/vhaBk2YpIa0cNL2cihr6hNsb745EW1LhiL7x964k3BaFCkeHTJ0iUHPNCAXVn1EmUc9n+xt2oIcqUky2vP36+MYdzD7od4YUBv7/dj3xYYtIgbjtMlxztP+PwJpjXhIertH+1zJ8nR+TkanbL8yzQc2b/OHSEI759GKNeIh/ihfN4H4RA+lHT9wyAe4sdajr/cQNeYzvfqc/dJmQuLCT6fhdkqgcJF6hctObrY6ZIDrjpljRwzRTp27St/rFivNjiCfH+HUcEypYur2UP+90K91iEHderyyypItmxZQ82WCmflR5csnXJgCGLvDPzNb/97t9pjY8yE6TJrzhLBrAQrnPzjQB8dciAXX7PAVy3w+atg7zXwx32EQ3jEC9chHuIjHaQXKD78cR/hED5QmIz8EA/xkQ7SCxQe/riPcAgfKExGfuE8f/zbLLRjiJ+RDNxHOIT3TyOUa8RDfKRjB0cD2A6l4KI87POMVOHhiyl5i2YNV7v63dyusTJ8b+3QTBnCmKaDP/iPP5sQ0TpAXbJ0yQm3GuCFAWt7DCM605yCyY+GHEyHv6bhHZK9UC21bvHKOreljkyg1xLrgWEYB8tDqP5OlGMYhqAcMXJtxSGuYYRWBwxDnyz/MjOM0GWHo5Pb5fjrF+wazC6pWEYmT50nu3bvCxYsYv9oyDEMd9UFQDUMPTph5GrYiG/VWs85P3wi+JY2pg6XKlFEfTca11g/m5BgqFlDKC/kL1ynS46ZrzXr/pKH+74pVa/t5DM9s5TXspBwpmqa6QY66pIVQzk+aqHdu6pBFylesZlgj432nR+XBs17SkrRutKhyxOCtf0+ESxe6JJjMXtxHc0wQn/++L9n4BlhGLF/hwhHjo7CpAGsg3IcycDI267de6VZo1qCXt1Aql9T8zK5ofG1EklvF9LVJUuXHPTgYt0jDMGMHMIhPDiE6xAP8TOSgfsIh/DhyvAOv/T3NYLGecGiP9RuxehN9t6Gv2qVCjJr7hIZ+80M72hhn7tNTtgAGCGuCWBq28FDR9R3UTHLJlYwdMmJVf6dni5GiNB2og299urL00wXNgxDbXyEmUJYHoH2y4rOuuQgb9Nm/iKVarSXt977Un7/Y63Pcg9zmiaOG//cpuo34lh1umTpkrNi1Ua5tlE39ZlBtK2YHoyZdzji+uvxP8oN7Xp7OsX2WkWm4umSg08h4pOIc3/+TTZt3q5k+/9pLGumAAAQAElEQVRs2rxdcB97YOTMmcP/dkjXbpMTktIM5EOABrAPDl5ESgCjhYUK5lONVDDDyTAMNS0rnE/3BMqXLlm65KCXVscOrLrkoMxg6PZ/+zO1c/VXn76iNje5pV0T3Ep12NwHnSIYubL6suY2OSYcrMHDbpftbu+jRkXQs29Oa8NOmHgJQBgzfCRHpKNLFp4N6FxBJ0sgh3sIE4k+iIs0kFYgGfDDPYRB2Egc0kBaSDOQwz2EiURGsLgwSDdv3SEPPP4/tSaucqWykjdPrmDBLfvrkmM5g3EWEe2nYZwftcG62TNnz6pd44EBM6wwpXL12k1q00T4WXWxloNnPgx15A+7Om9Z9b2aMYbN8n6b96XgutvtLSVP7hQZ83l/KVwoH4Jacrpk6ZKDZwqWPGAPCOwZgk9FYW8NfDsXR1zDH53D738yxhIzRNIlB7IwnRufRNy4aZtc36KXjPN0jGNQBW08nqMTv5stN7Z/UHAfRn6KRQPY0XIAKojT1Y7rkhNEzah40wCOCkYmYhLAixc+5TNzzmLB5wxMf+8jXtzRO4oNDgoVzOt9K6xzXbJ0ydG1A6suOShMrPVdtny9tG5RX9q2aphmtAJhcibnkAtLFpVIXtbcJgdcDhw8rD6BhcZ+7MQZalRk4eIVcujQUdyWxb+uknrNesi0mQvUdSQ/umRhWuWDj78hSXmvUp89Cfa5HXQEoaPGqk5uk4NPR2FDo0CbHWXNf7VcWOlGwVICjPjcfWdby+sp7SDHX0fojXxZqQuIh/j+aQa6RjiEtyIHcRAXaQRK298P4RAe8cJ12OG7TOliavkQjALEL1G8kOzctUfWbdiMS4HBgntwVmcD6JKDZw+e/Wgjet3VXqBLjuzZJCkxUdCZjutXnr1PihTOL+hMhU5KSQs/umTpkoN275dFy6VJw2vkiYe6Ctp2byy4xieRsNHTLM87mdl56h0mlHNdcsy84JOIeI7hHbLtbX0EXz3Iku98m3HTLY8IRqOtbP5ppm8e3SYH9Q6fzYz1O4MuOWY5+R+jdU0DOFokmU4qAexIjB7pbr1eSLP2ZO++g+qzSDB6HrqvU0CDKDWhEE50ydIhBz3cbtrpFcWHUaPDh4+qTzRhJAF+wRxebKy+rLlNDhh9MGSsjJkwXVreUFdWLvpajYrA33QN6lZXO2iPGjtNvfCa/laOumRhM7m3B49UWSxerJDaKA8XRYsUEFxj4x78Hdx28w2CF3Dcs+LcJgd/OxeVKR70M0j4LFLXW1vIHwtGqW+mWmGGOLrkYOAy0WPgQGZ6DqM00Bv5Si9csHu65EC+LlloO+vXqS6TJs+Rnxcug2i5vH" id="106" name="Google Shape;106;p20"/>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8AAAAKMCAYAAAAkO9E4AAAQAElEQVR4Aex9BYBdxdX/ebtJyD7ZuCshbgR3K6VoW6AUqpT6V6Pt969R14+2VKlCW0qhglPcLRBIQoLGE5LduGfjurv/+3u7sztz3r1P77t6kp13be7cOb87d+bYnKlp3TGnVZJgIG1A2oC0AWkD0gakDUgbkDYgbUDagLQBaQNRbwM1FOt/QrwgIAgIAoKAICAICAKCgCAgCAgCgkBcEBABOC5v2o5OOScICAKCgCAgCAgCgoAgIAgIAoJAjBAQAThGL1tINRGQI0FAEBAEBAFBQBAQBAQBQUAQiBcCIgDH630LtYKAQkC2goAgIAgIAoKAICAICAKCQOwQEAE4dq9cCBYEBAEiwUAQEAQEAUFAEBAEBAFBII4IiAAcx7cuNAsCgkC8ERDqBQFBQBAQBAQBQUAQiCkCIgDH9MUL2YKAICAIxBUBoVsQEAQEAUFAEBAE4ouACMDxffdCuSAgCAgCgkD8EBCKBQFBQBAQBASBWCMgAnCsX78QLwgIAoKAICAIxAkBoVUQEAQEAUEg7giIABz3FiD0CwKCgCAgCAgCgkA8EBAqBQFBQBAQBEgEYGkEgoAgIAgIAoKAICAICAKRR0AIFAQEAUEACIgADBQkCQKCgCAgCAgCgoAgIAgIAtFFQCgTBASBdgREAG4HQjaCgCAgCAgCgoAgIAgIAoKAIBBFBIQmQaATARGAO7GQPUFAEBAEBAFBQBAQBAQBQUAQEASihYBQYyAgArABhxwIAoKAICAICAKCgCAgCAgCgoAgIAhEBQFOhwjAHBE5FgQEAUFAEBAEBAFBQBAQBAQBQUAQiCQCMROAI/kOhShBQBAQBAQBQUAQEAQEAUFAEBAEBIEiEBABuAiQIpNFCBEEBAFBQBAQBAQBQUAQEAQEAUEgxgiIABzjlx830oVeQUAQEAQEAUFAEBAEBAFBQBCINwIiAMf7/Qv18UFAKBUEBAFBQBAQBAQBQUAQEARij4AIwLFvAgKAIBAHBIRGQUAQEAQEAUFAEBAEBAFBgEgEYGkFgoAgIAhEHQGhTxAQBAQBQUAQEAQEAUEgi4AIwFkY5EcQEAQEAUEgqggIXYKAICAICAKCgCAgCCgERABWSMhWEBAEBAFBQBCIHgJCkSAgCAgCgoAgIAhoCIgArIEhu4KAICAICAKCgCAQJQSEFkFAEBAEBAFBwERABGATDzkSBAQBQUAQEAQEAUEgGggIFYKAICAICAI5CIgAnAOJnBAEBAFBQBAQBAQBQUAQCDsCUn9BQBAQBOwQEAHYDhU5JwgIAoKAICAICAKCgCAgCIQXAam5ICAIOCAgArADMHJaEBAEBAFBQBAQBAQBQUAQEATCiIDUWRBwRkAEYGds5IogIAgIAoKAICAICAKCgCAgCAgC4UJAapsXARGA88IjFwUBQUAQEAQEAUFAEBAEBAFBQBAQBMKCQKF6igBcCCG5LggIAoKAICAICAKCgCAgCAgCgoAgEAkEIi4AR+IdCRGCgCAgCAgCgoAgIAgIAoKAICAICAIuICACsAsgBrYIqZggIAgIAoKAICAICAKCgCAgCAgCgkAHAiIAd0AhO1FDQOgRBAQBQUAQEAQEAUFAEBAEBAFBQEcgUALwRz79PUrUH1tUGjTmXFresEanJWd/7msLKTXg1KLKw3N/9ut/5JQRxxOtra00fcYr9MWv/YJ27d7jCMG69ZtpxMSLHPE984JP5b3fsWCbC4WehXogj82tgTqFOqKuaG9VTsTxR/vO90xc9wusQt8qp8Wverr13AWLltMnPv8j2rBxq1tF0g033eP4Lar3ft4lX6C9e/cX/Uz0BR/9zA/yllvT4zh69MkXiy6z0owPPDI9b30wjlT6DLnfewT87Bu9pzbaT8Q3qPocuy2+4WgjINQJAoJA0BEIlABcClhgHJevyC8Az3llIe3Zu6+UYmOdF8zurDnz6ISzPkJnnP8pen3ekljjIcSHGYFg1n3x0kZ69/v+lyYdfzk98fQsamlpca2i7zj7RBoyuH/e8l5+ZT41rFybN49+ce26TfTM9Dn6qZz9Y6ZNoBOOnZxzXk4IAoKAICAICAKCgCAQRARCKwBDWHvmeWfGDNdnvvxmEDEPZJ1gkTr34s/TiW+7il5+ZUEg6yiVEgTCisDqNRsJltTxx7yH7n94elXIGDl8EJ1z1gltZTv8bt22g6bPeNXhau7phYsbaOXq9bkXtDMXnncq9epZr52RXUFAEBAEBAFBQBAQBIKLQGgFYEAKa+XuPXuxm5O2bN1Os+fOzzkvJ0wEDIvUM7PMi3IkCAgCFSEAt87PfPlaGjbhArr5Xw9UVFahmxOJBF3xnnMokUjkzfrEMzPp0KHmvHnUxfsffo6gTFTHfJus607vPP80ftr3Y6mAICAICAKCgCAgCAgCTgiEWgCev/Atxzl0KxrX0orG/C7STqDE5fzrby6h4874cNUsUnHBUegUBOwQwDSNU9/xcfrz3+62u1yVc8ceNZEmjDs8b9kzX55Hq9ZsyJsHF7c17aCXZuf3ojnt5KNo4rhRyC4pOAhITQQBQUAQEAQEAUEgDwKhFoDXb9hCsGDa0ffKa4tKCvZiV0bUzx1qbqbmZvfmIEYdr7DT9/Uvf4Rad8xxTLgedhqDVH/M7y3W0upWvfv26UnvveTteYtbs3YjvTl/Wd48uLhoSQO9MX8pdh3TRZb1t67uMMfrckEQ8B4BeaIgIAgIAoKAIJAfgVALwCDthZdew8ZIcNmbPuMV45wcCAKCgCAQBwTOPftE6tata15S733gmbyuzbh5+oxX6cCBg9i1TQMH9KEL3nGK7TU5KQgIAj4hII8VBAQBQUAQKIhAaATgKZNG2xIzY+ZrOUvtYP7va28uycnfpUst9eyRyTkvJwQBrxAYNLAvNS540NEKCwvt2iWP0vChA/NW6YxTj6ad66bnLefZh2+kdCqZtxy5GD0Epk0ZR2eddmxewhAgcOOmbY55sFRSoejPZ552TMF26vgAuSAIMASkb2SAyGFZCMhNgoAgIAgUg0BoBODJE46g3r1yI43CBZozck7zfyFUHHXkuGJwKZhn1eoN9Mvf/TMbNbn38LcZ61J263MiIdrrF7/2CwKjefDgoYLlIQPWYbVbMw/n9HVQ4bb84qw36H0f/Sbpz67teXx2CaN/3/moo/s3gvKMmHhRtr7Hnv7hvMtEPffCK5QZdHo2L+qQGnAqYb1W1LXUBKUE8Jp2ygcI+KA8pAFHvIP+50v/5+jKXupzVP7b7nq8o954Dk8jJ72T4Aqq8vPtwsUrqM8I873qZbz/Y98sOpAQL9uv45/9+h95McH1YuqG9ocAdP97za8I71Nvgwqj/qPOyX4bP//NLbRk2cqC1sZinsvz4Lv6/rU35qUJ9Tli6rsJ75Pfr47zfcu4f/DY8+jt7/ps9nvHEkLwMFH38u2u3Xuy6y+r+/JFUMY1lI28KrmxPiZcki9551m8asYx+s18btCgE0smGTexg/dfdh5BqchOG4f5sEU/UE4/aTygyAPgqjC222LdUruiyrkP35HdM3BO78fRflE+1mZODzytox0DlxPfdhXd9d+nCHl4vdCHf/tHf6TRR17ccQ/KxvH3/u8GQl/L7yl0jOc8/vRMuup/vk+HT34XYSxBmSqhfnhXn/7i/2XXfN6370ChIkNxHeMZxjVFp77FeVwHITNmvk6Yz69wwTtC3/fDn/6Ftu/YhSy2KV/7x7Pw/Rfbt6gHoE6oG+7nCedxXeXF8+3aCsY/nEdbUnkLbdHvYbUIjNdDxp3f0faAydST3kfo60spr9Dz5HpZCMhNgoAgUCQCoRGARx0+hOyswJgHPG/BWwa5TvN/IfwO6N/byFvqAQaAk87+KA2feCF95Vu/IQgC25p2GMWAmQCDef2fbyPk7TvybPrdDbc7CqXGzQUOIEycdPZVdMo5H6Pb736c9GdjziEiX3/w49+mo0/7YF6mv8BjXLu8f/9Buu63t9CgMedm8ULgLeCjHrBx01a64aZ7sgqDH//8b7YMn8pbyvas04+l8WNHOt4C4QNLvDhleOX1RYQlY5yuv/uCMwsy/073hvU8GKC773uaRk15V1a4/fUf/k14n3obVLRt2rwt+218/bvX07ijL822x+kzXnFNEEZd8PwfWAKweqbddtTIIfTgnb+xDQxVzLeMMsHUPfXs7Gz7hXCAb8tNWvAMt1OhNYGBHyI8Oz13+oxX87Z/fFv51v4tBlv0A9XqJ53oCsr5N+YtJQgN77rif+mxp14ifTUD4IJx5b1Xfp3Of8/VhDEO9cZ5CBlDx19AP7nuJnprxWqc7kg4hkA2fMKF2cCGeMcdFx12YOlH/9xj6Bl07sWfp3/8+0GC8gNjiX4L6od3dePf76HzL72a6oecTl/99m9px87derZI7qPPO/28TxKEYIUL3gX6Piiiu3XNnW5QTPsHWNXqW/C+rv7qdVk+xa6tNK5al21DIyZdRLf856GC/TLGwiuuuia7fjnGa6wPjvojARMo09DXozy0p/0HnKdO4B5JgkB1EJBSBYHiEQiNAJxJp+iUE6fZUvaktnwPgs5gmQ+7jOecdSLZDVZ2efk5WL1++6f/0JQT35e16vLr+Y7BJGAwwiAK5iJf3nzXMACfcNZH6OVXFuTLlr2GADaXfvCrtHrNxuyxHz+btzRZVupr6Gvfub4owfY7P/4TQWngRl2h6LjiPe9wLArMoZMAgGtPPjPb8V4w/xCwHTNE8AIYqo999od02Ye/VnBdWDvyX3tjCZ1x/qcsZcitrgReu+f+Z+ia7//e7lEd55yE30q+ZRSuaPnG935XVLvGPV6nYUMG0Gkn2/eXqi6I8GynvMjXh6p7zz7zeOrfr5c67NhWgq1b/WRHZQK68+AjL2QVo+ijC1XxKUvx8qFPfifrrYLvD0IGBI589+3Zu48u+cBX6Enr3nz5MBZhTEL/DEE4X15+DQLgL66/lY4+9YOE74Ffj8rxnFcW0ic+/yNywvyqD76T4HGh6K2k/aMMYIl+spK+BR4A77z8y1mlO8rMl/AeP/qZH9ADjzzvmA08xLmWcuTOe590zKMuoDy0Jyjn1TnZCgKCgEcIyGNKQiA0AjCocrI4IFIpXA+Rp2n7Tsvy2YBdI8FVb9KE8pbrgEAE990vff2XjgOh8TCHgzmvLqB3vPvz1GhpXx2yOJ7G0iUXvfdLBPocM7ELYLD+est/2VnvDucvXE75BEm7msCqBxd2u2ulnrvs3WdTvjnfTgIAGAhY0p2e58T8O+UP+3m4+ME18uZ/PVAxKWDg8S3hmyq3MLybfEwpynUSfvFcPL/SbxnPgDXu6q9dF0ghGP3dRz5wESUSCVTVNr325mLCN8ovYokk9Df8vDpG2e+zlEuJhFm2W9hW0k+qOgZ1C1w//Knv5J16wuv+lCXIHnvGh+mftz/MLzkeQ2D7zo/+5OieizEIYxGwdiykiAuwOp/z7s9SPuocvAAAEABJREFUpeUU8SjPsxw4eJC++5M/O465XBHqVvsHoeX2LXv37adLP/BVKjR/H89QCW3l/35xk21bgWLkM1++NpLvV9EvW0FAEIgGAqVSESoBePLEIwiRRzmRcL/BXBech9C3ZFkjdo00dvSIvC6xRmZ2UIy1id3ieLj0rZX08c/9yHawcbzJurB//4Gy5pxCawtLrFVEKP4wL/fxp2a6UlcwKOedc5JjWU4CgFMbQkFOzD+uRTGBqfvF9bdm5yO6RR/cliHEllNeo6U8+tAnvuPIlKLMMUcMp8f++3tbt2dYOq4pYDlGGcWmG/9+Lz3yxIvFZvc031FTx9O4MSMcnwlLL7xKeAb0p/gO+Xl1fMy0CbbTUYLQT6o6BnVbbj+u3KBLoQtzQfEu+T1QFn/y8z8mjEX8WjnHGF+++f0/5ASjLKesIN2D7wNTdJzqBA8jeBqp60HoW9Bfw1tH1anYLfrjl+fmepbd99Bz9OCjztbhYsuXfIKAICAIBA2BUAnAGGwmTTgiB0PMT2kLckNZiwYGLp5pwriRea2BPL86hmANdyRoSdU5vsVSIPNn30Et21+mXeufp//73ueopsYZWmj0/3PnY7yYqhw3NK4ty+JclcoUWeiLs14vMmf+bBBW81nB0E7sBACcwzW70o9xYP7t8kbhHOZC/+p3/8pLChQNiDh9YMvM7Dew9LV76V0XnO54D1w0f/zzv5U8J76paVdWeZSPcYfw+/Ddv6XRo4blPB/M7Dd/8Pu8Xhz/8/H30Ip592fpwPeMfZzLKaz9BPoFJ+tJexbfNugvwaTnq8AjT8wwBBcw0AiGlO8eBNjqUZ82soS9nzSIicgB+rDZc+fnUPPP2x6hJ7RpQzzDEYcPpbv/+XPau/HFbJR5bHGM8zyvOkZ5cO1Wx1HfwrMIHkaKzrD3LfjuoTBR9GAL628hr59hQwfQ4/f9gQ5tm01Nq5+l71/zKdwqSRAQBASBwCPgLKUFsOqpZB05uUE/+/zcrIX0iWfsrYeY/wuBqFSy7nv4OVq2fJXjbXCH/fdNP6GJ40dl3Q1Rx2v+30fpHzd83/EeXMDAAtdS7JeSpk0dS6+/+J8sg7654Sn6zCcu67zdZg/Chh6wYpC2DM+c6bdSsq67zV1tp/hSO7s3vEAQANuuFvcLRQAUAlAMYJDEYIlBM9/dsPLBSpEvT7HXTjp+Kh1/zCTH7FwA2LfvAE2f8Ypj/vPOOZk48++YOQIX/vGvB/O6ax45ZSw9cd8fCW2la9cu2W8Awudtf7+WLjrvNEcEnn7uZVqweLnjdX4B7+X/fevX9NSzznOz8wm/KO/p5+ZkFWTYt0top3/81Tdo5PDBWToSiUR2H+e+/bWP292SPQch4+V26wmWnYIyoJjlrBCVHkteIa9K7zzfWXGQfViJP+eefSJ169bV8a7X31xKDY3rOq7D/T+f+yQY/wvPPbUjv9oJWj+p6hXULfolpTRd/ub9dNrJRxWsqt6XQtl04/XfyqtoRYEIxoStShhzMPaoY74dNXIIPfnAH+nSd72Nunfvlr2MLY4fvfd3hPEje9Lm59bbHiJ8pzaXQn8KCj28JyjF1ix+hO645acExZ8izIu+RT2rmC3G9Vv/8kNCO0HCPs7lu5e3FcwRzxcJHv3Kv/76YzrnrBOotrYmOy5+9xufzBoA8j1HrgkCgoAgEAQEQiUAA7CzTjs2y5xiX0+YzwnL0KuvL9ZPZ/fr6g6jo6eNz+6X8gMh7K7/Ogd+6NKllqDxtBOIwMg6Ceuow9zXFpKdexquOSUwJ/f++xc0dfKYLAZ9evega7//eUelgFM5Xp7/8Xc+Q9/436sIigEMkhgsf/7DL1alCnaF4t186H0X2F3KnuMCwNr1mwhWz+xF9gPmX9f6s8uRO9zWtIPwXTkRlkgk6Kc/+DwNHdI/Jwu+uc996r3Z9452e/ml5xCYI7TfJa/eQ2uWPFKSMgVRce+454mc56gTaFvXX/cVW8sv8sDCgWi72LdLmFoBa2kiYc5rRd5EIkEXX3Smo7IIZT/z/BxkDVyaNmUcoc90qhhiCsDjQV3P5/6PPOjTuCUwaP0k6hnkhO/h3zf9uENpeviIwQQlC/qXfPX+wqev6OhLoWz6xEcupm9+5aP5bsmZnw5lbr5x532XnZtV+tgVivd+7tnOU0rQb6L/tLs3zOeOO3oi3fTH7xHeUyKRoMGD+mWFPoz/oAvff5D6lkQiYdX3u/ShKy4gtBMk7H/1S1eiukUntBV41zndgH7l2KMmGpcTiQShDQ0ZnDsmGBnlQBAQBAQBnxEInQCM5ZDg2sdxW96wmp574RXbCLWHjxiSHbz4PYWON27alnd92nzziiF4wTrs9Ay4p9kFoHHKj/OIPAzrFPZVwnPyzfNT+fzYZtJJgnt4ImEKFWNGD3MUJqpRT1isnAZkLgBgSS2n+XZ2zH816ltmma7fBhzwXTkVDEZw8oTRTpfpvLefnJ0S8NYb99HtN19LP/jmp7OCJCy1hZh9x0IdLiD66k9/dbPhzqtnxXvGu9XP6fug9Yip76ZEvaVgs0nHnv7hvJbw195YHEjrFxQRF53vbIkHBoiGrix3mM+Mvgnn7dKH33+BEfUWeYLWT6JOQU52/fiQwf0clTegBcLWZRefnVV84hgpkUjk9W5BHp6g4IBXED+vjuHO7/QN1PQ4jvJZjzds3ErLV6xRRUVm+/ErLyYom50IClrfcrilUDnTMhTw+h5TohFgwaIVvAjj+JijJuT0BcgwaEBfOtJS0mNfkiAgCAgCQUUgdALw4IH96Ogjc6250FRi/Tk75m3alLF5BzCnlwML2I4du50uU7++PTvcxOwy1WdSdqc7zmHg7DgoYgdu1nbZnM7b5fXyXL++vWigNRjyZ+Id9u3Tk5+u2vHI4YMIFjynB8BtXrWbJ/PMjbNj/p3KjMJ5MMpKMLKjZ/SoodSzZ9rukg/nKKsA+++Dz9o+G3Rs3LTV9pobJxF45lDzITeKcr0MKKFg4XYqWFnu4B6bz8UcSqSTTzgyp5ig9ZM5FQzYCSiAeJVgpUuluvPTHccYS/IJYR0ZC+xgSZsCWcq+DEvo3n37yr4/iDdCiXvicZPzVi1ofcvhI4dQOl2XU2coLAu5QefclOcE2qTd5e7du5GX47tdHeScICAICAKFEAidAIzOddrUcbZ0LW+w1z6ffsrRhubc9uYQnBxzxLAQ1LKzipjrm4+p68xZ3b1EIkEfvPw8x7mQcAFduXo9gZF3cvl1Yv6rW3MpvVQEfnLdTb6sfY0gULt3+8j85wEKc43PPO0Yxxywfr80+41srIN87rGYvgBlkmNBcqFqCGBuec8emaqV71bBS99yjpfh1jO8LKdXz3rq36+3l4/MeVapfcuQQf2yU09yCpITgoAgIAgIAh0IhE4ARs0x9ySRMN1qcd4uQeN57NET7C7JuRghMG3KOMe5kBAA4B4LBcqCRfaBmU47eRoNGzIgRoiFk1S4eN7w97sJ1igvKYAHASJCe/nMYp8F99l80dBRDpY6mT7jVUc370QiQVe855zAKhJBQzXS2nWbq1FsZMs8eDCYXhDlAn74yMGUySTLvd2V+4Lct7hCoBQiCAgCgoAPCIRSAEb0RbjzFIPXyBGDacSwQcVkzckD7W99vbMb86bNTXnn/eVbSxMPswsehPOS3EcAcyGv+uA7HQu+94FnCJF84fbLMyUSCYIAAUGCX4vycZfa2mx0TycaC7V/rA965Mnvp8Fjz6O3v+uzdPVXr6N/3fEIzZ47n+CO3Nzc4lR03vO9e9Vng7s4Zfrz3+6mBYvM+WvwHMlnyYGFf9XCh7PLvqiIzKVsGxc8SIMG9nWqku/njyqwJvCTz8ymG/9+j2M9J4w7nHjAG5U5yv3k/IVvKTKDvC26boXGnJ9897NlfwP4Xr7+5Y8UXZeoZIxq31KorezYaT89DNNB1qzbFJXXK3QIAoJARBGoCSNdmF9SbJAFLIFT7typ/v16Ub4AU0uWNRIsTnYYYj4dGH27azgHyzQEeexL8gYBBJ9xwnz6jFfo7/+837YiaAMQIGwvRvgkhMJhQwc6Uoj2n89lds6rC7KRztet35xdvuh3N9xOH/rEd+iEsz5CA454B335G790LNvpwqQJo2ju8/+kz37ivU5ZCIL3D356oxEBN5NO0YjhzrRgqbB5C5c5lhn2CwgciKVsnOgAZk59Ge7BHHr0u9jnKQr95JsLlhGWgNJpwzIwDz32gn4q9PtQBudT5E2f8WrJ63P7D4q/NYhq31KorcyY+Zpt0EEEQ4ua4sjfFiZPFwQEgWogUFONQqtdJjSumNdbzHPeftbxZbvtYd6VXTRF9Vy4Jn3/2hsJwq46p7aPPvFi1tKljvl2yqTReaN+8vzVOB7Qrw/1sqxpTmXDQtfa6nQ1fOchBGCpG7uaw/3ZSWEBwQH32t0X5XNQHEGB5EQj2v9PfnGTbfuHMPHdH//Z0RU5kUjQBeee4lS07XlYIB+95/fZZVo+edUleQOt3H3f0/TsC3M7ygHTf9m7395xzHfgMv2L6/9pSwsC7L3tov+h3sPfRtNO+QB9/HM/pJ//5hZCwK2lb60kp2B26XSShg9zFrqbW1oI3xivS7WOLzrvVMd58PmeifU+ca9TnjD0k126dHGqfvY8ls+DhwLaLdrCG/OW0iUf+AqhX8hmiMgPxp1jpjlPCXrimVn08OMzcqgFJrff/TglB5xCQ8dfQBe///91eHQ8+/xcgtATNffnHBAcTvjRtxhVqdIBgrWNHjXMsfTnX3wtZ5k81U4wrcjxRrkgCAgCgkAAEAilAAzcMIgnEvnnAbthZYXrKyxheKZdQtTUKz/13WwAGXT+EIav/eXf6QMf/7Yj849yPv/pywlLGGHfr4S1U2trnJvAK68toldfX5SlA4wh3CSx5qdf9XXjuVjHt5RgMoWYfzfqFNQyEokEfeDy86gmTxtB+z/zgk/Ri7PeyApzEOhee2MJvf1dn6GXX1ngSNrppxxFp540zfE6vzBq5BC689afdqw5PHH84fTBy8/n2TqOMR/3J9f9zbBQvO2MYwkW5I5MbAe0vOuK/81arUEHGHqs73n8mVfSM9PnZIOkvf7mErrp1vvp69+9PisgjT3q0qw1+/kXX2WlkaV4o7wu5LA6P/vCnCxu+K6ee+EVgrWcqvQPws9Jx08puXTcg3vz3Rj0fnLwwL6UsRQS+Wj4952PUt+RZxOW+4HrPtpxvvxhvIYxJ99UEHw37//YN+n3N97RoQyCcHv1166j9330m1nrMKb23PfQc6Q8Os668NM0cPQ76IOf+LbhdRFGfMqts9d9S7n1LOW+/v16Ub6lHNFWLr/yG/SIpexHfwnX55/+6mb69o/+VMpjKs4rBQgCgoAgUA4CztJPOaV5eM+EcSMJ0U3zPRLLA42yGOd8eQpdw5p6P/3B5/Nmu//h6TRm2iVZxqnn0DPpmz/4A953iPAAABAASURBVGFwcLrpovNOo/e862yny56dL2ShwnzYM87/VJYuMIZXfeb71NS0y7P6VeNBcIE+75yTii76qKnjCO2o6BsilvGs046lT330krxUQVA45ZyPUZdex2fTUad+gHDO6SYoFX707c8QLIdOefh5RBTXXXATiQQVsgJDoPznbY90FIU5wN/52icswTTRcY7vTJ/xCk096X1ZOrr1OZHOu+QL9NaK1TybcQxa7IT5VLKOhgzqb+TVD6Aw+/Anv5t9VmbQ6XT+e75Aq9du1LO4ug+8L7v47SWXiXtwb74bg95PwhI/bszIfCTE5tr733sunXbyUY70QvHzha/8nDCWYU1gCLe/v+EOx/y4AGvhdT/+Yt65+cgX1eR13+IFjolEgj76oXcSDAlOz4P3ywXvuTrbh6UHnlaQ9yH55zYCUp4gIAiUiUBoBeAB/ftQoejOkyceQaVY+5wwvOLSd9D/+8KHnC6XdB4WqN//8mtUV3dYSfdVIzMsIhDwii1727YdtGHTlmKzBzIf3NVgrUoknIUgveIfet8Fvlvq9fp4vQ+8fvqDL+S1BJRaJyeBsdRyClmBUd4vf/dPwjIi2EeCO/snPnIxdl1JH7riAvrcp95rK1QnEgkqdqoGKrN3735av2EzdquWCq0JzB/cu1c9nX3Gcfy07XGQ+8lePevpwvNOta13vpNo/4cd1i1fltBdgxX4Fz/5ErkxNoJ4lPPHX32j7GCTKCMKycu+xSu8jj5yPP3vFz7o1ePkOYJAiQhIdkGgfARCKwCDMTnu6El5Ka9k/q9ecNeuXehnP7w6m/Tzpe7DnejJ+/8UKEbhIx+8KK+GV6cRFuGNm7bpp0K5f9LxUynf3FZFFBi7M089Rh3GdguG+Y5//JTA4FUCAlypf/Oz/5dVJiUSxSkg8j0vkUgUtAIvW76Kbrz5nqwbP8rCt/yHX36d/ufj78FhRQmupH/+7TV519yEwJlvHh2vwNIqr6MKr5l8awLz+iBw3JgjhvPTtsfANsj95CeuvJjgAWJbeZuT+P4fvPM3dOJxk22uhvsU+r8n7v9D3nn0xVAIr4y7//lzwlhbTP4o50H797Jv8QLLRCJBX7n6wyUrQN994RmBUPJ7gZE8QxDwDQF5cEUIhFYABtWnnHgkdelSi92cBOvm5AlH5Jwv9wTmy37tS1fS/Nl3WAzRlJKK6de3F/37pp/QY/f+ngYO6FPSvdXODA3vH3719bzzPPU6bN22XT8M5T4EOlh2C1X+7DOPK4lhLlRemK/DEgghGO0Y7blUWo47eiK9OfM2+uJn3p93Xmyp5RZjBf7V7/5Fr7y+qKNoMKqwWN329/+jcmjBPcDhr7//Tl7hFw+E6/affn1N0dY2zLXHfdVK6C/ff9l5RRePwGG4p9gbgtxPDh3Snx6449d554ErOtFeZz3zD8IYo85FbYugcm/OvJ3ee8nbyyIN9736wr/pbUV6CJT1kJDd5GXf4hU0GC+h5HAKIKnXoz6TIvSr3/7axylh/devyb4gIAgIAm4iUGlZoRaAYZmARcMOBMz3wrwvu2uVnMN80Jee+jutXPAQwY3shGMnE9zr9DIxCI4bM4Ku/p/30cynb6Z1Sx+j9192rquMv/68SvYTiQTBkrXg5Tvp0x+71HZeNRj+I6eMpU999FLfI1dXQqt+74Xnnkr5gpshb6nMP+6JcoJwg3aM9jxn+q303W98ktD+0T443Zj/ijbzza98jBa/cg9BmMC3w/NVepxIFLYCw3PhZ7/+hxGgJ5FIEBg60IJv9Muf+wChvvxbRv1wDteQB3lxD3AAHrheKME6hu/rW1/9WPb7gSVcvwflo7+48v0XWsq16lsb8c6KsYRiGZTTTp6mV7XofbzrIPaTsMa//Oyt9K+//TjrBaK/C7wHtIkn7vsjvfTUzTR2dHGW76JBCWBGKGSh2Nrc8BRBoQPLHfpFHRdUG8c4j+vIh/y4D0oFXJfUiUAi4V3f0vnU6u5BCP6PpcSHAQD8Ar4V9UTwO+hT0C5WLXo4268mEgl1WbaCgCAgCAQSgUAJwP+44QeOi/DbLbA/oH9veuuN+2zvefm5W3IEU7yBUp+Be+wSLDuYFwyGeOvKp406HNgykxbNvZt++/OvZAWEYhll0Ni6Y45Rln78zvNPt6sKlXufXhgY8D//5pvUuODBnOdvXP4EvTbj33TDb7+ZpUfdN2hgX9v8qs7PPnyjbaCjcu4rdA/qjTyqboW23bp2oS619t4DuBfM3gk+uT6CDtCjcLTbOmGLujulQu0E153u1c+jPR8zbQL94Jufzip40D54HXetfz7bZn7y3c9mBYlEIj9DhPJ2b3ghp+2pcvPRi3n1m1Y86XgvygCzDkZNpwP7oAXM26+u/d9sffm3jHtxDu0feZAX9+DeUhLe6Y+/81la+tq91Nw026grykd/gb7J6Rsv5VmF8g7o35sWzrnLqAPo5Klh/gMFlUSFnlWNfhIY8brqx8AxX70Qf+ED7z0vq5TR3wXeA6xXUFiod4zgX2h7evn6vt2z8B3pefg+rvP6FXoO+gO0IX5fpVio8rDk2cevfDf99z+/pNWWEKPjgvrjGOdxHfmQX93r5RYYAAvUySnhfQHPYupVSb9TqHy0IfQX6DfQf6B98TrjHK4hD/LinkLlFqqzXZtEmeXeh3uREolENiDk3//0PUK9FS3gd8AHoV3AAoy8hZ6Fdot8kgQBQUAQ8AuBQAnAfoEQ2udKxctGAGsYNq5a53j/xRedSSOHD3K8LhcEAUFAEBAEBAFBQBAQBAQBQSB8CIgAHL53JjVuR6DczfYdu+iPf73T8fZEIkEXnXcqJRL5rZaOBcgFQUAQEAQEAUFAEBAEBAFBQBAIJAIiAAfytUil3EBg1px5dOe9T9LGTVs7ogCvaFxLV37qu/T8i686PgIRUhEp2jFDMC5ILQQBQUAQEAQEAUFAEBAEBAFBoEQERAAuETDJHh4Edu7cQ1dcdQ0NOOIdVNPjOErUH0ujpryL7n94el4iEOQDQT/yZpKLPiMgjxcEBAFBQBAQBAQBQUAQEARKR0AE4NIxkztCgkCvXhmq635YSbXF8idY3qOkmySzIOA1AvI8QUAQEAQEAUFAEBAEBIGyEBABuCzY5KYwIDB4YD/q26dn0VXt2SNDv//l18mvCKdFV1QyCgIxR0DIFwQEAUFAEBAEBAFBoFwERAAuFzm5L/AIYNmbdDpZVD2POHxodgkQzP8t6gbJJAgIAoKAPwjIUwUBQUAQEAQEAUGgAgREAK4APLk12AhgLcirPnhRdu1irEcKgVivca+e9XTu2SfR/bf/Krsu6hmnHq1fln1BQBAQBASBwCEgFRIEBAFBQBAQBCpDQATgyvCTuwOMQPfu3eirX7ySZj59M61c8BAd2DKTWnfM6UhbVz5Nj977O3rn+acTF44DTJZUTRAQBAQBQSCuCAjdgoAgIAgIAhUjIAJwxRBKAYKAICAICAKCgCAgCAgC1UZAyhcEBAFBwA0ERAB2A0UpQxAQBAQBQUAQEAQEAUFAEKgeAlKyICAIuISACMAuASnFCAKCgCAgCAgCgoAgIAgIAoJANRCQMgUB9xAQAdg9LKUkQUAQEAQEAUFAEBAEBAFBQBAQBNxFQEpzFQERgF2FUwoTBAQBQUAQEAQEAUFAEBAEBAFBQBBwCwG3yxEB2G1EpTxBQBAQBAQBQUAQEAQEAUFAEBAEBIFAIhAyATiQGEqlBAFBQBAQBAQBQUAQEAQEAUFAEBAEQoCACMAheEkdVZQdQUAQEAQEAUFAEBAEBAFBQBAQBASBshEQAbhs6ORGrxGQ5wkCgoAgIAgIAoKAICAICAKCgCBQCQIiAFeCntwrCHiHgDxJEBAEBAFBQBAQBAQBQUAQEAQqREAE4AoBlNsFAUHACwTkGYKAICAICAKCgCAgCAgCgkDlCIgAXDmGUoIgIAgIAtVFQEoXBAQBQUAQEAQEAUFAEHAFARGAXYFRChEEBAFBQBCoFgJSriAgCAgCgoAgIAgIAm4hIAKwW0hKOYKAICAICAKCgPsISImCgCAgCAgCgoAg4CICIgC7CKYUJQgIAoKAICAICAJuIiBlCQKCgCAgCAgC7iIgArC7eEppgoAgIAgIAoKAICAIuIOAlCIICAKCgCDgOgIiALsOqRQoCAgCgoAgIAgIAoKAIFApAnK/ICAICALVQEAE4GqgKmUKAoKAICAICAKCgCAgCAgC5SMgdwoCgkCVEBABuErASrGCgCAgCAgCgoAgIAgIAoKAIFAOAnKPIFA9BEQArh62UrIgIAgIAoKAICAICAKCgCAgCAgCpSEguauKgAjAVYVXChcEBAFBQBAQBAQBQUAQEAQEAUFAECgWgWrnEwG42ghL+YKAICAICAKCgCAgCAgCgoAgIAgIAoFAIOACcCAwkkoIAoKAICAICAKCgCAgCAgCgoAgIAhEAAERgIP8EqVugoAgIAgIAoKAICAICAKCgCAgCAgCriEgArBrUJZW0MGDh+iu/z5Fx51xJSXqj82m9MDT6PNf+Tlt3tJkW1hzcwvdcc8TNP6Y92Tz474h486n391wO+3du5/4v9bWVpo+4xU66eyPduTvNews+vp3r6cdO3fz7FRq/pwCXD4hxQkCgoAgIAgIAoKAICAICAKCgCDgJgIiALuJZpFl7dt3gD7w8W/Re6/8OjWuWkdXvv9CuvzSc6iltYX+cOMddOYFn6KNm7YapUFg/syXr6UrrrqGtm7b0XHPtqYddPVXr6NPf/EnhhAMYfa6395KZ5z/KXp93pJs+XhO165d6Oe/uYXOu+QLtGXr9o5nlJq/40bZqRYCUq4gIAgIAoKAICAICAKCgCAgCLiMgAjALgNaTHGHmg9Rs2XN/fdNP6F1Sx+jf9zwA7r95mtpwct30qiRQ2j+wuX0xDOzjKLuvu9p+svN99JZpx9Li+be3XHPwjl30ZgjhtOttz1M9z30XMc9M19+k77z4z9lr73x0m3Z8vGcpa/dS2efeTy9NPuNrOVY3VBqfnWfbAWB6iAgpQoCgoAgIAgIAoKAICAICALuIyACsPuYFiwxnUrSPf+6jt5/2blUW9v5CkYOH0ynnjQte//qNRuzW/zAYnzrbQ9RIpGgr33pSurdqx6ns2nEsEH0vWs+md2/674n6dCh5uz+f+58jA4cOEhXf+Z9NHrUsOw5/PSoT9P3r/kUdelSSw89+gLBgozzpebHPZIEAUGgSghIsYKAICAICAKCgCAgCAgCVUGgU/qqSvFSaCkIQHjdvWdv9pahQ/pnt/hZu34TvfL6Ijp8xGA6aup4nDLS5AlHUCadpIWLG6hp+86sUPvS7Dez505rF6j1G2AxHj50IC1vWE3rN2wpOb9eluwLAoKAIOA2AlKeICAICAKCgCAgCAgC1UKgploFS7mlIYA5uHff9xTd+8CzNH7sSDrjlGM6CoCVdseO3TRs6ABKpbpBi4xUAAAQAElEQVR3nFc7/fv1pl4962nrtu3Z4FawGGMOMc7hmsqntigDZSEQFuYBl5pflSNbQUAQEAQEAdcRkAIFAUFAEBAEBAFBoIoIiABcRXALFX3bXY/Tp67+CX38cz+kCcdeRu//2Lfo+GMm0X23/YoMC/C6TbRn7z7q0qVL1g2al4vAVmnLAgwheVvTDoLFGJGk4eZcU5P7irvUdqFUsi7rLl1Ofv58ORYEBAFBQBAQBNxBQEoRBAQBQUAQEASqi0CudFTd50npGgJPPjsrG9jqplvvp8VLG7PLEEEgfe2NxdkgWVrW7O6QQf2ygmv2QPvp3r0b9evbUzvTtgsrL6y9bUedv8jft0/l+TtLzL83e+58kiQYSBuQNiBtQNqAtIECbUDGS+EXpA1IG4h4G8gvNXhzVQRgb3C2fcpff/8dat0xJ5s2NzxF137/87S8YU12qaNf/u6fWYFYv3GNZQlWc4T181giaffuffqp7P6q1RvI7rw+1zibsf2n1Pztt8lGEBAEBAFBQBAQBASBihGQAgQBQUAQ8AKBGi8eIs8ojECf3j3oG/97Fd30x+9mM1//59uoYeW67D7m8sKd+dChQzlCMTJ0zOHtVU8D+vXJzgeur09lXZxbWlqQxUj79u+nzVuaqK7uMBo4oG/J+Y3CijiAW7ekSVn3dsFBcJA2IG1A2oC0AWkD0gZs2oDwCcdIu4hDuyhCdKh6FhGAqw5xaQ8489Rjacjg/rRt245sUCvcDeG4PpMiJwstAl7BdXqQJczC5Rl5e/fqkY3ujGsoQ0+wCqMsLImkyi4lv16W7AsCgoAgIAgIAoKAICAICAKVISB3CwLeISACsHdYF/UkLGO0e/deqq2toS61tYR/Awf0oVEjh9LK1etp6VsrccpIz7/0Gu3ctYdOOG4y9eyRyaYJ40Zmz81b+JaRFwevvrGIVjSupSMnjyUIzT2te0rJjzIkCQKCgCAgCAgCgoAgIAgIAoKACwhIEZ4iUOPp0+RhWQQeeeJFuuQDX8kKodkT7T979+6n3/zx3wQh+IxTj6Gxo0dkr8AF+sLzTs26NH//2htp+45d2fP4WbZ8FV3/p9uoW7eu9MHLz8tGiYa79GXvfjsu0w+u/Qs1rmpzpcaJrZZl+ee/uSXrSn3VB9+ZdYMuNT/KkSQICAKCgCAgCAgCgoAgIAgIAoJApQh4fb8IwF4jbj2vZ480Pfz4DBo15V00/pj3ZJdBuuKqa2jw2PPob7fcR4je/KNvfyYrnFrZs39f/twH6Owzj6ennp1NY6ZdQh/59Pfo4vf/P5p43HuzVmHkP/G4Kdm8+HnPu99Gn7zqkuy1Ccdelg2shWccMfXd9Mz0OdlryIO8SNgvJT/ukSQICAKCgCAgCAgCgoAgIAgIAoJAmBAImAAcJujKr+tJx0+lN166jT79sUtpW9NOwjJId9zzBCWT3elrX7qS5s26g6ZNHWs8APN17/nXddnriPp8y38eovseeo6OmTaBnnvkRvrqFz+ctf6qm7p27UK//dlX6PrrvpoNcoXykQb0702333wt/enX1xDylJtf3SdbQUAQEAQEAUFAEBAEBAFBQBAQBMKCgAjAPr2pcWNG0J9/803a8Nbj2WWQsBzSmsWP0M9+eDUhiJVdtXAe17eteqbjnpee+judfsrRhvCr7kWU5y98+gpaY5WL8pEWzb2bLr/0HMIcY5VPbUvNr+6TrSAgCAgCgoAgIAgIAoKAICAICAJhQEAE4DC8pZjUUcgUBAQBQUAQEAQEAUFAEBAEBAFBoJoIiABcTXSlbEGgeAQkpyAgCAgCgoAgIAgIAoKAICAIVBkBEYCrDLAULwgIAsUgIHkEAUFAEBAEBAFBQBAQBASB6iMgAnD1MZYnCAKCgCCQHwG5KggIAoKAICAICAKCgCDgCQIiAHsCszxEEBAEBAFBwAkBOS8ICAKCgCAgCAgCgoBXCIgA7BXS8hxBQBAQBAQBQSAXATkjCAgCgoAgIAgIAh4iIAKwh2DLowQBQUAQEAQEAUFAR0D2BQFBQBAQBAQBbxEQAdhbvOVpgoAgIAgIAoKAICAItCEgv4KAICAICAKeIyACsOeQywMFAUFAEBAEBAFBQBAQBAQBQUAQEAT8QEAEYD9Ql2cKAoKAICAICAKCgCAgCMQZAaFdEBAEfEJABGCfgJfHCgKCgCAgCAgCgoAgIAgIAvFEQKgWBPxDQARg/7CXJwsCgoAgIAgIAoKAICAICAKCQNwQEHp9RUAEYF/hl4cLAoKAICAICAKCgCAgCAgCgoAgEB8E/KZUBGC/34A8XxAQBAQBQUAQEAQEAUFAEBAEBAFBwBMEfBaAPaFRHiIICAKCgCAgCAgCgoAgIAgIAoKAICAIkAjAfjYCebYgIAgIAoKAICAICAKCgCAgCAgCgoBnCIgA7BnU8iCOgBwLAoKAICAICAKCgCAgCAgCgoAg4CUCIgB7ibY8SxDoRED2BAFBQBAQBAQBQUAQEAQEAUHAYwREAPYYcHmcICAIAAFJgoAgIAgIAoKAICAICAKCgPcIiADsPebyREFAEIgQAvNXtZROjdwhCAgCgoAgIAgIAoKAIOALAiIA+wK7PFQQEASigsD8lSIAl/ouJb8gIAgIAoKAICAICAJ+ISACsF/Iy3MFAUEgEgiIBTgSr9FLIuRZgoAgIAgIAoKAIOAjAiIA+wi+PFoQEATCj8Cbja3hJ0IoEAQ8Q0AeJAgIAoKAICAI+IuACMD+4i9PFwQEgRAjsKGplXbubaVDzSEmQqouCAgC3iEgTxIEBAFBQBDwHQERgH1/BVIBQUAQCCsCq7e0WX93WEJwWGmQegsCgoAg4BUC8hxBIO4I7NoXdwSCQb8IwMF4D1ILQSB0CLRast/G7dZP6GruXoVXbmqjf8ce98qUkgQBQUAQEAQiiYAQJQjQvEYJnBmEZiACcBDegtRBEAghAg0bW2n77jYBMITVd6XKKze3DWQ79sQbB1fAlEIEAUFAEBAEIoyAkAYE3hABGDD4nkQA9v0VSAUEgXAisGJjC22PueVTXKDD2Xal1oKAICAICAKCgKcIWA9DvJAFq9sU59ah/PmIgAjAPoIvjxYEwoxA1gIcc8vnys1tll9xgQ5zS5a6CwKCgCAgCAgC1UdglcUzxNVzrvrolvYEEYBLw0tyCwKCQDsCDVkLcJsA2H4qVps9+4m27myjH5GgY0W8ECsICAKCgCAgCAgCJSGwanML7dhb0i2SuUoIeCwAV4kKKVYQEAQ8R2D5htZYu0CvtAYyBboMaAoJ2QoCgoAg0InAW+vblISdZ2RPEIgvAis2tmaXTkQQ0fiiEAzKRQD28j3IswSBiCCw7wDRhiZLAI5xEKxVmzsZOwmCFZGGLWQIAoKAqwi83tDsanlSWHgROHAovHV3q+ZYOQLCr3iNuYVo+eWIAFw+dnJniQhI9uggsGJjWxCHOAfBMgTgvZ3CcHTeslAiCAgCgkBlCLy6om2sqKwUuTsKCCxYJW1BeKfgtGQRgIPzLqQm0UYgUtQ1bGwT+LbHOAjWSsMCHKnXK8QIAoKAIFAxArB0vSYCcMU4RqWAZetbCLEzokJPqXS0WPL/mq1tvJN4jZWKnvv5RQB2H1MpURCIPAKdWsy2zrwwwdHLscqYAxxfHKL3ZoUiQUAQcAMBLBOH6TJIbpQnZYQbASjO4yz4QWkOIRhvUeKGAAV/kwjA/uIvTxcEQonAig1tAl9cXaAxiIG5Uy+v4DJIKqNsBQFBQBCICQINHVNl2saLmJAtZDog0LixlZpi7DXWuMkyAbdjE2fvuXYIfN+IAOz7K5AKCALhQ6DBGshQ67iuZ7e+qZUgBAMDpKYYBwMD/YWSXBcEBIH4IdC4qU3wFWY/fu/ejuIGSwCMs7IYAbAULhIESyHh31YEYP+wlycLAqFEYNdeS4urCXxxdGnSBzL1EnfvU3uyFQQMBORAEIglAivaFaXbdsWSfCFaQwCrRsAVPs7KYmU4ACzbd+NXkp8IiADsJ/rybEEghAgsY+s6xtENeqU2/1e9wh2WYkDty1YQEAQUArKNKwKN7S7QcRZ64vruOd1K+IuzN0CjZQFXuAi/oJDwbysCsH/Yy5MFgVAioAYyVfk4WoD1+b8KB1jG1X4ct+LSFce3LjQXRCDGGRrbXaCF2Y9xI2gnvbFd+IujwrwdAmps/x5wHGdXcNAfhCQCcBDegtRBEAgRAg3tWn1V5TgGtVipLYGkcIjzwH7gENHiNW3z/RQeshUEBIH4ItDQ7v4MBJrE3RMwxDqp9hBHhTlePJ82JUohoOJvEgHYX/zl6SFFQHXmIa1+RdVW87pUIXHUZOqaXIVDnC2gKy3t/jZtXrjCRLaCgCAQTwQarT5BUR5jF2gFQey3imeKa1vQvwc0hji7goP+ICQRgIPwFqQOoULgoGXtWrauM5x9qCrvQmWXbzBpj9uAhsjXdu7OcbYAN24yA6O50MykCEFAEAgxAkrgAQlxGyNAsyQg0JlWtHuOxdUbQP8egEqc+QXQH4QkAnAQ3oLUIVQIYP5nHN1+8ZJUJEfsqxQ3C7Cd+zOwiLNLEwRgifSKViBJEBAEgMAKzQV6m7hAA5LYprVbW+lQcxv5sbJ8tpGc/cUYmd1p/4EreKvMGmpHw5+NCMD+4C5PDTECa7e2UFNMl3XQmRr1CuOmDIACRNGubzGg6cdx2m/cZH0T4gIdp1cutAoCeRFQEaCRCV4z2EqKJwK69TO+ArDpOQfhd/e+aEvAQW/tIgAH/Q1J/QKHwLptrRTXTryh3Y1JfylxE/xW2QTAAh479+I3nmnlpvh+E/F840K1IJAfAV1RGNfxMj9C8bkKBamidvc+tRevbYPmEaEo3xFjnkFh4Oe2ygKwn6TJswWB6iCAgX3rrnhq7lZsyKU7bnNZVm42NbmqlcWVyYNrG74JcYFWLUG2gkC8EVi+3hwn9h8k2nsg3pjEmXruObZ1p9k+oo4NFMR2NMaVZ7DDwo9zIgBXE3UpO5IIrM1agCNJWkGiGjblCn9iAW6DbVdMNdsr2y3icXOFb3vr8isICAIcAbtxQtygOUrxOdYtwKBalOZAgSjOXmNtCPj7KwKwv/hH+ulRJW7NllbaFkMLMOas2FmA4xThExHA1261117HCQf921Zz/eL4Teg4yL4gIAi0IWDn7hnX/rENkfj+gm/gFtC4tQW77wEtIm44gOYgJRGAg/Q2pC6hQGDj9lYqouMKBS2lVBJzXzGY8Xvi5Nq2xkH4BSY799oLxrgW5dS4qY1uuELv2R9lSoU2QUAQKAaBRhtPoaY9xdwpeaKGAKbHYGzQ6YrbigmN7WOkjgH248ozgPYgJBGAg/AWpA6hQUBpMg8cIoobs8/X/9Vf2qYdbUJQ57lo7q10mP8LatEe7BQEuBbl1KAN7mIFjvKbFtpKQQBM/5K1uVNGSikjrHnj7ikU1vdWjXqvsAmcGbe1gBttFELAOm6uig8E4gAAEABJREFU4KA5SEkE4CC9DalL4BHQ3V/jZgV2cuPBS4vLWsCwgoNep9TRJpwyRPD8Sm1w3yZLIUXwDQtJ5SCwbH0Lbd5Rzp3hvgeCP1ZK4FTEsW/kGMTxuNEm+nGc2kKLpQNz4hskCJa/X4QIwP7iL08PGQJrtlq9WXud48bs22ly26GIzbJQTgOZwiFuyxpgcF+juYUrxkbhIVtBIK4ILFnTSnEbI/CuV2zoHCNxrNL23WpPtnFCQPcQUnTHKXAmxkcohRTt+jYuhgOd5iDtiwAcpLchdQk8ArpmO24DeqPm6spfVFwGNMxn4rTrx3Gb07NycytBCFYYxM21TdHNtnIoCNDitS2xjBXhNE6ItSueH4XuIaQQiJOieGWeaVNx4xfU+w/KVgTgoLwJqUcoENAFoDhp96HBRPRrp5cUF8GHD+bD+yYMSOKm0W1g87vEAmw0h5geCNlAYPGaFtq6Mx6xEUCvSitsXF5xLU7jJeiVRISYGHYKkTjFimhw+B7QPkQpBBT8SyIA+4e9PDmECJgW4PgwN05ubeoVxiGq4xaLmdUjXtd1I+pbzwTgmEWCXmlZgFUbwFYEYKAgKdYIWMTvO0AExj+OkY8btZgAFhQdfxLwpwOK2Ow0bmrNCsGc4DjwC4rmlRYGap9v42QJV7T//N6D9LkbD9BvHzyoTvm2FQHYN+jlwWFEIK5BsJy0+uodxkGTyef/9uuRoKQlBCsMsI2LKzhoReKDe1w8AUC7JEHACQEV/TlOli6FhZPFa7sEyFMQxWbb6KQMidF88AYHDNAI4ughsmB1C6F/fHBOMyDwNYkA7Cv88vAwIaALv6j3thh14lwA7scsn3GYD82tncCg7jDTArxzL1pGfBJncMQCHJ93L5Q6I4D5v7gat+8BHjIbmuw9o2KCBV67pHYEnJQhW3fZt5H22yK1Wc28pDhxWD6Rn4vqMWjNN5XOa7pFAPYacXleaBFAND+98nEa0LkL9OEDTMEvHhZgM7pp30yC4Aatt4k4uXaBbs7gxOmbAP2SBAE7BBavaWPw48ToAweuEMM5lQ4cIgIDrI5lG0UETJq44ly/umtv2zein4vaPowmaPeKrkwdUa+0yTvFyWvsrfUmD6Vw8WsrArBfyMtzQ4cA11zFyb2NCzoj+5udeBwEYO7u27eeKHmY2YzjYAlXFDfazG3auktdla0gEF8EFq1pY/R27yNCAMG4IMHHCU63KMg4ItE+bmBBEnVqIzk/XifQ2m9gAbD620ybatoTfUWABUX2T3nGZA8C8CMCcABeglQhHAis3drG1KjaxmW+IzS1CACl6MaWRz+OQ4ATPge4bz3mAJuKgDhZgBtt5jZhWQdE/kQbkSQIxBEBzHXV3YB53xllTBoZw89pFQGYIxLdYyh+uNFApxbfiX4cxX0+RvYHz8CU5lFaOaLQO1y2LljCvgjAhd6YXBcE2hHQI0DjVBysnqCTuzEN7pWgHklT8It6MIf9B4k27TA7b7hAcwswBEBgFofELeKKZlnuRCEh2zgisIQxeXES+jjDz99/nJh9Tnvcjp3GB4VDHCIgNzIvKViAUzlxQ0y+QuETxe3SdaYRyW8aXRaA/SZHni8IVA8BPgcYT4qDG/SKDWYH3b9nm/DbrQsQ6Ey79nXuR21v1Waz48ZABhq5AByHQR10I/HBHeeQ4uQGDnolCQI6Aovb3Z/VuW0xmhbAlaXD+raNFR1YSCRoBUXktyvyuD+D+DgohvgYmV05IqYWYBgRCilF0C68TCIAu4m2lBVpBFbZRPOLg+svD+M/oF0ATjJNZpSDOazaYioBEAEajT1TZzJ4UbeEg2aVVtq4QOOaWICBgqS4IpAjAMdE6EOAq83MSyZ3qozZj8a1jcSBbi78cZqjzC8oWvkYCcV5Dt8Ug2BgwGMZC4A1qJfJOyGP10kEYK8Rj/Dzokza+m32A3cconwu5xbgHm0dV5JpMqOs0V3JXJn6ZDpbe9fazn3sgRHENsqpxTKINzBMFL1x8IpQtMpWEOAILGyPAK3Ox2GMAK3c4jfQUpSmu7eNFbiOFCdrOOiNc+LtAVOndDyiHgRr7dZW0iNAp7tTdtUIvnJElPkm/X0vWWvy0DyQqp7Xq30RgL1CWp4TagTs3J9BkNZ54TCSiYeuH9CjjcwUE4CjPL9rJbP+IwBWGwqIBG0yeXGYB4zvAUKwwkDfxuGb0OmVfUFAIYDgVzy4T1wUQjwAFqxdfIyQvkG1lOhveXvgAg//TqKGCI8ADfdn0MgNB1Hmm0CvSsvY/N+R/f0XP/2vgUJHtoJAgBGANs+uelEf0Ddtb6V9Bzopx7xfFQArabhAE0U5KNgqNgdYuUADGa7RjYNrV6OD+zPw2LYbv5IEgfghYLfMR1ysng1szmdWAGYW4CiPEfFr7fkp5kFDcwTgiC//w8dIfA9AjPNNcVk5ggfAOpwtpQlsvE4iAHuNuDwvlAisdXCBjvpSSCvYshb6vA249OgvM8odOV/OQQ1moD8JSzh22lMcAmFxl/B20rObOCgAsoTKjyDAEOBufrgclznxjWxKxICeRHyMiPp4ifftlOLiCQD6l6xtwaYjwWOqnq0cEfX4KTnfg8PUsSjzTaoBwBWcB1M9XCzACh7ZCgLBRmDNFrNDV7WN+qC2wkarr2iv62a6/kaVuYEmGx24ohtMHSzh6jjJLOFxEAD5/F+FBbZxmfMIWiUJAjoCi1bnjhNRHyMU/SuYsrR/fYKSTDkYdY8phYXd9vkFuW3DLl8UzjXYtYVuJmVRbwtcAFZeY/ybiMOqCctZAKxe6dy+wWwd3hyJBdgbnOUpIUcAQpAdCVF36eLzeBDYROGQ6q722rZRFfxW8wjQ7ZrcNqoxB1jttW137m3bRvm3MY8LdBwGdPZuOw6j+g10ECg7eRHgli9kjqpiELSptGtvK3FBv3cmQSnmAr1lpxkIR90f9S3mhvMouFGmmQvA8AbgbSHqvNNKNkYqr7F6tnJEHL6JZevN735Ib9N44te3IAKwX8jLc0OFAIL+2FU46vO7nCJAAwuuyYyqRpcPZH0txg70q1THNNtRH9gR/Golc3dUWGAbF5dP0MrT3OXxsfJ00p6798LC5tyTET+Db2KvFi9BkbtrXysdijgc3PqrIv4iQr7uLQNMdu3Db7zSvJUtFAdBR73VBuY5Busn2kGtJnEgtkhUvwvEjNG9xlKWsUDnl4CFwgpbu34D56OSuGJQn0rnJ41ac/SzGvJsQSC4CGza0UoHD9nXrynigRx48CfDAsxcf6M6pyfHAlxvai+TDIedFsNr31qicRbeEDrjclhXk66oKkJMKu2P5r4lAjCQeeDliEt8IFKl9q1dAKz2SxT1aQENzOV1QM/OPjLFrMBx9JKYv6rFspCr1hD9bSNTkKr2kGZtIarKUijD9LesrL/qHOcZov5NLFsnFmD17mUrCIQKgTXMBVav/GZLONaPo7S/anOrsY5dpo6ou2btTLL5XVG1fPLBHAE99Pec1DDB+ai7APMloYb16WR2Qf/+g2REDse5uKRZS0QAxjJgr65ooSj3jXbtedEa53cfZQEYWDRwi582TYQvhcRdpXF/1FOcLMCw7G7c3inwJKzhARZgvGPOM0RVWdrA3Z+50pzxDFEWgKEsX8H6hyGMZ0Db8COJBdgP1OWZoUIA7ixOFcbHHVX3Fd5pcS1milk+oyoAQxGgv/9+9foRUR3DAQKAmSNaR418cLeYXbU0lqI06gy/olPfgmYwdFH9DnRa8+0/N7+FWi3+F3jkyxe1a0vWWEQ7ENW0y+FCRE43MIufPlakmKIU30hEyAYZBdOe/USIgAtrJ76LgjeEPMPyDaYiqJ8l/EEIBlm8LURVWdyY53sADnXsm4iq9xxoXWG1B/DJ2EcCr9CdeY3hvB9JBGA/UJdnhgqBfAIwCInqgN7A3Np092fQjU7cUu5iN5t276Ms45s9iMgPlBv6++1i9Zg9UzrVRNwCHPVlkHi76GcJwOnu5gvXMTOvRPdI4bJlR3RpLIay6Qva3J+37iwmdzTygMFbxiKd6pRB+NGPo7a/YoMp/A/o0Ukhd4Fu2tN5LQ57sP6CTgi/0WsHoMxM+YQ/3haiqizkwUN1hRDQSjGleZSXQlrK3J8HByQAFt6Dxc5hI0kQEAScEHAKgKXyR5XZ50wN78QhBkIIVjhgGzX3thWW9hJ0qcTdn3Geu3VF2Z0J9OYwOJaGP5UjACNnvFJDu5vX5phGusXbhvfD6w1tFqAtu0yhCNejmmD1ghDsRF/U+kWdTtCG967OIcCPriRMMWtXVMdLRT/fYv6vOrc1Bn1DPs8xPlaGXgBWL5ZtOQZQEutZON+0I8JKoaXr2sYDRb8IwAoJ2QoCIUAAQX/0auZ24vrV6Ow3MldXbgEGpWkW1CJq1k8eAIsrAYBBkmlzd1qWcJyPalq12RzQgAlvB1FlbPK904Z2j4k4RXvleLywsIUQJRznIRhhG4e0ZG1+YT/KQh+PCYD+QH/nabbsS9z6hgWrOvvLbbt1ZKK5zwNADejZSWfuONF5LSp7WPJKV4YlLQUQVwKlOM+wN3//EVRsiqnXsoAugYS6iwUYKEgSBPIg8BZzbRve1/xsosjooQNftdnslAdokT0VXHwJoKgxenww75NRlHduERgM1nB1Bmtiwt1NHUdpC2UQglwpmtKW5Rf0cwtwFL8JRbPTdkW7AIyo8U55on7+2Xlt7s+gM06KgMUsAJZaBgg4IG2N8BzgFcz9mQvAfIpIHNZFxjtHarZkX10AjkNgONUPgn4kzAHGFim3LZg8BvKEPXH6+fcA+nJwiOhqIuCDlnELcC+dWwIa/iWTky+5HnKDIBBtBHggFyz50o8FQYqa0Ic3uqLdnRP7SL3TCdLX8KP2f1yTGTXt/qotFgfTTis2di7Q6M4hBOK6SlHDQdHlNLeJt4MofhMKA6dtQ/s3Ewcm1w4DuMG+1u7+jOu878S5qCa+BNK4IegVOqmN8txP7inEGf4U8xKKU9+wdG2LsZJC1L8J9AG6mzd4hr6Zzm8B1tDOr4IoisGfCn0PoJ/jEFUX6BWWUhjGFNCMlKlLUMpSmmM/CEkE4EregtwbeQTWbTU1lOjMU2xAjyJzwwUdO/dnvPwU68yi1pFzF+h+9Z2DOehXKcXaxM696kq0tiuZ+/OAHm14wBKsUxq3QDdY9gPLfwCDqDO5oNEu6e7PuB5lqyfoUwkeEdwKOm6IyVpFWehrsJhchQW23FOI9w1RVQ6Cdp70+b+4FnXPmEab6McqAjTo5+NkFONlcK8xNUaCfpU4DlAcqGtR2nLr7xA9AFYb6+AruWYv7WtV5OFhQyAO9eUBsHpb2szUYSblUVziYnmOW5tJszrimswoMTeYy5gjALcLfIp+teWu4FHCQdGILWd2lUWcD+hRZ/SAhZ707yWuLtDPze90fwY2cXGBXmJZ+UCvSrCA9mKR4qMcEXsZmyLUn83aeBkAABAASURBVHlI8TEiiuOlevd8O2+lqUDfEvHI6FwRxBXGOW1ht4kPxy+Mx3yM5BiAJs4vRHVaAO8bB/UC9e0pAK9eBOD2dyEbQcAOAS4A9U4TtTP7HdmjaAFuaHfnVET2t5n/i2tJFswhSpYOKD8gBINOJKxfh2WQsM8Tn9MTNUu4otdOw49rOUqhCDI2oNMp6d9LHJdBggXj1RXmdIG4KEH4/N8hfRKEKK+6gWPXvlbSXQGd2lHYzkPJoTwfUHdEgK5P6pQTpZl3TBTHS9Bul95oNL+JqHuHNLDAmVAG6bikGL8QRRfo5WzlCI4B8EgyI0pUl0FaFuAlkPAeRAAGCpIEAQcE+BrAfdIJa0A3M0dJ6FOUYe6G2sc2140HZ4lyOvIIhfPn7r79mGWjDYG23zo2sEd1QOODu3J3TDNX+DhEO217822/DZobKKz/CH7TdiUev9z9GVRD4AMW2I9yWswiQA/tnaCERXC6zvrR/qKoENDbPUi1myqDeaCInYHrSAiMA4UJ9qOcwDtwF18oDKJMM5861b+HSW3dYZT9Nqj9H9oB2kP7Yeg3PAI0LL0pNjaCyCTjF6LYN+C9cu+QIC2BhPcgAjBQkCQIOCCAqLf6pT6ZhCUAg73pPBs1LeaufUQ8kE9/B9ffXI1uAPxaOl9NRXurWRRsYy0/VnLqMPMEBnbzTPiP+OCOgR0DPChDcAtsVdoeOwuw2e7596Nwiep2+gLT/VnRuS3C0Y8VjXYWYFzLxMDy2cgtfg6eQinG8EfVQwbvXaV5K03rL85HUdABXSoVUoiAc0pqAiGEJK4kUGWFcdvI5kArBTGnpWstEZI6D2XhgUPqKBpbrCKC+AiKGvAL9XVoAe1ntN32M55vajx/ojxQEAgRAqtY0B/MAc5EXLPfwNyf7bT66hWmmOAXJWXASi4AOwTAAhZ13czePIoMnj64g+Z+DI+6bjjbmeIkBPN+Ik4CMJb9mrMsl9lHS4i6xQvMO1eSqkAvYPiAgUpRVAY0aJ4PoNNJUZrrIWIqjHBv1JKdAAwhZ7elYI4araAH/b3u8QEBr1faHBeRL8WUIVEKmNjIFUIOhgPgwK3AOna4Hva0lC1/pPrFDroC0AWIANzxNmRHEDARQIe+90DnOcz/VAM5X/YmSm7QPJCFE1MDZJI5AnAAejVUzIXEBWBY/52K5ThE0QW60OCezrF4OaEV+vMGAassRQkYW/1knAJhvbDIXvgFHlEXgHPcn/t0Mvz8e4ji/E8uADtPlenEBe0iSuMl6LFLPAK0yhPVb4JPm3LymOJjJfgshU3Yt/x76M+UxDp9XGEcNaX5EjY1ZHAvsw/QsfBrXwRgv5CX5wYeAQRB0iupIt7iXJprMXfjbDRSA7MAO7nxgNpkDg7REYAbGQ798s0BZtbPqA1meNcN3NrDBndu8YoDkwtcVrB2gnObd0bnOwA9ZjKPprPoz/rVKAp9On057s+9O5m8tObqiXui+D3wtu+kLM3tG4BIdNOe/UR8ORxFbVS/iZzxwcH6mWsBjk5f2chcoJ2UAGgLyQgbD0AftwAP0vpGXA9CEgE4CG9B6hBIBBDEQq+YbgHMHdCj04mvYIKOk1Yf2CDqJ4KcYB8Jc1kw+GM/zAlztXTrP+jM6PNXGHFJpgiIogWYM3R8cOeMTVyivTay7wVNIy6RoPGtz13ubAGOJLOPF9yeFrMlkIZqFuAU94jYFZ0xAuRv3N5KegRoWLS40I98SCnG7EdRGQA6VXqjwfmbiKoFuJG5/zrxDUnWFqKkLF7JMHBSCKGdpDjPsCda/cMS1jfmuEADBJ+TCMA+vwB5fHAR4HO7+mQ665pmzE2UBnQuAA/U127rhKBjj2MRhQBQfPmrfAMZgOCDehQwAF16Wsnmw3MGh0e93R4hrwgdB77fwLT+uL4lYsIOaLJLLyxsJn2pMJ4nivNedRoXrzGZViyBpK5nWKyIqKz1qehrZO0+n6cQHyMwd1qVE8Wtk/szaI2qYrDY9pBmnhFRmfu6yVII6UrzfAohtAM9GBiOd+zFbzTSmi2tpAfAAn+EZSSDRp0IwEF7I1KfwCDAhaDeWkCHFOvEo7LsC4L3IKiNegmwfBbquNC5qfzYRmGA54N530ynayNo5AmDnX4uSsHAQBcGd1j7sI+EdsG/Aa7Rjrr1DzggrWDrPuIc8MI26uk55v58+ADzO4mqtQvvFe8YniLYR0LQn37atIA0U5JGTSnC230+JWHuGAHEQpmKqvSbNhGg1Y1R9Q7hLq/9HKYM1THLZ1SMB9xwkO97QFtI5kybMpVpyBPWtIQFwBoUwPm/wFYEYKAgSRCwQYC7QCMCtMqWYm48OiOk8oRxy+fx5NPqK/o4cxMFlyYENlL0YavP/8YxT0k2qEfNwsGtnHYDWpophaLC2PB3rR/D5Z8rynA9DnOAoRCZvdR09TxprMlSRFkJkuP+3NcU/rmCKCpjBNo3ElcS5mP4U0wZEOW+AWuAL1ptfhfAS6VwfxOKCnMLRZfuDg8Fac+U+T2oOzjvFBVlcSnuz8CCKwKiYgkHbUtZAKwguj+jnuZohTOSBAFBIIvA2m2mRq6v5gKdYfNBoyLwNLA5LNzNNQsM+0kz5iYKWKzeYjIw/XswotkhrD9dajtPQjDSXYA6r4RzbxVzf+5vE+AkzQTgKA3oTm9t5eZWwlqW/PrWGATBgvuzTnc/y/o5aoDJUkQZhyWMyRumzf8FLnwd4Kgw+qANaSV3gbbpE5APifcNURgjQJddWrymhSAE213DuSgKwFwZkk9xngqzshgv0CFhLNAvFeKdUsyIsjNCLtBvrTf5p8EBDICFd2WOVjgjSRAQBAjWDX2QxhJIutCbZJ1XVAa1FRtMod9O0OHNg7vyREG7zwf0PgVcoIFJspup8Y4CDqALiXsGQNjBeT0lGWMT9fmfoH2FjfszzmNZpKgrALj78+ThCTqsK5EeFA9z4tCXApOopYXMyseZvDprjEhoRGM8gWJMOxXq3WWMyc0n9CQtLHRit+7Sj6K1z9f/5davqPAK+lvj/WA+voG3hShMmQIW3AWaB4lEHj2FkV/Q659vn3vHBHEJJNS/Bj+SBAFBwESAW7x092fkTDOrZ1QCnPBOPB9TAxyQkgyLsFs6Dh4i2tDUqQiosbjYQi7QWRwYkxelSNBcIWDH4KSYBThKCgC8X7vEFQN6nqjO9QONEGrnvGVq+ScPb2Mn6pPWB4NM7SmKDD9IW8KinOoRoHEdKPBvIirMPgJE6sI86ORxEICBSimmHINyyM5zQuUP85YHwJrU/l0omrbuVHvR2RYzPihqU3yc3KOuhHvbyJbDs1MS6xRyRUBUgmChb9i9r5PS7pZStJcWP6fziv97bSNW0fWQjIJAPBDg83+5BZB34lFh9rkmt5AbD1oDxwLMDc6HNa3a3Cn8ggZ03hCCsZ8vweKjX4/CXGhFD28X/WxcwtOMyY3KN6EwsNs2MKZHzxPlecBwf9ajP6N/VEqRDIt+HEU3aPQRUAKo940+0C5YYIZNlYnKPOBGtvRXoXECXgFghBVeEH6jpCBUdGE7b6U5fowfAlUIrrSlXfvM621nw/2bozjP4w6fYgrzKIwTCIgHbxf1FjEHOsP6QXVNbXME4Igsg8SDoXHPGEV/ELYiAJfyFiRvbBBYs9UcpHqnTdJ5Jx4FzT5C1+tafWj0U8yqZ6LQdsQ78tALwGz+b1+HaJZt1Hf+cpemqCyFhMjgfHCvZ4w9UOjejXLcX/X2hDxRS5zx0+lDYBj9OEr70xc0G+RMHZHoOOZzX6MW/RiE5lh/WQAs5EHi/WdUpgXwWBFK+QGanVKKCT5RXCYNihG4uisMMCUAlkCuHFnP4ouo/GHdckVgfxsFqaINyhDgoo4xRujKJHU+TNsGNh9+YBFRj5NMYay3mzDRzuu6bJ3JOwfV/Rn1FgEYKEgqCoE4ZSpkAYZwiI5cYYIIiOjI1XEYt3wQs4v0a0dXinXkYXeBBhOj09mviPm/yJ/krl0RCWrB3dvyucXzthBlIRDfvO4qjzagJygO9OOo7INZnevg/gwa08zyERWrJ2hTadEa0/17aG97VopPlYmCohQYNDALcP88Fj/kR0qx/jEKlj/Qpad5bPmjw/u3tQtuDYySUgh9IPpChUOb9bNTIabO69tkDs9gCk163jDsN7LgocV8D8BJ5yGhZA47D4l3xZWDYgEGKpIEgRAhwAXg3ulETu1TrBMPO7PPrVmF3NoUIEnG2GzfHe7BjEdz7FuffzB3wiEqGl0e7TXf4J5mHgNRYfjVO9a3DXncn5Evqi7QMxY1k86o6e7PoJtbgKM453HxGrOPG8IiQAMHpJzvYZd5H/KEMTWUIwAzC3BTRFw+9ffHBeDh7Z4BGeYxE6VpAY3M+lmM4jwVNZ6BYdC/aJ7B5C3C7j2Hb4ErBwcFNAI06tqmnsKeJE8ROHjwEN3136fohLM+QrU9j6dE/bHUa9hZ9PXvXk87du62rUtzcwvdcc8TNP6Y92Tz454h486n391wO+3du5/4v9bWVpo+4xU66eyPduTP94xS8/PnRemYu0D30ZZAUnRy5ibsGm3O1JiWPkV17pa7toU9mMNqNge4XxHWDaBSx6JAR2VZg8YStNspJgBH0c0R7xqJu71hKSycVynsCjFFB99y9+cjR5psRD2zAEcxCBZf5oMHwFKYccEnKgqhVWxZtGLGCt43RClGgnrfC1aZngEj+rcJOBn2TUTFFR50NzBFYD4FKfIj8bYQdq+xUpTEoF8lrggIO8+waUcr6QGwYOXuW6QHncLEy605cnn55Bg/a9++A/SBj3+L3nvl12nOqwtp0MC+1KtnPTVt30k//80tdOkHv0rbd5jrBEBg/syXr6UrrrqGtm7bQVe+/0K6/NJzaFvTDrr6q9fRp7/4E0MIhjB73W9vpTPO/xS9Pm9JNi/u6dq1S/YZ513yBdqydXvHWyg1f8eNEdyxdBOkC7MIgGS3qHuSMfvb7PUWoUFoOVvSpZiBDMRxCzDmvlq6F1wKZWpgAl+2Ay+CkmQ3M1MUtLmgqIFptzGnDeftUqp7G8OnrkWF4Vf06NsGZgUbNdCkffMOPXc09uH+PGdZi0HMpGEm3Wlm7YqaImDZuhbCMlcKBATJq2PfvrrGGdwmc1hX2UK1RawInf6M9b71AFdOxHAsouYaD4+f1Vs6LfzgG5RiJM36xSh5h/B+sBjPsSRTFod9rMzlnZy+AvM8D5yp851mznAchcn9GYiKAAwUPE7NLc2USCTor7//Du1Y+xytXvQwbWl8im77+/9RTU0NPfXsbLrtrseNWt1939P0l5vvpbNOP5YWzb2b/nHDD+j2m6+lhXPuojFHDKdbb3uY7nvouY57Zr78Jn3nx3/KXnvjpduyeXHP0tfupbPPPJ5emv1G1nKsbig1v7oviltu8eJLICmaoxT1Fi6N+uANGovR6iMf2F+dAYTwG9YBbeP2VoLsXMd+AAAQAElEQVQCBHQhQYPJBXyct0t8MIMiwC5f2M4tX99Cep375wlwkmaubWEf0HW6+X4Ds3yMHmgOp1FichXtLxZwf0a+DLN2Rc0CvIi5Pw/N4+LHBZ8oYMHbfb7+AO1BJa4ci1rf8GajqRiC8AshGPRnmLI8Cu0AdCFxBWn/IjymuDIkzG0BVk/M3wUWSOAZMpZSCPuFElcEQIlS6J4gX18WogBYwNEcsXFGUtURSCXr6I5//JQ+fuW7Cft4YCKRoPe8+2y65J1n4pBefmV+dosfWIxvve2hrND8tS9dSb171eN0No0YNoi+d80ns/t33fckHYIkYx39587H6MCBg3T1Z95Ho0cNs860/fWoT9P3r/kUdelSSw89+kLWgowrpebHPVFNfP5vHxYBWtGdYoNamDXacOGB4Kpog8UbHbk6LrRNHQYxuDNXWF2aVjH354FFRHNUVCcZBlFw8QOjxgf3HmydV0U/tilm6YjI+tggLSfxOfOHD2DfQMjnwucQbJ14Lk/0Z+ty9i/D2sCWndnTkfnhVg6n+b8gOM3HiAi0CS7wFGPxAxYprhzbg7PRSfPY8kcj+nX2B2mmFAozr8DfGF8irxgBOMn6iLDyC8ACvBO2Kg3s2fne1TmnbZJ9E2GfPhamJZDwTkQABgoBSRBKU5ZwzKuzdv0meuX1RXT4iMF01NTx/DJNnnAEZdJJWri4IetGDbfol2a/mT132knTcvLDYjx86EBa3rCa1m/YkhWCS8mfU2DETvD5v44WYNaJh5nZX8GsWQN6lvZSczrykAY44QGw8rn7coSSzA0yCutc8vU+CzE3Kcbwh1mzz9+vfgzr/tadne6Olv6SEPikB1MOrI/EcidtlNu5P08eXtN2UftNWm1AZwGBVbteVssV3t3FPAK0QwAsUJhmY0QU5n6W2icABySORdT6hnls/u9wTQDmFsGoKIVgLNC/bXiC8TEA754nrgwJq8cY6Mr1iNB7P+RwTpxvCjMOoHIx844JcgRo1Dd39MJZSb4ggEBWGzZuzT77uKMnZbf4gUC7Y8duGjZ0AKVsepf+/XoT5hBv3bY9G0ALFuONm7Zmz+EaytATykBZCLaFecCl5tfLiuI+OnWdrj4Ok/j5qwjzgL6CzWcsVquvcEoy62dYsVjNgrsUGwEaOHAMomABbtzUKeSBxkIBwTiTGyVLB+hXacUGhkt9giAE1ydVjrZtlNygX1rcTDqzi37RTiGSsEjPZfhNvKws4fnTarr/IJHeV+Kd52PyoqgMaNhkuvratQENso7dJLN2hX21gA7CrB3MiV661sRleN9O9jrDLMDwrLFuC/0fHx+KtX5GqS1wDAqNkfpLTzK+Kcw8AxTCOt+HoJDFxk/RMfFyv/ML9fKp8ixbBOa8uoCeeX4ODRncn95x9okdedau20R79u6jLl26WEwW2IuOS9kdBLZKWxZgCMkQlmEx3rylycpfm51TnM2k/XSp7UIpy9IMd+ly8mtFRXKXW4D7pBO2dKa6m+f1j9/2hgCfXMECYA0owY0HZKUsqw+2KoXVpSnHAuyg/FB06ls+B3jXvlbS3cr1vGHZb+TMriXo5as7bwdh/iby0dngoDCqZ3O/orQWMI/+PHWE2f/peHGXz6gw/HDx079pCH9g9HTa9X0gFPZvQqcHtOe0/SLHCq4cC7PHlI4J9hetbqFmTf6F51BSE/gzVr+AtoC8SOgXgSX2w5waNmpEW4T0L7ItpJjg1xRid/iVTEmMPsGCoqg/vY3ghjBbgJey+b9YDgsKQtAV1FQT1IrFrV6I+vyDn/6lbd7u/7yPRg4flAPBkEH9soIrv9C9ezfq17cnP+1oMUb+vn0qz5/zQIcTs+fOpzClxg0HDEq2b11LS5atzElbNq438q3dvC9UdOrvZMlqk+a92zfk0GuHgTq3b88OA4sFyzaEEovl60wcdjWtKxqHpVYb6dbFZAienbkolDiotjFvhRm29uDuTXnx2LhurdEONjUdCjX9Coec7YItBp21zduzuDQfMCe8vrpwfSTof37WQpq1pNmgOU3OfURNyz4j76zXV0YChydmrTPoynTdnX3vqh+023atsczG2l0vzHkrtFg8PH2podRLdWumhobcsdEOh7WrV2ooECHgz6zg8wZFvatHZ5q8QI/DzHax1BobDuvaOTZA+H3qxcVFlZ3T9wQIs7mLmox3Svu3Ffwe0DY2bjC/o43b9ocWi6XrDhkY7HLgF0E3T9u2bDLuXbV+Z2hxeGau+Q0ka3flbQsG4T4diADsE/D6Y5st1eHv/nx7NvozIjR/+mOX2lp611iW4N179uq3ZvexRNJuffGt7FmiVas3kN15WH7tyik1f/tjIrU51JKgHfu6dNAEDVbaGuQ7Tmg73bUBDad376/FJnTpQHMNNe3VaLYo6FFndurWqbx/3Zngt/tA+LA4cKjG5t2XhsNhtZ1MDgDbeyDcXeyGHZoZwyKoULvo3tUUknZZ30Q0nF8t4rW/DTvMCd8927+XJOsTtu8N33egkdmxu2hD0rJwddqwMt0PkaK5I5O2U8fawc590cBhdZP5PfRJmcKtBkHHbh1rEzutb6LjYsh2Nuy0b/fFknGYNk6gX9gTYix0mlduNV2g+qdNRSry8m8CfSPOBzvlr91G3h6SxY2X3buY40RYeSfwiuAbFEpdalop6cAvqjz6Vv8ecH5PCPkm1Btp7Xazb+ydLNw34j4/U7i5Mz+Rc+nZrZYq8Je/+2d2yaJjj5pIN//p+4RIzXrxvXrWZ92ZDx06ZGlfMWzoV4k65vD2qqcB/foQ8tfXp+jQoWZqaTEZcty5b/9+got0Xd1hNHBA35Lzo4xS0vHHTKKwpEHDJxik9U4naNyY4TR2dG6aOn6IkXeX1Xlh7nZYaFX17DVonEEH5rCMHzPMlmY7HHBuxJBeRhl16d6heecKh35DGQ71zu8eNNulHumuBg4jRo0OHQ4Kj7HjJ9Leg51DRK21e/SkIXnbxXjrW9HXBEVvNWHCxNBioLDg2/W7uhvv+ajx/bK4jBpmetZ0TfaJBO1r9gw26D12dLcsvXbfAM4NHZA28tf3HhQJHDbvzRh0HT2+T14cgEX/XnWk/+s/cHhoseiSNse8wwfXFaQfGKiUSZqKkMNHjwstFnqfsGq7Ofn/hEl9c3Dp06Ob3gxo0NBRoaYdvM6m3SZNx08emEO3evf6dtK4YdSpTiPabymfj54WQD6xAO/aa+AY8532rimKfoXFhCMGGvc3J7qHtk1s3mv2+UePz/0GFN3YGoT7dFDj03PlsRYCEH5/9ft/0de/ez1NmjCK7vrnz2jokP7WFfOvT+8eVJ9JOVp0N27amo3kPMgSZhHgCnl79+qRPYdrZmmUtQrD2gtBW5VdSn5eXpSO1241FQa9zW/aIBUCgcHsW9x+GCP/NrD5jKXMYVGAJPmcnhAu98GXQColAFYHDiY/QDtDPLepkc1tKjYwWqq7ztoQRWmuH97zlp2ttO8A9toS+gEVKb6eRYGOwhxgBH6atdS02NhFf25Do+0Xcx7b9tp+gVnbXnh/EQV77Vark28nAe99UBFzHtPd229o32wLYd/YXnVqrHCsSB2mSmrbYi5s2154fzF+om0oCpIWjao/UOew5d9E2OfFr97SSpaNBaRlU8bS83Trkt0t6ofHCdgewpUjVrIxslTeqY7xTUHDoKgXaWWCA+qm7WbfWCoWVjGe/4kA7DnkbQ+E8PuHv9xJX/vO9Vnh96G7fksjhg1qu8h+Bw7oQ6NGDqWVq9fT0rfMeTTI+vxLr9HOXXvohOMmU88emWyaMG5k9ty8hW8hi5FefWMRrWhcS0dOHksQmnta95SS3ygsYgc8AJbdQKaTHAVmv9IAWMCDMzY7Qij45QTAqgdlpSU+oIVRIaIo5gJw/x6mYKvy8W2KMfxRYHJ1GsHw6sd6wLh6iwnUr0VB8HtxUbPB6PbJJKhQW+BCX9iZfbzThatN5SiiP2OKDK7lS+k687sJ81JI5UaAVvikmHIsrAy/ogfbeSvNdjGyfw1O56QM6xfD3jc0bjLpLtQncEBSXPjbzXME/7jS7wEGFL13gCKltVOODD4A7TXkfWMYAmCh6vZfKq5kk/xUAwEl/H7xa78gCJ75hF88v1fPerrwvFMJLs3fv/ZGQsAsnEdatnwVXf+n26hbt670wcvPo0QikXWXvuzdb8dl+sG1f6HGVeuy+/jZum0H/fw3t2Rdqa/64DsJbtBdutRSKflRTlSTruEHjU4RoHENKcUGtTAy+zkMfQ9QVlpKHWbmDyNj44oFmOGAQC8mMuE5amQRPuEaX0zt04zJDbPFy47eFQwX3TLOLcAbNa24XVlhOPfcApPRzRf9WdGTYULfVjM2mMoWqu1ivv5vb511dSYlzcaIsH4PYMx5HzmwCAu4jgwfJ6LgHcIF4OF97dtFzjexK4SSjvYyc/kGe7q1W4xdWMr1E00htAA3cgtwfWkYgH7OQ4axf1i6zhwjoBwEbUFPIgDne0NVurZoSQN97yd/zs7PXbtuM5127ido+MQLjTT+mPdko8GpKnz5cx8gBMh66tnZNGbaJfSRT3+PLn7//6OJx703axX+0bc/QyceN0Vlp/e8+230yasuyV6bcOxldMVV12TTEVPfTc9Mn5O9hjzqBuyXkl/dF7VtqRbgNNNihlEAfmuDORDrDH2x7zfJcAijxWf1lhaD3H5lDGbJbuYAuCM3Zp3xjCAf5AzuRSpGosjk6u+JM379NSEAS+J019zgm60mFWYlSNb9mUV/njS8MNuQ4ZbwkDP7eP+L11ovEzvtaUgf81tvP52zSXOFUEixQLuHEKwI7JVOENzAqYR/nNkP43jJyZ2/ymwXI/rZt4s0U4Rs3cVLCtcx2oNe45ItwOy7CKPSfPl68933L3KM1HHjvFMYveeWsiWQBvey/wZ0uoOwX3gkC0ItI1aHmpoay0rbNlliW9OO7NxezMnVE8KlY11fav+H+br3/Os6+tqXriREfb7lPw/RfQ89R8dMm0DPPXIjffWLH85af9uzU9euXei3P/sKXX/dV6mXZUG+454nCGlA/950+83X0p9+fU02T778+fKr+6K2zbUA56eQD+hhc2+DoLprb6cAXGv1CIXcvu0QOawrGcwQ5gaBebbLG8RziBWX6wKdKLmqyShZgMvUbnNGLwpMrt4QOOPHFUb1zPq5OcTWzxcXNxO+ZUU/3J85veqavk13N7+dbZbQpwtPet6w7M9f1dlPos7FCsC5Y4RZDsoKQ+LunsW0A05XFBTGOk1Qbq3f1vk+u9QSOVm/Mqxf2Lqz8z69zLDsN1boAs3Hyu0hc4HG+9urxYLA/GfuAVTMu+Q4oE0Vc1+Q8iwVC3CQXkew6zJuzAja8Nbj1LpjjmNq2f4yvf2s4w1CENzqZz+8mrateqbjvpee+judfsrRhvCrboJ78xc+fQWtWfxIR/5Fc++myy89sgAXXwAAEABJREFUh2oh6aiM7dtS87ffFpkNhCDNZTFLVyFhMM20umFj9jkzX6pLWxak9p8kswKHSaO7vqmV8P7bSaGMZcHCgKaOi93WcQE4pBbgnZZSRG/L6C4KfQsKoxQTfvRyVJ4wb99iWv8BTOtfb7Udnb4wB8KaPt+0cEwdYQq2Op36PtpLUvsWIPyG0bVP0YR3uF0LXgWFX99McVik2fewLWSMvsKgMScAlrpS/DbJxsvtIYwVoVP72grz+xjaJ0E1Ds0CYwpp/6B81g5DtYvvuZEpSPVYCMUQkwoxvwD6KqUfZSAlGQ5hixuCAFi6Egh9f/8i44WAfj+TZe/x8/HybEEgOAis3mJqZHumEo6DGbX/Czuz7xwAq53AEjYpjeHFbTrDiOMgJ279LScCNOjLcYEO4bwm0MEVI6W4g/N2EFaGHzjwtM6y9ugWUShJuNafH28JqaUHHhwvLzOjPxfj/qwwyzDBDxYTdS1s2xz35yLn/4LOlCX06TIRlEsQIHAtTIn3CeUwuVGzAPP5v07uz3jPPViE+LD2C6AFwp/ehkEb+kJcKzbxcSJMCnPQ2MAUAKWMkbhfpaQ2ZQbnwqYUWsKmhkARAiEYtAQ9iQAc9Dck9fMMgbUWc6s/rE9GP7LfT1vMjX4lbJ0XBjK9/ui89ONS9pNMAA7T/NfVm01Nfr8y5v8CK44BmF2cD1uqpF1kmKtflCzA3Ao20GauU33SfNthZXRnLWkmCMGKGjB4A0rQ7GeYJTzMcx6XrDWVo8McAh0prPQthF8IweocBAe4hKvjsGwbK3R5BZ06DjgOo7sn6q0Sd4sf2c+ZpYZQgKi/6l4o0vTpR+p8GLYrWVsY0LP0Wue2hdLL8POOXAzwpZdeI45D2HiGZcwjakgJysHS0XL3Duev1d3nSGmCQOARWMOCIPVOF+7Q0szKETY3v1lLTcGvFAaXv1CORZgEH24BBrPP6SvmOFcALuau4OXhg3speHDNfpjaQaE3kS8CtLq3nikA4D6rroVp+xxzf548vHB/qNOXYTiEUehT9PAI0KUyebxvDJtXxIFDRNxDCkudKHyK3aZyxsti7wxevn0HiJYw61chxQhfEiusSqEVzB2+HL4hxVx/wzZONDILcP8yleZ1LHBm2IwoS5lyMCwBsNCjiAAMFCQJAhYCOQGwipjjlWJWzzB14vfNbibdLREuTMUGdrHgyvnjwl+Yohny5T1KEfh0IJJsUN+0w7Qc6XmDvJ8zuLN5rvnqzpncMH0T7XQ5brgbqB3jl2GWz80hdIEGcz/TsgDrQEwuIvqznp/jEFZLOGhauNpUFGKuJ84Xm9LMUyhs8z9Xbzb7sXKniPDxMswW4EVsWSzEz8Dc8HxtIsPaQVi/Cd4PluMOn2S8U9hcoLkSoH8JY6TeRsL+TXALsFMQOJ3moOyLAByUNyH18B2B8lygTatImJj9216w1Poa6ieMrSHdRUu7VNRuigl/YRrQci3ARZGckwnL4CASqH5BdyPVzwd5P1cANtt5vrrXdTOvIkiGeSa8Rw05rn+5uGA+nE7hltBFgSZ6cM4hgtVP0QGFUP8S3J9xH7d2hc07BjQgQTG6Zz/22hIE+wyzbrddcf7lWIRpnABVOe2+xLaAMlRKMSEwbFgoOvj83+EOyx+p/NjydhPWb6KR9YP9taXgQGcxKcW8AcKkMEd8E919HYqPejbHuxgMkCfJ+KYwBcGCopQbD4oWgHOHTsDhaRIB2FO45WFBRgCMjl6/Ylyg9TU/cW9YmP0H5zST7poJwe2U8bUgoeyUDKlGF3NudEsEsCh3MAN4SebSFKYBDfXftY+IWyb6FOENgXtVioobsKJHbZevNy1hA2wYvyjQ/sirZvCrKSNKZxVyrV0KxYBvWfW4+/PQPqVjEXYLcK7Fj4FUwiFXlDaFNCr2/FWmV0C+AFgKngzzDuH9rMoX9C0XeqAgK7XOKcYvhMkrYs5b5rsvVTmoY8X5pjApAvjyRyVNizCHUh0Sz/ZL78k9q5o8SBDwFoFyBGDUMMOsAZu2B+DLRsXypP88b1p/jxtdQ3xAynO77SXekYdlLssbDeZgVs5grgPCl0LaGbKlPvj8X7j26fQVs8/bQlitPDqtK9mcLwg13NqN/KmQW7heXd5CnNZjjyidVeD9oj7dAjiFJS1aY/bnpbo/g84Us3Y17cLZYCa7WjVsNPtINxn+sPYN81eamBQjAHNPgK0h9A5ZvsH8HmAogNLYrt0UOsfHCd2qWuheP6/f9JTJP1X0PTCPKV0Z7yeNxTybC8BFW39RuFiAgYIkQcB/BLjwCzdG7srqVEswwvq1oA/oj7/WTBuZkH7qhMqsv6CfM3lhcYF+lgX7GTO4sp6ZD+phswA3MkGvXxnujmlm6Qhb0B+0Z55y3EBtrL/qHvQfah/bDU0m04hzQU33zDKZu6mW9TfD3mcxdef3bNkVHgx0+nigo1IDYKEsbg0Pm+sr7xMqYfjTXBmgra8MrHxORT0eniB7D3RmhdcH/+Y7r3bu8XYQJqunoqKRKUPsvGBU3kLbFHP/DYPSHLFTOP904tjSFYQKm2QIMVB1X7DK7NMH26yKoPLmbM1bcy57caL8t+ZF7eQZgoBHCKzZan6NvYtYAklVLcUsPkFn9v813WRwjx9TQ5xZVbSVsk0eZubGPBnzTPCOwMS8uKhyd0+dshwX6JCtBdzAInyWE90yh7EJIZOrv1Psr2CWj3xCQD1bCkmfboCygpqgCJy52LRsnTSuPDaBCzphtQBzAbgkK0f7i87BIkTKAMwFR7toJyW7ydf2sxny/KT4OBEyDxmQxuf/juhfnNI0w7zFgicAg7r8ya3gT3gK95ZqCvhYCX7h1mdN/gkKwnK8pEA/Ep9GhylZOB/0BDf45+abvFNJQVSL+2SqCkN5I1tVqySFCwLeI8AH+D5FLIGkaplmGrwgW4CfeqOZOK2nT3SnG0gxHMKgzX1pcXNOsB+7yL7qXRez5YP6jr3F3BWcPI0swEm/MqJbpnOUQqaCKTjUFl+TRmYZz9dOYBHSSw5LJGhYN/R6w9pZjssvykBUeQSHwT4SBKmwxEhAfZGg9EC9sY/UN5MgO7d3XMuXcr6HEAnAr7MpIpUIv8AoHQEL8Lwy5v+20Y7fzhTGOcCNbHyopD0EjnfqfDW2e3e/dIi4Z9s5R1bOP3EjCn+GbWV8PnnzM6YiAGMFks/VKunxlb+5kh4nmQWBYCKwZqtp9ehtMTrF1pR3XkEWgP/N5v4ec0QNFeO6VQwWaSb0BBkHRc8z80wN5tSRlXeJSTanJywaXYUJn/9ZDoOTymFyVenh3TYw1798uPRgFuAwMLqwbjz6qsnUnDy+su8h7BavRWypm5IsHFpTT4f4e4CSUCOFRg2ozHSTCuE4odOP/XmNJr8wvG9xmHDFWNgswOgjFq42lZn5FIHAKl9KsrYQ5ABQEErvfNHsH+H63DNV3LvPhwM3HviFQ7466teWrWuh6cz6+45pJU6jM5uRXrxn+5WNbp5VUx4kCFQXAW4V7VOCCzRnboLqAo0Oiws3p09wtwvg7jxBDmqBaMfc3XPq8MoHs2QILeHq68JyL5t2mCNTOUHB0szNMQzKEIWB0xYuX/q1fAIwF/w279DvDOb+Y682E96/ql2mjgjufeq4nG2aMbhhUATodL7BBJ1yLRxhFvpeYi7xE4ZWNmYkWd8QBk8hvU0gyKXeR8LTodjot3x8hEeE7mGgPyeI+3fMOETbmPfCgDyxEArRkMppC+bYU+h+L6//53mzf0TgrzMnlyj0OVSYe5UEPW7I3582FQFQiiE5kBfY06wnC2w9pWKCQFURWLPF7HgR2bDYB/JOPKjM/q3PmZ0WmNtSLN3F4JFiwl9TgOd3Pb/AtP4igIMbePDBLEwW4JUuubelcixe5vdVTFsKUh5ovPX6QOuvu/fq17AfxjnA97LgV8eNrpy5y7A5j2ESgBEN+8nXzT6iXHdwtAmuDAiD9Q9RXvX562jzlTK66ZD3Ddz9eViR1l+0AST0HdiqFJZvAu0AArCqN7YnlxkfAPciJRm/EFRlCIIYwv0ZdVbpVMt4kGICvLpW6jbFcQjw0mBvNrbQ7KWmB8S5pVp/AVDltgaUUlESAViHT/Zji8DabSaD3re++K8zyQZ0riENAqgzFjZTgxbcCNSdPcX9zz/JBoQgB8J6+k2TuZ08wh08OAZBVYjYtUse4KQc6y/KTTHL39aQLfsCGvSkfzs437/AvGgu+AV9DvCsJS1GbIAaq4OAex9orSSFNeotPFd+eu9Bg3S4uVYiAKdyxgmj+EAevLjIZHTHDKq8j+T9YxDHy3wvg7s/j+hXGiZp3jfuNHmPfM/28xqW/tGt1VCGvG1KZUqysLSFW1jgKyi5T3Vh5Qz1PnncELhbq2tB297wuGlIgUdIOYEBKQDNvrQvN2hvQurjKgJxLWy9Jfy2aOM8BqguJXwZyK9j1xRA7d3fmcvKxGE15Ia1U6cb+3xAC2pURzBdPLjL1BEW1w8iKkzJbmY5O0MUBGslC/RUTgAswJdiipAwKQFQf564AFxo3lt9nVkCrCfmmWAdcesvvEPA5FVayzQT+sKy7unP/nuQ9KjVcHO9/JRaSpifdknwpJnggz6opAJ8yPziYlNJOH5IBQC01z/FrF1B9hJqr7Kx4RZgKEaMDAUOuHIsDMuDof97gnlDQPiFEFyA3LyXeVsI4hq4q7e0Eqf9LEvwR5+Ql7gSLiZZ3JAg4gByYPldrMVFQH/4DheCgKFsP1IJbL4f1ZNnCgLVR2BN2xJIHQ/qU0IALNzEGZugMfszLetOIxNs3lYF6y+wSDLmJqjBHJ6d30KtmgYSbmw9kpUzd8CAa3ODPp8HdVap0SUXaM7kBe2bUPQWu13BA2AVmPdWz9oSXzey2Od6kW+dpQCc+5amAbQeWmnwK6uI7F+GKQLCwOw//loz8dgAFxxdW3GwwDRXBrC5lFnAAvQD11ysd6uqBK+A8UMqZxnRP+o9Laztel+snhfELebIIzK4qhsEgBH9dGrUFect/ybCoBT6/cOmNwTcuE8YU3lbSHFFaQCnTN34+EGDV6ivS9DxoyunXW8hOXxTQJXmf3vSbAdQlJbiLanTHIR9d99iECiSOggCJSLAA2CVahkNOmPzDxaufpylxe/fgw/aJYLmkJ0PaEF15XmWRX+eMty9rjDJLMBBVQLYvcIGpijpX8JUAL28WgtOXUN+yDIkIeiYnidM+7CA6PUt9P0gQEr3rp13NFvyZVC1+jyyKSxaxQb16aTQfi9jMYv6Fd2qqp8Pyj4CHP2OMfujByXomCOsBl1hJdPcArxb08BVWHY1bn9hodVotYKHW4JepRY/FIeRJ8mxCLgyAPVGWrDKVJwOshRhXWpxpfiUCZkiBMog7i11/lE1hD6+eKrtcyaZABy0KVNL17bQSywI3DumuUO7jkgODgFcDxk80/INnX0WFGJhti3CGtgAABAASURBVP4C/8p7dZQiSRAIMQJcAC5lDWCQjYFAZwygzQ5K4CNYdngAn7On1KLaVUlJZgHeHkB3cDC5YGQUAGDIprg0/xdlcuZu175WQ4OMPEFMWOIC2Ki6YYCrRLubZoxeWK3A+w4QcQtuIRdoYMitwJt34mywEixasHjqtTqpwsA2ellpZgEOcuAn9Ns/uvMg4X0rGqDQu+ykLuqwom3O97CrouKqfjNf/sgN66+qdJqNE0GcNqTqqm/nWwKwflyq9Rf3Ztg3AUs7zgcxYWrYny0LqF43eEthCpV+rtx9Pi8+aP3DHx4157si4vWRLiyVyPFKMkVA0JSlaAeYA67X+1jLCs7HOP16GPZFAA7DW5I6VhWBNTlrAJf+uFRAB3QevOGIgQka1AsiX+k0FnNHinXkQbQA8+BXI/snKM0sEsXQ6pQH6OrWPzDWQVGIONUZ57n7MyKhQ7mDa+WkFMM0rALw8g2mJQxTJIrBhTO6QZwH/NDcQ7Rf82rDdzBpmHtsAbd2BZnZv+2FQ7RwtfmuIfzyPq2cbwH3AFtsVdoWYAsw2sSrK0wsJg5Fz6ZqX9mWKwmDGiuCUzlvpYkJrOI8T6HjNFMMBk3o0+v/4Nxm4itkXHSsewp0eMrofSk8hdD29Dr4tY/AgPPZ+y4r2nERBATda+yx15oJU2UUKfB6OMulJaBUmX5s3Rvp/Ki9PFMQcAGBSi3AqEI6gMz+axYDo1s6Uc9qWn9RPtdkBlEAfmaeycRMcdH6CwyQ6phCZEdA5/SgrirlBsCqjOFNM0YvwEF/FAS2W+7+XIz1FwVx7XjQhD8oZu6d2YyqdqSTxtVWFOipo6D2HfQHOoMLizOY3PbLgdlgXiefKnL0qBqC+7NblQzT9zBzSTPB6qNoRzT4XunK+gNVFra5FuBO10pcD2LC98LHUzcswEEVgPGt3syCZ8L6ieUC3Xw//LsIgqIU7/pvT2maQYtgKDvGDHLvG7CK7PhDP9lxYO0EKW4I+utbWRTsk8bWuGo0sEj25U8EYF9gl4cGCYFGNu8RFp5S65dmc92C0In/+3nTfQeWTrgvlUpbKfn5YBY0wQ8RHd9abwrAk12c/6uw4lYjBHpR14K65daNAQWW+ilER5ophYK6xmMhOnj/MKBnoTvarvdItm3Vb9AEYATH27QDgkdbDaHVP9aFua5tpXX+ZljfGDRLOCxOP7rzAGGetqo1gvxceEytOnRlm2aur0EYI5wIQ9vQr01w0fqLcnnfEIY4CZhKpC8DBIUAb9ugrVDiirFtAXWFh0eE7rmE/gHzXwvRV+r1nLawt7NPKrUst/I/M6+ZoBTTy0MgPP3Yzf0UUxYHiW96YE4z6eMEpvudNtGFvrE6uoSSXosIwCXBJZmjhoD+YYM2CC74wLFfSsJ9en6/5zTBle/V5aagd+YkFzotnUibfa7JDFpQi2fY2r/Q6Lqx3AuHgpcZpAGN1xXHmPv7yCumNbCstf1QWHtKMQE4yAx/e5VtNzkRoIsMIIdooXqBQRP87n7JVJDBusO/X73+5e5nmOAXtEjQf3niIK3abDLd7z2plvQgbuTCvzRjcrcGVPABqQh8hK1K41yI/qzKwjbJsAh637BodQt9/3ZmEexbHgefZv1iED1jMB78hynQTx1fQ7xPw7usNPE+JwhxQ256yuwbMS1kSO/y3ncx+HB+ISh8E5SD/5puYnHahFri9S2Gxpw8Zpebc9mLEyIAe4GyPCOwCPD5LaVGgFaE5QxqPs/v4i4rQ/skCPN/VX2rtU0y19+guUA/+YYp5FXD/RnYpgKOA+qop9tnmIMc5v9OGFrZ8MAxCPKcRx0Lvp/jAt2zOEYoR/DbGYARv504WDd4ZNeTXAx+1f6Y7IbPAw5SJOg5y1rovtlmn3D6xBqCu2O28i7+8DEiKEIfJxHtAoH71PnkYUSIDK6O3dimrDL1coLcN2As/cJfD+QEwhvZr7h+QKdT7fO2EDTvkL8xARDKTFesfgoAbZtiyhC/eQb0BxuazL76nCMrGws1ch138Z3pF4PgNXbPzEOkC+P4bt1aIo/K/3x0mCrar/5brah6crMgUF0E3Jj/ixryTtxP5mbJ2hZ62WLsUC+VvApYoAd/wrMxjwjbIKS31rcSf98TKxTynOjiGlLdlczpHr/OYw4aBn39+RAC9ONy9lPM0uG3V0Q5NCAaJ7fQYD5kMWVxV8dNO4q5y5s8984yFR6H90/QgCIt26XWkLv+BsXyCQbzuv+aVr2BlnLjnCOr5ynDvwnetkrFthr5+bIvbkZ/VvXlOPho9VNVytnCY+NLNx0gHkgSGaEgqSQScoZNCwiSUghL/zzFFMVvn1LrukcEtf+DUNW+m934KQAjAvw/nzP7xuNG11A50+KyxJTwwwNh+T1lCP0j3OB1Es6YXEsIXKafK3vf1DGUXUwlN4oAXAl6cm/oEeACUbkWYN6J+zmv51bWgWPN0rGDE569K67dBiPh2cPzPIi7P8PCWY67e55HdFziQbCCLPzd+aJpAcvUER01qvKhgQe6CSKz3/HCHHaWa+seIssAS0DCtpjE3QU3B8QCDGUM94Q4sUrWX+CUZhaeoFi7fmYJv1D+oI5ICNZ1+SnVE37xjNxvAmeDlV5YaPYH44a4P3akmIeMnwpjO/SBwcf/sJ94FGAsDff2qbX0ibO7ELfY2ZXjdC7NlINbdjnlrPb53PJ//4gpAIJ/OKYKsQHUk5M5bUFd8X5710uHSG+LmPf8Nkv496Imdcwrwu/I6LfNaCbdgAGF7vGWMsALLLx6RuVcjlc1lecIAlVAYM1WUw3VO13eQ1KMydM70fJKLO8uBOzh87feNsXbz5wzN35rMhWST88zGbspwxPqkuvbJBvMIHS4/hAXCty1j+iBl02GB65uYPQqLT7FmDy/volK6Mhxfy7BSgr69RYGVzI90FIl9ark3gfnNNNB7ZWDsZkwpHp9BBQqen2DIAA/+moz8X4Slt9irfs6PaXso03o+YPm+ov2rrt/QikwZpD7bSPF+seg4IC10H9270H6we0HDeYf7wxBr/7n3C50xqQaSugfNi6WmDIBtQDPsJQfPNL1eUfVVkxvPnj4WOnpOKFVDGM0nwp0sqUY5MoK7RZXd1NMEbBzj6vFl1QYlNX3ztQGCevusy0+Ev2BtRuZv5rIUCKECAJlILB2qxkoqlxXlxQb0P3qxG9myxaAnkpctcqAlJJM8PHTpUnVf/6qFkJgD3UMN57xVXJ/xjO4C3RQg2Dd+eIhYx1YMCNuRQJO5SiFgEy4UsNGs3+ANaRYCsAjQ7jU8/vtDYHlPe6dZSqCMPe3UoZep5Hv58wB3mUqHXn+ah9jPcs/PGK6PmOOq2tz2/IQkCP4+IwFr+pLi822gbgR6Ct5vkqPed8QhDFi8ZoW+uQf99OTr5sYgFZYQL9wQRca1AtfNc5UljJ15v26J4J5xbsjLHv1p8dMoQdTIxAospq14LyTXxHB4TkHF2hFK7zDTncj2rEqsMCWW4C9+CacqvTP6YeIRzw/6vDoiYvRo8jpjcp5QcAGgVVbTGasd5lrHaYZs++HRhvW3xmLzMEb1l93hmwb8BxOpZgm08+OXFWRuz8jqmk1GDv1vCTDAHNJ1bWgbGHt4FreU8fXujbHJ2kphRIasdCwQwDTTgV+t4EtkTagZ2lVrk+a+f0WgJ+b30zQ7qta4Rs4rorujXhODrPvoys42t+P7jhInNGF67PeVlHvaqR0d7NU/V2YV/w5enGxqfCpxvxfUAYFoY737n1EWG8U17xOaBOY9/nFvx0g3fqNenTvRvTB02vp4uNrXesXUS5XCgXBK+K+l5sN+qEUu+jYWlS3qonzC364/qJffsCiXyf0zMm1BCGYPPqXstqa/ii/1gLGyijwEtLr8o4ja6rqBaA/y8N9qvHyYfIsQSBICCDwhO4KiMEOTHs5deT3YUAvp5xK7sGyBRjMVRl9MwmaOsL7T5xj4ZdGV+GA7bPzTcZu6ogETlctcQx27q3ao8ouGMIvhGBVANr/CWPday9AOBVwhl/R7rTlFuBSA0UFbR7wf1nE42mWVr/aTF6OAOzjfMd/P3+Ilq4z+wIw+T2SaK1OrcC982mmKA1SbAAI41juR6e2WgIwnpFmbsB+KAk3bm8lBLr6xzOHjHWgUb9RAxJ0tWX1rQYG/JvwM2YIaAW/woN9HTOqhkrxeEE55SQ+RvjRDv7+9CFDAZOx2uap490bC4vBJZmjNC/mLvfzwIsQ3gCqZHg9TB7uLRbq2dXeRpOqYlGTfLFGYO020/rbp0zrrwIxU6f22rbQKrbtefOLwB36k06f6M/nnbIsf3o9/HIHV3V4bUWLEcofDD8CYKnr1dgmA6LNdaIN6/vdPdP0FjjJEn7dXvs0FWCG3wkbdR7fLxhDdQxrKeYBquNitvWsT/DT0rPMEvx4UB+4PxdDRyV5MhYzqd/vV3+A6Phg7vS6IAr8tJHe9ZNprhDyebk8HYuZS0zFwJDeCcqw9qvnr3Q/d5yotMTS7n9ufnPW5ZnPeUUp5x5VSx99WxeL/uooRjLsm9jisys81npF1F/QjoRx4Oyp1bf+4lkpJvh5rRTCGuCPv2aOhW+fWoOqeZqSh5mP88MCbIfFO6Z50w5M6r058v4te0OXPKUIBOKeZS0LgIX5spVgwjtyL4M/QciDUKPqn7EYFzci+aryStlyocePjlyv7zMs+BWYXv16NfaTbFD3Q6udj64H5hwivU5geE4a5/5Axxl+P9zb8uGQ71rDRlNBNqCECNCq3HpmWdyyU13xfssVHpjfWe2gT4pK3g78UAT8mc1vRJ0uPsH9Nq9otttyq6dfygC7ur3E5v9WM0YCng/8sVXJy74BAs+P7zyYE+gK38Pnzu9C1bb+YXxWdGML6zu2fiS4fSMWhP7s0yfWEn8/+nU39+F5pJeHqTL6cbX3H2PCL6zeR1vW72o/l5ef5AKwD0GwYAnX6zWyf4JGD6yOEkh/jl/7IgD7hbw8128EiEeA7pOprEp8wPByUHt5mam9HzfYv087CB25/ianLzCxmeKBWzgESr0O+82YO/olX/bvnGFqvE8YU0OYl+d2ZbhSyMtvolJaGioIgKWeXc/mAGN+lbrm5RaCFg/uc3IVFB5ONGWYxQvTT5zyVuM8LPlvNpr9wHtO6lKVNk95/vExIgjBj1Bd9E9z3zLxGV+F5Y/wLJW4otTLvuGBOWb/hzrBA+bqC7vQwDIUXbi/lJRmnjEQQku53828f3vKDHxVbyntTvHY/Tfd3aQIEfPNM9U7en6B2RZOneAP75RkSnOvY6dgagjHApHxq4e8/yX786b9p1tqECEEENDk/b/aTz+yNLr3v9xMCAZVDHncAtw7U5mmiw/oYDqLqYcbeea8ZXbihSM3uvFU+zK40OMlDrxGcOvTXbsg5HmFTcaywuv18cPqpT9f7eMb4Yz3KeOrYwnLYWz2mFZVVacUl5GtAAAQAElEQVQgble4YQFmgh/cqv2glQc1QbC/sYMr6+9KoSPDGNwtHs8Dnrvc7B9H9PPHspFmgo/fcz/VO3xleYsR9RVzoqstCKaYxcsrhh9unvpcZ0xtuPLMLnTBMdXpAxXG+hbry2Is0s95bfnEsxetaSEeIPLcaTWE+pGH/1I5wp83D1++oZU4H1jt6VFOlCXZ9+B1e/jXdLOPxNx3RMd3qm8UzosAHIW3GHMaMHiDsZw+v5l+99BB+sQf9tPlv9hPP7nrIIHxw4BnB1GOBbjCOcBpxuR5JfjBmrJ8vSlYHDHQv0+bd+S6q63de6jmuWeZ+3NHMIdqPrS97KRPg3r74x03t71gavxPHFtDKdZ2HW8u8UIqoAx/MWQ0cAG4R+kCY1CUIFB66DSfOM7b/iFjWZX056PP0o+rvT+XWTf96h/5GOGl1TMfxjOXmMzvhKGlt/V85dtd432DV3M/ucvr+KE15JVSVMchzfrGrR4rhVCXG9i0AMz79iNwZoqNP17xTtziiXbQvSuQ8T5xfsHr4KFzlpl9AFYQqSoK1e9iClbf21GwYHUkgyBQOgJ88EYJYCwg/Pz2wYP0sd/vpytsBOI1W0yXr0otwLwD82pAn8OYO1g3EOgJOPiRkoeZT23yYS4LaoB17F5ky0JN8TCaIdfw+6kIAB5Ij77anF0PGfsqVdPlK8XbQoCC/ij6nbaNm8z+oX8Pp5zO5zPMAuyHFwD6QfSHqpZwzz/6cG+H/jRjcLkHgqpbtbYvLzXfJRjdaj2rULlB/CZe8mj5Ix0bv3B4gs359Gt904zPHkJwu5630vwuzjvKOyu43haSOcpiU6Gv53VznwcOnTjM235Rp4V/D172kVAQYhqEqk/PVIIQ/VkdV2XrzSvOW3X/3nbeaslFQaB4BODmWig3OhMwgkogvuy6/UYADAiMvAMqVCa/zpk8r9YC5gLwmEH+ftb1jOn32tqj3gsUI/oyP3g/hw/wTu3IB3WvXZoUDvqWW3+POaKG4O6o53FzP82sHF5p9gvQUPAy3OJ0hgDKjAxr1wULsTJA2MS91m72D2XqLvnZk1X+eZEJNwjwgv6uyo81is/pEzyMertyUyvpc68RdGdoH+/6AQMI6yA3EJZ10sc/uMHqChK0DQRIq3aVkkw55oULNLzFwAso2tKWYsYvZQjvT/R3oOpXzS3nm/DOEfSoms90KpvzXl4EEF2zpZW4l8/Eof7yTvpYAaz27Mdv9RPnIT2ZHuNfF9wBqL9vu6MasiMIlIcAH7wxn4d3pnYl8yALlS6BhGekfGL2eQCs0YP871nARAETlbzqyNXzsH3mTVO77aX7M56fuxQSzvqXMNcLg75eg9OrHPAjZTGY+vO88orQn1nOPmeMyokArZ7Lhb/NHkeC5tbPI0d6P+xD0FB4YOulJXwOj4/g4/QQ0M6x0AUyXPc6vbjI7CfHeKRATbPxcvvu6lOO6M/6U47yIdqven6a9Y1et4OXWNTvST5aP/1Qhkxnwa8O758gXg/1rrzaJn2yhM9lfaQnkZ/FAuxVs5LnRBWBmcy6gYn737i0K33hgi504TG1hGMujNlhUan7M8rkA5oXAU6gANAtSklLq455PKiPnynJOnKvLX8QuLl7kxfRn3XMk9a70I/9doH+13Rz7i/mernR7nUa+X7ONxESF+gGFyJAKywyzNVRt0aqPNXaIvLxrn2dnAaUg35YPzPMer7VQyVAjoLQZwVhmgl+Xlv+eFvjgtD4Kkd/Vs9HW1T72FbbYwpjwlNvmPMc/XJ/Br38m/ByiTRgMZdNnRrn0XsH7TylGL/ADRQ8vxvHz7PVIfxUACh6OM/ghVcElJErNnSOEajLqAEeKEn9t9OQB1QCTkmCQHUQ4IO36sT790gQgvt88PRa+tZ7utKn39GFENJ91ICEbYTD3unK65diAo8XQt8ctvzRaJ+tGwpFbv30oiNXz8aWC79w8x3e19set3s383leB7UADioBj8ZNnYMcanbGpOp3/0nG2GCwVXUK8pZHgEZ/Um59eQAoBOwrt6xS7+NujmN9Wh4tzaxdXrWDg5bO5/UG08I5zicM1Lvj44TXlj9VD2wxD7RBC/ZWY3UM44dUv1/As5NMEVDt8fIZFhBxcO8E9au3CEZlfEh+fRMgdQ6z+A3qlSDuqYJ8XqVkDu9U3Sej3WPZH/0pkzyMD6I/V9/nLtBe8AyzWXwEz2LIdLIjOgSe7nvT03lKkjwsLgiAiUIYe0UvhjK7wTthXYDV4/SJNfTRt3Whb13WNbuFAIDzGPT7VLgEEurANbrV1mjjmdy64dd8JtRFT5zJ88K9TX8+Z3amDLcagZ7Bg32uBNix178e/x/PWJKARjMin1Yi1GlF5d3FHNhabZQ5ZBlgYH3Ie1MALjYwC/AAS6FWbrXqmQUY/Va5ZZV6H+bB6/coBaF+zot9rC2qPwd9Y6sHn8NrlvALIVg9G22eu+Wra15t00zw88JTyIk2KMb0a8P7JeiwrvqZ6u0j2q7eN6BfQP9QrSe2B7/qKN7rQHAdD27f4fyCp/0C85zzq19oh4JS7JtoqvJyeTz6M/jANFPSqbp5uU0yhbEXhgNuRPFqCoSXuDo9q8bpgpwXBIKOwAw2d2lE/0RRg3eXGiJYgt8+tTZrGf6mZSF2Y+03DOZg+BVuGMwxqKtjt7e79xEtWGVaN/yy8HDauHbfS+EPgwbv1L12fwYeKTag+uUCDQ1vg2blQd3Ommx9BNjxIHHhB+/Hg8dW9AiO14Ce5StQ6pn7r1eMLqwcCAClA+GXhwj6Rt26gb7Ri6Bwc5mbZxAUhGmmEKm25VN//3yfewjYKZD5PW4ep5jgA8WIm+WrshDUbj4bK6eO9K4PVPXQtxnWDrxxhW+rwSxm9fP6vbfVovM3R2FeZQH4hYUm3xQE92egwXHwoo9EYDg8W6Ug9JGqLtXe+tsDVJs6KT/SCOS4Pw8urzlD460zZ5WAxgf0arq3zV1umdO0ysKNKclcibTLnu7yjtxLJm/6fHNwg/vz4N7lCzDlAlfHXaD3lltSZffd/LRp/UWAC7SVykot/m7eFrxk9IqvZWdOLvzCMlDXrfN6qXuc0fVqDjBf2gZKP/R1pdbfrfxpJux4MefxZba25WiPAjzlw8zLMSJfPaCcfaPR7CsnerD+r14n3jdUa5zA8m/6cxHtt5JvWi+r3H3+PVSTV9DrCEWArowFzzDEh/FRrxPqoB9XzWPMeghwXrDabPeTffAQs6qS81fHeIZqB41EW9BjRHS3xrlBPreFHFCqeKI8iaGKFZKiBYFiEMByIq+tMDsxv914UO80s/pVa0DHs7iVc8wg74U81MMuJXNceexyVeccd3+edrg/uNRZg4lOoc506OeruY9vhM91OnNybTUfmVN2in0T1bLy5Dy4zBMruPtzBdZfVIFbwDfvwNnqp1z3Z3+He275BCNaTRSgaNAt4PD88WuZF53OTEC+ByiQW7QhFPNhe6W97StzBWAdKXf24WrPoz/7NSboFGF8gGeEOgeFBDwj1HG1tjxwqBveb5XWNZdfqN78CAS/QptQdR5o9e9Y91Yd+7lNMgOG2xZgThvnIccOqiFvewBeI2+Pa7x9nDxNEHAHgTmWZl8fLHpbAzcGcHdKL7+UNLNyVDOaIe+8gjR3gzM2Xgl/YCKWrNW4OutVItqxtfH8L8WUADt9sADzyM+Y44cgF16CkftNePn00p/VyNzFK5n/i6fDAwFblTbvrB5zp56x7wARd//1KrqvqgPfclfwagvAvH88HAEQA8Dx8O+haRdHyptj7iEw3mPrL6hMsfGyGuMElID6tAMInhN8Xu8VtCNx5djG7dXvG7hizO9+AThAEYA54dhHAm+HsRz7bic+7z0Iwa8UjSkmAFc7CBYfI8YMjrT4q2Du2AZgOOioi+wIAkUj8NISU8gJQieOyqdytPs4635CRF9YOFTJmHscBOuGqg/HodpBLdRzH37lEME7QB0j6A2SOvZyyzHweu7rwtUtBOZPp/ksj62/eHaafRPV9IrA8ypNDVq0bJRVafvh9FdTKYb6IvF5XX3rEwQlIa75lbjlc2uVFQFcAA6KgpC7xFdbEeD0vrl7uB/zQPm3UQ3vkCdeN6cKTTs8OGxvDv27qisAb2hqJT7F44iArByRYsqQaoyXKJOPiZOGBUfoSzKlOerr9P1Weh7WZfAIejlB6SP1OlVzPzg9QTWpVGXLNjIIILCPTgyi2urHfu2nmQavWsz+XLaMgV/BbZxw5h35zj1OOd09/+Acxuz4HOhE12qD0l378OtN4tZfzPPC/F9vnt75lBQb1L1ShnTWoLS9BpddoPF0bgWutqWHW3nGBUCzn+bBwKrM7PMYCaMDNEUkxcaJajK6aH88wfKjW9iSVn28XiYOdUqxvsHtuZ97DxBNX2COCUcFSADmXhFbqvxNzGKGA/QLXb2dEYPXbptSVhvUL1RDUci9HqAYDILnoKIb36Hax7aawUO5knRQrwTxd4A6RDmJABzlt8toi8ohtFZ6IB0Edjm8fzC0eFyLWQ2NNt4jX/4oSMwd6sc78mrhgGepBM3umi2mBv3oUf52cXWMwauGi5+iX98uW9dCnNk508PIz3pdUt31IyI/l30xa5J7NG9lC/E2VKkFGE+pT+K3M+neG51n3dvj0X3HDfH3OwBlOZbPnThbnYTgLoiSr0qHAiJIjG6aWbu8/iYw/1dhg61f7YP3DW4rAqbPbzY8gjCdAYw+aA5CSrO+cWsVvwnQ++JiUxng13tHXXhKsrGyqQpKc7QH/blBCX6l6sQxqKYLNOchgxRDRuFR7a3/o2K1KZTyI4fAS2wNu7GDi2rGnuDAB/RqRPGDi2+ue18wFAAK5BQbzKrZkatnPsCsv1OG1xB/HyqvV9ukT4Gw7p1lMjoQ4vxwcQTOacbsV8srAs+qNN36rBkxe6xlOcX0gkrLzbH07DAVNZWWr9+PoGdBVBBmmAW4mq6/sHDqmASNueP9UjWx0HFQ+3wJwQlD/Bk/koepGrVt3VaUPvaa2Q8efURweAVQ7OU3AYs//y6CMnUMWPC24LayGAoxLvQhGjieHZSUZgoRfe6623XkPOToQcH6Ntym1668+FFsh4KcCxUCM5eYg1qQOvG0B8w+rFT6C4MbT+Eohvod1d9HoBH9KXqoff28W/tg+Ll297gx/ndvOYO6R4GwXlxkzpH3y/qL98uZ/aAKwPAs4W5hbs2Zrq8DEp2pmksAzWJujmMCwtjkzAGuorsnZ+7GDPJHwOt84+YeF3y8/CaWb2ilzUwB49c80Nzx0sSpkqP121rpTbbM05E+T4nh9GRYv1BNRcgrNssmZphSitfPy2M+TrjtDTCT8Y2IeD6oV7D6BeDNp03BjR/n3UwNG1tJF66h5A2KF6WbdBYqy38OsVAN5bogoCGAj3aFNYCrU+i+xgXIAswFHghmqq5ubfn8Zz/mdRZDS4ppsobmVgAAEABJREFU96s5uD/8iqkU6ZNJkNGhF1PhKuSpY+v6ua3VtqsytPy6wgFTBPzUdKeYN8C23Xa19v8ct/4eMTBBQ/ugh6m8bpzR3MgEkMqf0FkC95AZZ1mxO6/6t8eFnQ1N1bGCY579ojWdCiC8wVEDgsXqpHjfWOWAYPpbn7HQ7CvHDkoQGGA9j1f7fLx0UxHArb/4DjjuXtHp9Bz+TXDFhNN95ZwPar+gaEmyccJt7zk+F3yiD1HPFa35tnzaVDXmQs9eavYBQesf8+Hj5rUaNwuTsgSBaiPw/IJOxgbPwrIuYPCxH4TEB7RqMPs8emdQLDwc/xSzhrsd4EQ9D2v63T/b7NCPD4D1F/WrY4xuNYNa4HlIfJkHKIiwzASu+ZFS3clYWxBKALwzCtA/zJnm7nFnT3EvOgyfA7ylSgIwrCb6MmAQ/sYGREHYvRuR3g6rtdQJlsjT29fQvgnCswPU3CjF+sZqjBNO9HJByM8AkqkcoccdpQje/yNMKRqk6M/q3WQ8sgADj1nMMyRI83+BR8rqH7BVyU1lCKaNccPBpGHBFH9ypk3tdeebULhiy8e60ZYSDOfjloLZAuL2FoTeohGYxTRXQVnPTxGQYgLPLpc7LwTPWbXZ7BCxvqV6fpC2SYZFtYQ/dOa6dbmLJbccHZBInynG4HmxFjB3f/Z7mYeE1Sj1tgBmDEKwddqrv4LPufU5c+7vqAEJGmYJTgVvLDIDgjDpWasV7XUmi48AGnTs9Tr4sc9xqIaHDDwgdNrGBsQFXK8TF3zcZPb15/D91VtaCXPE9fPjfQyQBuW1HoV43wGiA+anqFe16P03GlsMF886S7iaPDx47G6GuSBXKxgaPCKgHFMApi2lpFveLarMSrcphoWb/AL4RijcVB3rrWehb1THQdqmGN/kNs8AZQAChuo0wwtEP47LfvB6hLggL3SWjACCOPC5XeMC4t6nE4PBRT/WhTP9fDn7nH64aeoMRDllVuueFBP+9AHYzWc+8LLJMU0dURMYi0+ONnePqbxwEweUNX9lC/H2NiYAFkA/LV7AJV96a30rcaXB2VMtLUq+m0q8lmaWnmq5OvLoz2Oz777EylYxO8eBt1U3Hg2FmF5OEK0bOd9DFedD61hc/9BB/ZCG9E5QhrVNI4MHB0k2TrihDHicBb+aYo0JHpBS8iM4r+AG7XaV4Fb/oFl/UefUYfjtTG66QL/APAcnDoNatvNZQdqrxveg0/d6g+lFibnQSHoeT/YD8ApEAPbkTctD3ECAB3HonU4QAkC5UbabZaS5e9su90rnzN2YAFo3FLVJNqBVIxI01lPlTH9Q3J+BQ64LNM5WLz2/0BzcMPc3CAqSlGVx0KmuFqOnP6PYfb5eMuaOu70mKrd8VksA5uuDj/Mpuq8T9hnWNyKmg1Pecs7z4C5wfR7q0jzucurjdE+GfQ/bPJgX/+y8Znp1udk/HBuAqMhphkWlfQMsyHwayFEB8Qiyaw9cAVGNvmEmCwA1LoCGg2oqizn9kwLq/oz2kcM3uRw4M3cKnU+SaHVtAYCyYBIBuCBEkiEoCHAtZpCiP+sY8Q6s0gFdld1s8S688xod4Lkb1cJB4YHtg2zpIyz3A6sGrgUhJVkQrGpZwRWtz7xpzoWeGBBNd4pZearh+qowKGXbuKmVOLN85mR3rb+oD5QQcPfEPhKY9J0uT4+A668eMRRufgN7+sTcgEibxC3AbgvAOf3jwGCyOFwhVA1LuIIfW3hP/elR01NmsGX9PWa0//jkjhOocfkJgj7oVSXAuhU0d19VN2zTVVYK4RvTA4diHv7oACrOk2yMcItvAt+o94twhx/RP1j9ItqBSnWMZ3B7ulCuESW4WChMqrX1v/crgrLW1lbasnU7zVvwFj3+9ExavWYjNW3fWcSdkiUqCFhNgGYFPIiDwpoPaG515FimBXOk1HNSloV1QI/gdl4pNqC5LfxBIfDQXFPgO2lcsLq0HAvwHvX23N8uXdtiuD/XWE3Dz/l9OoWc4XfTvU1/Tqn7iPyMvkXdh3lhmP+rjt3cQiDVy9u8Qz+qfH8Wt/IEzPoLCjOM2d/qoncMyudTRMYEVEGYqbM+TlS4PUEhpLfD9tOubW5+5qDRN+Dpl55YawSnc+1hJRaUYm2i0vHyideNMYGCYOXOB0mGuaC7/U28wLyC0L9BIZevTn5cg4IQwrl6NpQY+rxddb7U7fMLzPYw0bL+ov2XWo5X+ZMWX6c/y02+CTFk1mzpNL2CR4hrBGhgHCxuETXS0u49e+kn191EqYGnUt+RZ9OUE6+gcy/+PA2bcAH1GnYWDRl3Pv3uhttp7979JP+ijcCC1S20XZs/ic5yZEC1eCnm0gXmxo23w5m7IM7j0enM6chddvObsbCZdO0oBvWgrfOY7KYjQuRmYA+zZCLu/oz54fhOeD4/jtNMGbJtd+cg7Ed98My1W1tpOmOO3Iz8jGfoiUeC3uzy0jczuYJwcPCGd87swzqlY1TJ/kHLwPnmyhajCERAN04E5AAMeJ3WN0D41fsyN6sJ6999LEr+iWNrKCjK0xRj+CsRgNGe9DmOwHna4fh1E1F3y+IKc3e9AYheWmwKgEFRitqhmGLjRCVtAeW3WN3BjEUm/ZMsARjXgpo43+Tm1DEeJBGrqPi1BFoQ8A/eCNmOSuOqdXTCWR+hb//oj44C7tp1m+jqr15H517yeVq/YUv7nbKJIgL8wx07qIagvQoirbmduDu1nPOW1ZtrRQXVuqGqyHHQFRgqTyXbB5j789GjaghCMAXoX5IN6NVickEy13QHaaDnSqFKGRvQW2m65dlDBMFDlQPrL5QG6tjtba4F2D0lACLDr9vWWR4sKUGcHpFmlk83mf1XV7QQhGD13iDg8XanrgVhm2FYVGse8C/uO0gQBBTNaUtB+/Yja9Wh79sUswBvr8BLBksf6d/0qIEJ4t+d7wSzCmTqzBNbXVSMIeKvrhDAkyYEdP1b1C1ltU1sVaqkLaCMV60+AZZk7CNBIVzNPh7PqDRxnsFNvolPERlj8dGV1jfM9wdSAN61ew998vM/pvkLl3dg27VrFxo2dEA2DRncn2pqOqv+/Iuv0tVfu44O6qNfx52yEwUEZobAvU/hDAZD7WPrhrVr1z4ivr7n6IDObwPNSEk2mDVpFnxcryTBesdD+Qcp+JWi7bCuZLgZgiFxw62L2D/MZcUSJ+o0bB5w9VLHfm+r8U1UQhPaz9NsvvRZVZj7q9eRW4C3uMjo8v5xtMX413YOkXo1fN3PsD7BTWYf6//qxI0OqPuzqiNn9t3yFFLlY/vw3GZj3MC5i46tpSBZfVIuWoAfY9Gfjwpw8Ctq/5dhihA3lUKzlzaTPt4M7Jkg/rz2agRikzzMrEalwh9XCk8YUhNYw4minGNQideYKhNbTBmDkhD7KgXdiKLqWa1tAIdIohdeeo2efHZ2luZpU8fSjCduor0bX6SVCx7KptWLHqYDW2Zmz+M6Mt7136foqefa7sGxpOggAEYR0T0VRWDuA+3Gw5i8JhfcPV+2BjJdsz20byIwS/2o98K3nLFx05XngZdNt6YR/RKEAFi8DkE45oqASgd1O5peWGjigekBuoul3T1enksxK4/fc4AR+Vn/ngb1SlC1mQFuiXIz2muO+7PF6Hn5fot9Fme+3ZzvmOshE0j2pgOqNPsm3FCUdhRu7UBp+pcnDll7nX9QCgTJMwQ1y+0bOj0ZcL3Y9GZjC63XvCAg5AeNVjtauFII/I5dvnLO5fYL4J7KKcmbe1LMY2p7BbwT+vfpIVr+SCGcIwDvUVcq285b2UI8hgzGvcpKDfTdBSsXuBECAa9uv/sJwva0k4+iZx++kU4+YSrVMnU2jnEe15EP+R9+bEZBgiVD+BDgnRjmLcCyFlRKOGPjBrMfNuYO7yYXh/IYG5SlJzh6PPyKydgdF4Bopnod9f1kTlRH/ao7+y8sNN3jg2T9BYVpptl3QymEcstJWDrrqTdMhUE15/6qOmaYq6Nbc4B37yMCc6Oeg23Qlj9CnZBSlnJQZ8ERCVu3UCFPOQnBXeAGru7tYnE2QY70inqmLSywVcltC/ANjx2kXfs6+1xgcsnxtepxgdmmcvqG8qrGg19NHl5DXYJHLvF/mRwLMM9R3jEEwFksLkCQDQegMqctVCD8QSGC/gXlImF61NgAxkVA3fSUYkoAt8ZKHkNmdMzdn4G5NUxgE5y0a/deWrZ8VbZCX7n6w9SjPp3dd/rBdeTD9TfmL6Vdu7UvBiclhR6BmSEK4gCwUzkDeicTguvlpFlLTQFnzCCdjSynxOrfA50VBh31JDC6+nwcdb7U7bPzm0kvBxrTKSMC15V1kIX6dRxYO265NFlFZf82NLXSsnVm+wDzl70YkJ8Us3Y1VaDZr5QkWH/hDqbKGWRZf70QGOuT5jfrVhRozOvS53jCzZFbmxWtfm+BAJ8H7IbFizP6hw9IEAQ+v+nN9/w0+ya2uRgRG9NlHn3VVPKcObmWeBvMVz+vrqWZIqAcDxksK/bMPJPeMLg/A+MMU4y55QKNVSN0LDEODQngmtjAQKUk+yZ2VDBt6nnmFYWgoeBJ1LOCukUd4b2g6ge+SbfcqvOlbmX5o1zEAsc17tq1h1auWk8DB/ShyROPyK2xzRnkQ/5VqzfQbqjDbfLE8VQUaMacydcaTObeC2a1EuxSrBOvdEBbvr6VdFeg7t2Igj6QKfySTJtZyYCmynzQJvhVUAOioc7VwADlqvQ8i2SMNS85U6ny+rWFxwYGdvV8DOgY2NWxV1vMOX2MCQZnTfZmGORCqVsW4LC5OVaD4eceMqNDYN3g36hbLtBQhiDwlf5N9a1P0GkTvWnn+nOL2ef9YzkKEfSB6FPU87D2L6aBqOMgbzPMAgxPAFhvK60z7xdg/YUCqtJyq3m/m8aD6fNNvnHisKBT34lsHfca21uZEQX841vrTTzC0Ed2IlKdvWD2iBat3bp2pbruzJRmnbf7Qz7kP2RxVC3o/e0yyblQIjBrSbMRwRIDWz9rMC+CGN+yQHunM/tWszQslqVWDBYe/Z4xFnOX0E8EeD/lgnZfJw9zwRes6uzIgQOW9NDzBG2/zlJY6HXasVc/qnyfuz9PCugyD2mmGCqH0a0ULW79xbzx8UO9GQbTlqUH7VXRAGWQbolW50vZglGeafWR+j1BXfpH1ZHPeYRSQl0rZwsM575lWv/GDNKRLqfU6t/DvwcIPm489Z5ZhwhLH+llXXpCbWCD/9iNl7owq9PhtP94CINfKVrAK0CprY7BL7jhJZTTLwwJ/jeRZCx/uVGgF61uId3wAIyhAFAYB33LFQG6Jb+cunPr7+BeCeLPKKfcsN9TE3YCpP7RRmAmm8MyIQSdON4I1+pW4vI5hy9/NLCYgQy18D+5NaApSu5/2Zz7iyUNejDXUpU3KFuOAQQft+qGQX6BNdjr5U0eHsz2wZUhblm8dNrz7UPQevgVU1A6e5jEE4kAABAASURBVEqNEaU73/2VXsNbyWhtFcJrpYGw8O51pye0NQTIq7Su1bw/zSxeWyp0/YVCTBeY4OYbdCUp8E0z5aAbyyChP7j5abOPPGpUDWGJLzwzqKmS8RKKNB7ddtpIfG1BpTa3XhmmHNy6MzdPKWeAia4EgQAIxXkpZfiRN8U8xsoV/J5nMTFAuz4dyw/aSnlmHVMEVBpAlAvAo0OgICwFr3Lz1pR7Y7XvW7l6PR1z+odo+MQLCybkQ/5q10nK9x4BPvd1fECjm3JkOHNTrgAMxo4v9zMmBIEcFB58QKtE+AMWPHiR49JHqgIB2PIgWIjO6la1ZlgDPQQpVd4gS7PbMxVM5i/DGP7tu1WtvdneNuOQsSQIrL9eBwvrkTRprdQNejaLDYAgL8F8+51011uW8M4jokotn3OZgnDsoKAj0EZ92mUcUOofHzlEmDaEfSR4n5w3rRa7gU58vCxF8LnzxWbS+0C4PsNTLNAEs8plWFuAIoNlKekQ44J+wxEDEhQGAZArSeG6q9NR7P50Ni1oUkCVwk705PBNFbpAz13e6TWHZ44ZFFjRD9XzLAUahXXrNxPm9RZKyOcZYvIgzxCYv6qFdIGpe1ciBDfxrAIVPCjDrBzlRoJ+nc1/HmQJOJxZqKCaVb81xTSZpTA2vHJPvWkGvwLGEzxyX+V1KeU4Z1CvILAHf+6MRaZFUwl0PF8QjlPMylGuUqgcWvCsh+eaWL3Nsv6WU1Yl99SzfgGWmkrK426O40PgIYPvVqe5UmY/x0NmUDgEYLfbAhQBz8032/h5R9USvAJ0vIO4n2LKsWLHSyx79ADzCjr68ECztbbw82+iUqUQ7xcQAMr2wQE7mWIW4HKmCy3f0GoshwUSw2I4QV2RUoxv2lnBtKml61qMGDKIxwElEZ7jawpANx24nqKmpoa6lBm7HvfhfpJ/kUBg5mKmtQqR5ZMzHeW6e85eZjI0o0PC3KkGmGQDWrGMjbpf33L35yAvfaTXW5/fhfO6UgfH5aZdllYYTK9+/8ShARhV9App+3xQL/eb0Ip02s05f8eMZsMyBuuvH3OlM8zSU4kLNO5FgDyd2NEDAzek69XL7nMFXiVKAHxLi9eY48SoEGCQBcL6gYXW2nT8gZ6OgxJ3fvvgQeMOuD0fPSr47QGVzh0nigv6c/1DBwkRoFEGEpTkQVYCoo52iXvHVPJN7D1A9PIy85sYH+BxQccjyQS/chQB05kSCDwT2oX+nKDv1zG+qVxLOOjkyx+NGhCQPqG4TxwkVC0FBIlO+gb0751d+/fef/+C7rzlZ0Un5H/24RsJ93eWJnthRuAltvzRuMHBZe45zikXOnKUyTuvMSFi7lB/jkO5FmAEtdCZ/YTVFMIiAHMX6Ern8wBXpBeZgqhvJkEQ7HAtiCnFLMBuLvuSj160Oa48OWOSP0NfhlmAK1kK6SX2/uEdA+0+UT40/L/GMdhSwXxHbv0d3jdBYWJ20+yb2FrmfOhbnz1E67Z1cpSIio/AV/6/7eJqwMcJeGwUuhOCDhf03jGtlsLwDRD7l2b9wpZdne+SZS14OJcFhAvysmh2xHAheEeJHlN8+aNJIfAS4zhwDDCG8TzFHs9m02RGhyiGTLE0lpvPHy6gQG2HDR1AF190Jl128dlFJ+THfQWKlsshQQCuTY2bOgcBS96hMLmxcGa/mAGdv5pNO1pp7dZODBAtc0R/IMFzBveYd+TlCn8PsKWP0BbSzG0uqCjUMWWIGxE+QSsf6CcGfJmHFHtf5XwToLvUdNeLpvW3j6UomDLcn6GvPmnWvpI5wLOWmt4hQY/+rCjPMCt4JS7QXEE4GnPb1INCsOV9WDnfBATf/7xgBr46ZXwNYemjEECQrWKKKQKa9mRPO/7AyvmHR0yaB/dO0LGj/fmuHSta5IWcb6ICpRBXjAV92UgOUYpbPwu0Bf3+1VtaaSXjGyf51Nfr9Sp1P9nNvKNcvglxUxayIJlhmCZjUl+9o3D2FtXDQ0oOCAIvsejPEPzCpNnNdDeBLCec/yyGwRGW9ReafbPkYB9xxqYc4Q9Bo56dZzL7J4wJT9fFB/RK5vOotw0GkE8RCPpAn2FMbiVabYVDoe3Ova1032yTUca6v/AgKHRvNa73YJYeRKYu5zkIdMT7h7AwNj20SNigvVwMcC8P7jI2RF5CqH+GtYdypgX87qGDdFBr4giCd9aUWhQfmsQVAYWsfn9/+qCxzA0IhcU7XOph1LotudEO2kqycX8OSeBQVf8U450KtQV1H7Y8YOjIAQni0wyQL+gpxcbKcvgm0Dh3eTNhmTjsI8FLrJ71vzgf1xRILrJp+05CYKtSE+6L64uMGt2z2NqWsPiFiUbegZWj2efr/4bRdYVbgMvB4YnXmo15XrDgHREiNx7O3JWDAW/7s5n1D0zv4F7BZv9SjLEph9nnOBQ6vmdmM0FZoPKh7Rw50r9hL8MswPDyUHUrZcuD4/VOJwi0lVKGn3l5v1DOXD8Eu9GFZzC6QywroJ90lfrsnG+iRNfX5xc058z3fOextaGI+KtjlWRWv3x95LJ1LXSv9V3r9582oYYG9EzgVChTprtZbb1dm1fyHy1a02JEVUf7GtonXLjktIUiXaARE+OvT5rz4MPo/ow3jL4MW5XKCQaGe3M9ZALUFgJQFf84Abwdm7R5SxOdcs7HafDY80pOuA/32xQrp0KEwJ79RDy4T+jceNiAlm9Ad3o1r+aErg9Aj+FUWYfz3PpZjivPA3M084b1nDC6uXHvBbRxi5Sy//gyFxNDEOSEt4VKAqIVA9yGpla6+yWz7Zw52d8hj1s/yw12M5MpCCeE4P3r74xbvMqZ+zqHBQgcEzL3Z+CRZpaeUr+Jvzxhtu9Jw2oobFbwNhzw25ny4fCbB02a8U2FzeLdSWnbHv8eyu4XFpvBr8YN9re/a6OutN8UnzJUpAv0HS820+59nc/CmDvVR2VnZ01K38vFoHMqXCmlzWbzfwPVR5ZHUinkF8wbuK/j4MFDtGtXkS2ekYf7cD87LYchQ2AOC+IAywZcN8JEBmdstpW45umbjS05lquwrW2I95Vkg1mpbq/AYdVms6cM4zIXSWbhKBUHYKknLgAF3f0Zdc/U4bczlWvl6Cwh/97P7j1ofEP4fqb5zBBhLU49KjhcmWG5yE9J7tWZbHrE2JAxummmICxnHvActv5vGD1kuOWvFEv4jY+bga/Qti44OnAsXW7jtTmTLnKcuP/lZuJRv995XG3oLN4cAghreH/qPLxW0Deo42K3LzHFWFimRej0ceGvGOMB+o+sslMr6LQJtaF0fwYJdYxfKMUNHPcjYT70xu0m74RAibgWiJTwvxaB6y2Tye40aGDfspDBfbi/rJvlpsAgwIM4RKETLzWMfa7mLgC9RZktJHmYeWMpwt8DFsOj3w33VV6efj2o+zkuTUW6ddnRg7m/YJDUNQgTiH6rjoO8dROHfHTe9sIhgvJEz3PRscGYF5lhVr/NJQa8WbGhlTZpjA2C440aEK7+IcPmvpZq8YJwwD1kRodsiTi0zRRrC2Dkcb5QghB454umJfTsqbVUH9L5fUnG8NsJPcDmb8zFdeLQGho3OFxt3+ndpiv8JtAn6Csl4DmIG4JtmBJvC8V4jf3zuUPGNKmkxXOcPD5w4k3RrwHKECR1gz7eq3N2W/3cy2wpLIwRepl6Xl/2TdnclyoEroX0qE/TzKdvptYdc0pOuA/3+4KkPNQ1BGYx68a4IYFrpkXRmmJWjlK0+9MXmEGfxoTQvU+BlGLMTTEDGu6F0uAZFvzq+BAFvwINKvGojpUEwnphkdk2wrTuZZox/OUEh1OYOm3BBP7tSVM4wJJZYwMiINWzecClCn8zmZVnbMisv3hvGeYNUErfiPv5HGjM/8wwAQL5gp7SHIciPYV+cZ8513FwrwQh8nPQ6XWqXxdLNwUrqLoOBQdn+v/82CHSp46Amb/wmHDyBopOfZthbQECv3690D4PHIr+DsqxQvcF7Trnm5oKKIsRBZ0rys+eUht6r4Ak45tKHSdypoiEcJwosW2WnD06vUfJpMsNQURg/soWQuRWVTes6Xh4yJb+UXVPsw6sWGb/H88cMpY/QnmBcl1BhUpISUsbq2cvxgJ8wJJfvnebyeQN6JGgsFg6dXqxn2RtodyojihrxiJznhfm/eF8GBJnbkoVfArRiHbz47sOGNkQIOr8oy0O2zjr30E9s9Jt3lGaKnwWVxAOTvhHTJlPzjBhtVTmjgcIHBMQ5UapcKRZ39i0q3BbgLWrYaOZ7+ITgtO+S8VA5eeKUihA1TVY+59501T8vf3I8Fq8FV36tr7Cb2IWU4yF1nDAxkq9Heh4qf2/P20xC+rA2mKqS1gV5Vb1O/6SrG8oln9UBXAlYeCmiARg2IqWAKzevGxDi8ADc8xBLozWDQV+Ocz+0rUtBAZHlYHttMNrQq3NTHGr326TeSObfz+75yDNX2UKeieODW93VelgpiDCMg/6nFG4FMO1SV0P+pZbgAtp90ul569PHCQ+Z/y9J9cG6vvpwSw9pUSChnKQfxdjQqjZzzDvmK27SnvTLzIlUFg9ZLgypFBbwBqnUJDqaJ0+sYYGWRZg/VwY91OsTehu0L9+wFSGgt6Tx4V3PLB7P2lGfynfBOIp8GlTYQscqjApZayEtw9XjJw9JRrtguNQyjzgV5a3ELwoFKYZa8wZGLQo6YXZQFX9qm2j0VKqBk+4Cg57bWH9feoNUwAOayeOd5Figp8+oOO6XfrpveZAn7G0whcGyHplV+dC53hHXkiTecPjh4i7gE8ZXkNhjP6ssIGgqvaxhSCDbamJ4zJhaLi68BTTajeVKPjkw2vuWy107yyz/0DU56AtA4JvWqejFOvnc/NNpdCwvgnimOplB3WfYwAGvti63vXiIdKDu8AVNkxKIE4n7x91BRfPy12fESDyrMnht/6CzhSz/DW1x0K95dlDBDdX5FHpXcdFg2ZFD7Zpxi+U4h3zVzblY6Al7CA6NsoNW0qxMSKfx9jfnjL5JUyFQJyQsNFsV98k+x5KEYD5/N9AKggTdlR7ey5c3JO32MjTPEbgtw+ZnRk68BIYfI9rW/hxaabRzbe0A0rDvEVo+LGvElzb9Kix6nyYtqUMaPfPbiYwuDp9cHu+/JRwMzyVDGY6FtzyFab5v6CDK4W27XZHDQyh4br/mv3HkN4JOntK8NpNPZsDvHlncRgsWNVCf3rUpDGMy5ygHXAL8JYiXH9xHwTlf1gCEfZVwvxutR/GbYoxuk4rBtw7s5kWrjYVIJecUEuYPxtGunmdU2y8hOsrvDluZe/7hDE1FDSlFqelnON6y0qn31esYmyR1SaeeN1U/IXZOl7Ppog4GQ7mrWyh2WyZn3OmBq+/199pKftJpggoZS1g7g4fOPdnAFHcsIecVUsiAFcNWim4FAQQwh7RTfV7EOAC2n39XJj2cxkb5y8ejA0i1+r0HXNEDSFuktRuAAAQAElEQVSQhX7OeT+4V5KMwXNSBEC4+93DJoMPC8eHzugSXOKKrFmSD2Z7irxRywYPCZ0pQoCTcSGb/5liODgxNxrZRe3+4v5DpGODmy47OZjMELd+btmB2uZPa7a00rf/fdCIdIo7Jg1PYBO6lK4z671+m3PfqBMH75B92hRvCE1vC6CSQ69zoX2uKLULfrShqZW4tQuC/4h+Jo6FnhXk67xvgHLs+ofM8QBYnXNkML/rSrHl3wTvz5zKv/5hcw7sYEvxd9SocLP2PCCa7s6rcPjLEybd8IYJs8egoktteeDMfJZwdQ+2/3n+UM40oNFBDKIagK4r3F8J3rak0COAAZ/Pa4LgF2brL14KBmtsVXJi9hG452fM9RnW7/OPisZAzxkbuwBQWNbj/+7WOFsLNLgNX3lGbXFr+Vn5g/yX7Gb29nYYFKr/C2ze4/gh4eu+08zK4aQMKYSFfh3WjxkLTQvIO4+tpb4ZE3P9Hj/365nwV4jRBePzzX8dMIIDov7vPzW4NKJ++VI3S6eFpOfZtU8/yt3HslZPs0BI502rpcO6Uqj/pZnrq9048cv7Dxpz+tCGzrVoDzXhrPIphsPDc5sJMQ/0bBccXRv6900O/zJ15gXwReaZ3KPHXm0mxA3Rr6Dv04/DuJ9kSnP0gTodM5e0EDxi9HNR+x44BsWsnrF0XQvd9JSpGECQTPBSOlaB2C9O51nVqgaegzp48BA99ezsbMK+HRqbtzTRfx98lt6cv8zuspwLOAI3PHaI9CUPulitMihrdlYCXfIw826nOT3osGDh0XNfemJtZAZ6vqg7Z/Bg3fjWvw4aDF6t1QY+bFl+ewdUiKES/3E39mIGM/6I59nSWBOGdgp4PG9Qj1OMsXH6Joqt/6btrcStRCP7JyjIUUChBNDfHCxdzaZnawf5sHxcc+vBnKjwiGodNvf3DqLadzIlKAJaLHx4IKQhlqULAQLbiwvtJsVcf7fuNEl51BJyEAVZP4s5sGEX/HV6sJ9i4yWf94vVIKaMsAYGZI5g4oqQLawdcJKxJNRf2NzfqRY+UXAPT3YzqdV5hlZLcLrxcdMzYMygBEXJGwLUc/6RKwGQR08wpFx7t4kLvql3Hx8NQ4pOq1v7ge9NINx+7LM/JCTs2xG+Y+du+syXr83m2dZUhD+ZXSFyzhcE4NbJtfqnTqwhhLL3pUIuPpQPaHbWLtB/z0xTY3fC2BoKc1AXDiE6Yf2cHgQLcze/dssB0jt3CAeY8wuXJv2+MO/zwaxUCzA0uxuarJG/HQQoCMK4zAVvCxD+2kkqeQNG6Ed3HqR9B6jjXmi6Lz/ZMi92nAneDtq3LvyBDrulkHD+h3ccILx7nQoEgwvzHD9FSzpH8Ots3yqP2v53tunWBwwRH0FdD/M2zSyf+jcBBdGfHzOZ2snDayhKrp7q3aWYckydxxZKccx3xn5UExQhaNeKPgQ9OmQ6tqhL2S3mRmOedPbA+sF0sfMi6jWm804IlIq54RbJHX9Rs/6CsGQ3vTUQoT3gvFO6wVIKcFwus8ZCjIlO98T9fOAF4GJeUHNzMzVbKvSNm7bSPn2CUDE3Sx7fEIBW/5f3m4M7XH/PmBQNjRUGNB1cnbHB+azG7p6DBEYXx0hYsxRufdiPSkoxzb4atDG4f9Oy/K7dajK+mOM1MWTRjQu9q1IHM17eCwstE5h2cuzgmkAt7UNF/ksxZl/X7BdZREc2zJnH3PmOE9YOPCcyzJXQOh24v/qkWSW7QFi/ffBgTpCXsYMT9K5jef9olhWWowyzADu5fEI5xqfIHDemhhDpNiy05qtnmisCdnX2h7+yxsfdmmt4965EUXBxtcMjxXDQ84AniIJSXKeJ70PcgXeIfh4KEP1Y7WPMvGeWqTg/3eKbMiHo+xQN+bZJNk4o4Q88Azzm9HvhFYDoz/q5KOxzpbluOOD0YQUEBBDVz8MLKpDBr/RK+rwfSAF479799OFPfpeGT7yQjjn9Q7Ry9fpswj7O8TTp+Mtp0+Zt1KVLLdXU1PgMqTy+WARg+Vy1uXOwx30XHVtD0PZSBP6lmEabz/WDG49u1cMACMun1YwjQH0nCUmGA6yfEPp/fNfBnKimRx1eQ6dNjN43DBdovF+FClz+gYE6LrSdPt80BUwMofszaIQ2ulZ7vXDjA1ODa6UkBMzjQhGWvwjLvGjM4dTp3bLD7AcRCf2hueY7H9wrQe87tQsl9IakFxKyfc6s8/5RkfPnxw4R2ok6xrdkRHtVF0K6TTNmXwk9WPIMcx11si44ppaSTKGoXw/zfsqBrr71CTp9ktZphJnIAnXPsLbgFB0dyjEYEFRxMBycOiE6GPG20LSnrX98cE4zbdL6yhqrLzxnanToVu8TW/6dg2/CeZ527W2lay1Din4e30xUYsjodLm9H8iW07R9J02f8QqtWr2B1q3f3EEz9nGOJzU3+PhjJ1Gf3j068stOcBHAcha3sOUNxg1OUFgY2GKQPczS1sMtSeUFo485fTh+o6GF7pttMrhw/ca8NlyPUkKwG12oh5PG7x85SDNY4CIEPoMFL0q067QkmYWjWOvn6i2thKSXNT7EFvIUY/K4Z4ROp90+PCd+dOcBataM4mAAw2QZ4xbgLdp6yC9Y38UNj5vWHXiGfOSsLqG0+tu9Q5zLMAvwtt04ayYEunmSLfECDxkIwWbO8B5xqx8sPWBqf8+i+x4xMEFQEHJKo3Jcz5a/UXRdfHwtQdBRx1Hecgy2af2CohtKkVeWa52fdeGCo2siYzgg6x8fIxAzA7zTv6ab/SKmg0TVMyDJDQftSgALHuMPKyAorzp14b0n15LOc6nzsjURqDEPg3FUY1lxYc0tpTannXwUXfejL2WtwKXcJ3n9QQAMHqxg6un4WC+KiGufoglb3pFD6IEA+HO2Zmn/Hgl6R0SXd8jiwDpz7q4Dd8YrLOsW8kY15bhB7y2O0kdfMRUlCPgBV8ji7g5ernSZigBFyV+fOJizzMNlJ9WGKmgctwCrOcD/n73zAHCi6OL427sDgePovQnSFBERARWpIk0EpCsqIAooKnYUC/YGn4pYsIGIIoJUUUGQJkWkiCK9iTQp0nv/8h/cM8kld8kmmdvd/NHJ7s7OzJv3m7mdfdMWBp//RiYYNe9SP9F1I38pftM10Skqfv8Gfef7wosOwivL2vK1xS/noV+m+P09YCr4B54OEHMkGCmhI9Xta2Chp3/HBgx+t21uBD2DOf9nI+qCf9j3PZ3H3n7Y9M/pG+J564Nz/xFgLIPAjEG8P+E+HN4ZG1R2x3IQ6OPv/AcOvGfBmGGn/nYmzUAC3iOL5TXMIPY92iCLtmxJChfKJ0vmfCHb106R3+Z9KcWKFlQO5/Dzd4f+/kl+mvKxlCheyL6FzZylEsDop//GV/UqJUqeZBv8RaTmMjon/g0aXmo+8rzAe099hiS8wOPoVuffoHnriV7vzvWTBA98b3+3nee4wFcjc12Tr6/v1eApp2XUPF8jwOkvO/51wXuDE1/t015hrdP4X3w7BDD1Dy+BaUPb1yeX/xrgg+fUTs/+3/rFS56bdkP3LpEUv5kAew+f874t3yw6Ixt2+I50tajhvhfeXH4jn9jZHJ+38YbRqGqiYJaDt58bz3N6dZSi48ctmzqFWlb+nUJ4X/COO2ruafHfHfvGK933N+HfVmKpHPZ88GZxTcUE8X+/8r7vhnP/TnPv+oB3yHe/991DB+2gG5eQxaosbWkAQ9k8uVOkaJECyuXNkyJw5rX/MWey39sEEqCzLYG3v/P9o8UUlvqVbVsVI+KY7Ne7P2P5GZnkebHzTvS6yxKlqBN67LwzHea5f4NmRofRe3u9RPFv+M37bjrm8Hq5g17B1vTgHnp7n/zipKDXG9fezukbhOXMZnirI969+j43/C4wLXRAgJkTTtwB1H8EeOPOs9LXU96Hjp1f62aq3t4zsu2m3dBNvXD0/5v3Hu3ClL5P/b5nWd0z8osRYMR1m4OxJxJYK5T/NRXc2T76a+y9TATGbw6/TkP/8G67TvFbFuC9Lh4zJD6f7dsZio2OCufxfZ66gUmyX1v5x19nffcByCJS5xL3Gf7+Zedf/7E8wgyDdb/esyix5M5RAym+TZ2pltaj7Z+qhQrmk+W/jFYO59ztWWv9iLowbO6yebdvzXfS2r1wgfi/7I9f4Dt6hakqDVxq/HuzyuHXoJn3bqmT5JrdXE2dgh39X3KxrilQWPTs9v7khCxa7zv6hbAdajl/Kmyy30vtYo+e0BXfOx0557SgV/vF0afkoaEnpcugE9LilePS6Lnj0vr1E+L9QmjywNFpLsWvz3bTrvMjwN56YEmI00f7vfXxP0/vZX+Ix/g9fPy/dgJTY7E7vH8abrn2bye89YqHqc9KX89P8r/tRKmChlS7yPavp54cR/f/nNl80/PuFPrkx9OCdbBmCPxNNPR0npvXbjr6Dxz461anUqL4t6f+YdxwneMCXy3MDlK0kys2+74f4D06HmaJ+BKJ7MoxT5i16zdL3abdJSlvTSlctrFcdV0X2bP3gBw+clSef/Ujec7jDhwMsGNAZHwYO4oE8PI6bKZvDyZGs7CmMYpibJVUst8DzD9z7TwGjb+fG68DNWjY3CSetun3b8wCjQCjUev10Un5y6+TKKfnxejuJkmCTz44vX4k+41yYDkERrvfmHhK8IkLbA6HHXCXexp4fO4Da+YD6dzkikRx6uiH/wiwv37XXpwgV5V3TPPsn/2Qrv1fYPG5H2xwtmbbWZnst+69URXnd/ykByXQ8xHhr/MYOAVzuW+ED7oFciYHtA2B7rvZD7ql7RSCr8jqrWdlmt9mcDB+/duU86Gd/5vj346QQJqgLcT050D33ObnzwFrodf9fVa1k966XlYqQfAVBG8/25/b4LHmiBZ21Zo/pV6z7jJn/tLUMt2//5CcPHlKsl1wgaxet0kZwZOnzk+9zxP7EfjwB98eTKxvu+FKR1RByzCT/aZ7eieEqZvx8nLj/yCvWylB3LaZjXfZBjrPntX3iX/oqG8ovOA86Bn19F8bjOnxvZpmEbdM/0zOoFPIl0rgK6x1qu0xEgPftb8vpv5jylqgnF5aMkEw/TPQPbf5+Y9YYDOwt/02vkL9x1RPt+nurU/OAO0EPmUSD7ODvDng2YC2IV7aRW/dcZ4SZGO4d/x2BC+U25Cr3TUtHuqnuvQ2eWxQOdFVu+GnKh3gJIdfW7n7gMgrY3yXEKIztWUNB04HPxdAYc1etrc+zp07J+99/LXs2LlHoSlYIK86mj/YLbpLpxvFMAwZM/FHOY1vzZg3ebQNgd83nZWZy8/45Kf+pYmu39gjZzYflVMvMMULm/ekerj8BC82pororXTzdEZTT/+jNwPc8x4BHvLjaek/3rdhQxgYQ90bJblqjXTOAC/70DUjh5eifDkNKVXAEEetdQqimL/xh2Bu0Q26hOL8X/jxmZN129NO7QslLSeHSQnQnstFMwAAEABJREFUTrS92oEvtREWAjr56nsMnAiTcWx0/2cCvnk7ZekZWev3N3FDNffXjRS/mUIoVOwX487OMGiX1vkbwFgDvnWPr+WIWYSYDp82Nn0yIpCQUYDMvr//wCH5ZdFyZeB+9ekr8vv8kVKqRBGfbFW+pJzaJXrVmk2C8D43eWELAu/4bXyVz/MiW+9S21e/iNklB5jKg09atL3K/Q2YNzzzQY4X/A7XxpfuJofsWc2z88eDx0QwvbffyJPiv8MlQmD648213dfbnezp1cYIKHZ9L5bPkHJFDTV9C9Parq+SKOjNht53NkyS+25IksdbZ5EXb8kiT7XLIg+1SBJ0CPi/KIKX01yK32hP/hRDbquXFFffb8TohXe54bMe3tf4DE5JT4eHt58bz/1nCtWqmCAl8htuVDVdnS4pkRA3o3sS5J/ZVpq3P/jBt2MUjPBNaPO+W49oJ/x1u76K+98ZvXX23wXaXANshsEsqDKFHPqc8M62qZDmo+1r03HPG+Ku3XulZPHCUvfaagHxJCYmSGJCghw+fFROnfJdYxowAj21E/Bf0+jGz1kEgpozW1pfTG/M53nZTXvHvT7Jno4A8wXfvVqmr1kODwPvENv2nBVMef55je+IFzpIYAA2cOnmaDB6n2mfRR5pmST3NEmSLvWT1IguRjXQKVajXIJg5BvTnAvnNlz7qQvvz9/kuEA8HBLjYmMX77+BnH6dAN730EnSuGqit5drz707Q9C5c/3l8aG3aws0AsVy+s2Qwdp47+SaXWH713bv7Fo+xzPRO3KRPIZUuTA+dDf19mdg+uOIthH7YOCczhoBu9SmDHN/8tQpOXb8RMBwmzZvlx279gimQyd4DOGAgehpGwJ4uY2XzY/8e/bLFDYknqbwmJUudw6RzvXj7wXf1B9H/8YMO//6f+c0JbuhRjjxN4I4dO4lkOtf4w8dHp09nQCY3udebQNr5v+y7x2qYZVE13Z+eOuJc3QQ4giHXZ9RJ3BOF38EUv59LgTSvE6lBImX54T/u1M8LpvK4ddp7l0nHD+Tzncmt7dq2s5tbwDnzZNLKlcqq9YAD/18YhojeOu2XfJ4v3fUhlhlSheXnOl1KWvDGq6g+AmPhr1ZNdtXu6gVSLJnBNic6YERjTZxNvXZBIlGG9Pezet4PPpPgfZnUDSvIfc2TRIc/e/x2n0EUjydHYbn4XBz7STXbHAWbikFWvuKNLAJkps3+YGO3g7tBK6rlk6QeJjeCl3pAhMI1imUfIFIg8rxMzMgR9b/+GBteIVinoflf15xcRbsnaFZtUTBRmhxASGGStreEsmWLavc0r6JQvDygKFSvmpr2bx1h3KlK7eQkpfckLo79E031pfkHNlVWCf9LPp1pZS7/CbJVayu/P7H2qBZxzeQR4+bJhdf2VaMXNWVK16xmbzz4Sg5dizt6Dg2EPtp3q9yTcM7VFjEyVuygTzeb5AcPHRE/P+FG94/fijXeIDnzuH3IAslokPDQNPsnoYL2W9+ZaJg3SPO6eKPAAyeYFpf7nnx7dEoSZKzBQtBf7cRwAgwngnx+GJnlmWwvwmsA08wzFDuP6Z4Xlvwt3+Dp41wv7bUMD0CeC4Euo/prhhACHTPjX7JXlPBYfC5UceMdEKnh38YdJBhjwB/f8dd2+D5bnsDGIXasU1j6d61NU7l7Nn/1svhM0jK0/PTsH5Nuf3mGzxnzvkfRusLr30sNet3lg1/bhUYuKfP+O6UbGqDtc33PPSqdOzaV/buOyidb2kuHdo0kn37D0rvxwZIzwde9jGCYcwOePtzqdesh/y+fK0KizhZsiRJ/4HDpWnr+9V3lM30ww1vxgvniM86YApPOHHcEBY9unjJrRbkw/5u0JE6hEbggixpw11fJVGtgcVnwdLepY9bCZQvmiBXlXdEExyzIkjJkTZprPMrXcgGb0dpsxYzH3QKozMk2IhPzAQzYdsRyJk9bd3HCOgVZeLrWWEafxU9I78XFkzLxHYFF4MM+U+B9owHSturk2IgKT6TdMRfVBaP0Tb4rb4yatirUrZMCZ+Syu4ZXuvzYGcZN2KA5M6V0+eenS82btomtRrdIc++8qE0aXiNXHrJRelmd+zEGfLxsPHSoG51Wb1krHz24fOKx6rFY6R82VLy+Vffy8TvZqemsWDRH/LMS4PVvWU/f6XCIs6638ZLQ09nwc8Ll6mRYzNCuOHNeKEeMcLVonr8TN/x5oLNn26qyYeWNxOv87g6zZ71v4YcU+JvrZso2PgpriBQWUWAHR4i/lOgMcLVNE42+VGVwOvnslKOeB3zyjFPY0EAswH8070xDt+dcvw7cy6eN4S7wK/DHEvoAtUP//rC69AIOOaJi52eMeK5/vcJcnrfQtm5Yaoc2zVfju6cJ6+/0FtNfd7nGQ3FSGZoqmduqK/H/ygb/9wmk0a/JaOHvyYF8ucJmiHshP35V9+pT0HB2M+XN1dq2AtLFpVn+3ZX12O8voM88usf1Lro3vfcLOUuKqnu4wedBM/17aE2DPtuylw1ggz/cMMjTjgO3+28qPB/L//hxHV62BbVE4QPLaeXYnTynz3r+XSwAzA+53Nxccc8gs9nnL8kEEUCKX6jXQ0uS/Q8K+OznYgiViblYAIpXlN/oQbWhZeIw09iJV9gqF2fi+SJ7+dBSnbUAhHMIMQnsM5fueCXm2BlXIgHDh6W9p0fl8nT5qcGhjFcqGA+yYb5AB7fHTv3qDA163eRXbv3eXzs/z+mI29Z/b3c2LSOJGSw2Gn7jt3y6++rpcyFxeSKKhenUa7yJWUlJWcOMb+DjI6Anxf+ofzqXFM1TXiMGJcqUUQ2btqqNhcLN3yaBOmRLoEUv5e8dAPzpqsJoFcb3zXt1SRJ4r1hVwXNn7gnkDPbeQRqicwlCecv+EsCcUog578GD9THjIjGcfIpMOjr7VI8HK6vwudBjqyGYO8YLJHw5sPzyAnYvnYdPXpcFi5eIa1ufljGfTPDR2OM9o4aO1UqVmsj4yfNVCOe3muEfQLb7KJokQKSKyU5pFzBQD148IiULFFYkpP/fVvwionOgLx5csnefQfU5lYYMd61e6/AD/e8gqpTpIG0sBHWnr0HJNzwKhH+kAAJhE2getkE4WZXYWNzbQQqJqkjvjdyAyhWBxIQ7xHgepcmCgzBeMSCDjF8PSIedffWOYfnlb9DrUTBkinhv6gSsL0BjO/6JiUlCjaBat/5CRk2YpLA8MVGUB279pWb73hSGX2gAqMyB2oLLlzktv+9W44eOy5JSUlqGrS/almyJElOzwgwjGQYyxgx/mfPfk/4RM/ocoJ/cElKTJLkHNnl9Okzagp0uOHTJEgPEiCBkAhU5jq/kDgxUFwQUEqmeF7wLi2ZwM//KBr8iXcCF2QRwcgvRv3qXZoQ7zjiXv/GlycKZo3FPYgYALD9X1ehgnnl5X73So7s2dQO0Hfe+6LAYdQX62hNJu1bXy/fjx3kqI2wzLyHeixetKAyXP3DZ8uWVQoWyOPvHXTEGOEL5I88fBqBQTwWLlkha9dvpiMD1gHWAdYB1gGfOnDu9BGpmG+Hj198tBdsE1nOgevABUln5PKie/k3wWelHN23xZX1IIi5oNXb9gawYRhyc7vGsvinz+XiCqWVEfzpF98IRjhBCtOIv/r0FbXLcT6vzaFwz21um2ck+MjRY2nUwuj4kSPH0/hv2bpTAvlj5DdQOuGGTyOQHiRAAiRAAiQQBoGqxQ9JctYzYcRgUFcQoBJBCZTJf0xK5T0e9D5vkAAJRE7A9gawqeIlFcvIvGlDpU3L60wvad2igaz5dZx0bNs44NTg1IAOP8Fa3qSkRDl9+rSa/u2vTuoaXk8HQOGC+dXa31y5kj3hz6gOgzThT5xQHQjZs18gRQoXCDu8f3oZXde88lKpUK4UHRmwDrAOsA6wDvjUgSqXlPC5ZlvBtjIe6kB6Onaol5d/E3xOuroOZGQ36LifoENIqDJOnz4js+YskTETpgd0M2YvknY3NZRrr75c2ra6Tm5p10Tm/vxbaljERRqhynNKuPz5cqsNs4KN0GLDK6z9LeoxZrHBFUbF8+XNrdb34p6/nhgVRlr4JJKZdjjh/dPjNQmQAAmQAAmQAAmQAAmEQIBBSCDTCdjKAN79zz7p0vNZ9UkjfPookOvU7SmZt+B3GTtxhnTo8oRPWMRFGplONcoZKFI4v1xUuoRs3rpD1m3YnCb1OZ5OgEOHj8pVNSpLntwpyl1SsbTAb/mqDWnCL122Wv78a7tcXrmCwGjO44kTTvg0CdKDBEiABEiABEiABEiABEggAwK8bQcCCXbIBPOQPgFMgW7etLaa0vzcqx/JgYOHUyOs37hFBg3+SrJmzSK3dmiqpoJjunS7VterMM+/+rH8teVvdY4f7J7df+BwNZW6660tBNOgww2PdOhIgARIgARIgARIgARIgARIIGQCNgloKwO4YIG88mzfHtK9a2tLDnGRhk3YppuNVWv+lF4PvyY9er8s9z86QFas2ijHjp+Ql/oPUX64hzBmIg/d20ka1q8p02ctlPJVW6uR8ptueUQq1WivRoVffPoeubrGZWZwNUUcHDFifEn1doJPRsGVrdJKZv60WPHFNHIzAs7DCW/G45EESIAESIAESIAESIAESIAEnEIgswzggHwwEtnt9pby0aCnLDnERRoBE7eZ56bNf8vgT8bIx8PGy7ARk9SmVOfOnZMJ385SfriHMGa2sV533IgB0ufBzoJdn4eP/E4mfjdbrqx6icye/JE89sDtavTXDJ8lS5K8/fqjMmjAY2qTq9Hjpglc4UL51I7Zg9/qKwhjNbwZj0cSIAESIAESIAESIAESIAEScAoBWxnAwaAdO3ZCps38RW14debMWZ9gMAane0ZFv/thrgT6tI9PYNtciDRrVEvOHVycrkMY7yxjc6vXX+gt+7bMTI338/RPpe611XyMXzMOpjff37OjbFszOTX86iVjpUObRpKYmLboww1vyuGRBEiABEiABEiABEiABEiABJxAIK0VZMNcD/l8ojRuda+88NrHcux42m+jffjpOLmx/YPy6ReTbJh7ZikNAXqQAAmQAAmQAAmQAAmQAAmQQCYQsL0BfPjIURkz4UdJSkqUvo/cITmTc/hgwjRerI/FJlCYPuykUWAfRXgRNwSoKAmQAAmQAAmQAAmQAAmQQOYQsL0BfOjQUflz03YpVqSgXFyhdEBKpUsVkyKF8su69Zvl4MEjAcPQkwRIwBYEmAkSIAESIAESIAESIAESyDQCtjeATTIHDx2RPXsPmJc+R/jjvo8nL0iABEjAdgSYIRIgARIgARIgARIggcwkYHsDOG+eXFK5UlnZf+CQ+mzQn39t9+GFa3wyCPdLlSwiOXP6TpH2CcwLEiABEiCBzCNAySRAAiRAAiRAAiSQyQRsbwBny5ZVWjSrqzDNmb9ULrqspSTmqSnFKzZTR1zDHwHwndwUGsBAQcLLyrMAABAASURBVEcCJEACJGAzAswOCZAACZAACZBA5hOwvQEMRF063Sidb2mOU+XOnj0r2//eLTgqD89Plcrl5a7ON3nO+D8JkAAJkAAJkIDNCDA7JEACJEACJGALAo4wgPF92k/efUY+HfysFCta0Acc7vV5sLPM+eETKVG8kM89XpAACZAACZAACZBA5hNgDkiABEiABOxCwBEGMGDhc0ddb20h29ZMltP7FsrODVPl2K75cnTnPHn9hd6SKyUZwehIgARIgARIgARIgATsRIB5IQESIAEbEXCMAezNLDExQQoVzCdYH+ztz3MSIAESIAESIAESIAESsBMB5oUESMBeBGxlAJ87d05GjJ4sPXq/rI64Pn36jMyas0TGTJieoUM4hLcXYuaGBEiABEiABEiABEiABOKSAJUmAdsRsJUBvGv3Pun30gfy8bDx6ojr3f/sky49n5X2nR/P0CEcwtuOMjNEAiRAAiRAAiRAAiRAAiQQZwSorh0J2MoAtiMg5okESIAESIAESIAESIAESIAESCBMAjYNbisDuFDBvPLUY3fK5ZdVkEd73y758+WWggXyyrN9e0j3rq0zdAiH8DZlzWyRAAmQAAmQAAmQAAmQAAmQAAlkIgFdBnBIKhqGId1ubym/zftS7rmrnSQlJSoHv48GPSUZOYRDnJCEMRAJkAAJkAAJkAAJkAAJkAAJkEBcEbCVAQzye/YekEateimHc/g531EDEiABEiABEiABEiABEiABEiCBzCZgOwP45MlTsnbdZuVwntmAKD8KBJgECZAACZAACZAACZAACZAACdiAgO0MYBswYRZIIKoEmBgJkAAJkAAJkAAJkAAJkIA9CNAAtkc5MBck4FYC1IsESIAESIAESIAESIAEbEPAtgbwjl175NGnBkqP3i+H7F57c5gcO3bCNnCZERIggXgnQP1JgARIgARIgARIgATsRMC2BjDW/3759RT5eNj4kN3gT8bI/gOH7MSXeSEBEiCB+CVAzUmABEiABEiABEjAZgRsawDbjBOzQwIkQAIkQAJhEWBgEiABEiABEiAB+xGwrQGcJ3eK+u7v18Nfl1DdZx8+LwUL5LUfZeaIBEiABEiABOKLALUlARIgARIgAVsSsK0BnCslWW5sWkfa3dQwZFe/zpWSlJRoS9DMFAmQAAmQAAmQQLwQoJ4kQAIkQAJ2JWBbA9iuwJgvEiABEiABEiABEiCBdAjwFgmQAAnYmAANYBsXDrNGAiRAAiRAAiRAAiTgLALMLQmQgL0J2M4ATknJId1ub6kczu2Nj7kjARIgARIgARIgARIgARL4lwAPJGB7ArYzgHMm55Bn+/ZQDue2J8gMkgAJkAAJkAAJkAAJkAAJkIAQgRMI2M4AdgI05pEESIAESIAESIAESIAESIAESMCLgENOaQA7pKCYTRIgARIgARIgARIgARIgARIggcgIxMoAjixXjE0CJEACJEACJEACJEACJEACJEACUSZAAzjKQM8nx18SIAESIAESIAESIAESIAESIAG7EaABbLcScUN+qAMJkAAJkAAJkAAJkAAJkAAJ2JAADWAbFgqz5GwCzD0JkAAJkAAJkAAJkAAJkIA9CdAAtme5MFck4FQCzDcJkAAJkAAJkAAJkAAJ2JYADWDbFg0zRgIk4DwCzDEJkAAJkAAJkAAJkICdCdAAtnPpMG8kQAIk4CQCzCsJkAAJkAAJkAAJ2JwADWCbFxCzRwIkQAIk4AwCzCUJkAAJkAAJkID9CdAAtn8ZMYckQAIkQAIkYHcCzB8JkAAJkAAJOIIADWBHFBMzSQIkQAIkQAIkYF8CzBkJkAAJkIBTCNAAdkpJMZ8kQAIkQAIkQAIkYEcCzBMJkAAJOIgADWAHFRazSgIkQAIkQAIkQAIkYC8CzA0JkICzCNAAdlZ5MbckQAIkQAIkQAIkQAIkYBcCzAcJOI4ADWDHFRkzTAIkQAIkQAIkQAIkQAIkkPkEmAMnEqAB7MRSY55JgARIgARIgARIgARIgARIIDMJOFQ2DWCHFhyzTQIkQAIkQAIkQAIkQAIkQAIkEB6BaBnA4UllaBIgARIgARIgARIgARIgARIgARLQTIAGcFSAMxESIAESIAESIAESIAESIAESIAG7E6ABbPcSckL+mEcSIAESIAESIAESIAESIAEScAABGsAOKCRm0d4EmDsSIAESIAESIAESIAESIAFnEKAB7IxyYi5JwK4EmC8SIAESIAESIAESIAEScAwBGsCOKSpmlARIwH4EmCMSIAESIAESIAESIAEnEaAB7KTSYl5JgARIwE4EmBcSIAESIAESIAEScBgBGsAOKzBmlwRIgARIwB4EmAsSIAESIAESIAHnEaAB7LwyY45JgARIgARIILMJUD4JkAAJkAAJOJIADWBHFhszTQIkQAIkQAIkkHkEKJkESIAESMCpBGgAO7XkmG8SIAESIAESIAESyAwClEkCJEACDiZAA9jBhceskwAJkAAJkAAJkAAJ6CVAaSRAAs4mQAPY2eXH3JMACZAACZAACZAACZCALgKUQwKOJ0AD2PFFSAVIgARIgARIgARIgARIgARiT4AS3ECABrAbSpE6kAAJkAAJkAAJkAAJkAAJkEAsCbgkbRrALilIqkECJEACJEACJEACJEACJEACJJA+AasGcPqp8i4JkAAJkAAJkAAJkAAJkAAJkAAJ2IwADWBLBcJIJEACJEACJEACJEACJEACJEACTiNAA9hpJWaH/DIPJEACJEACJEACJEACJEACJOBAAjSAHVhozHLmEqB0EiABEiABEiABEiABEiABZxKgAezMcmOuSSCzCFAuCZAACZAACZAACZAACTiWAA1gxxYdM04CJKCfACWSAAmQAAmQAAmQAAk4mQANYCeXHvNOAiRAAjoJUBYJkAAJkAAJkAAJOJwADWCHFyCzTwIkQAIkoIcApZAACZAACZAACTifAA1g55chNSABEiABEiCBWBNg+iRAAiRAAiTgCgI0gF1RjFSCBEiABEiABEggdgSYMgmQAAmQgFsI0AB2S0lSDxIgARIgARIgARKIBQGmSQIkQAIuIkAD2EWFSVVIgARIgARIgARIgASiS4CpkQAJuIsADWB3lSe1IQESIAESIAESIAESIIFoEWA6JOA6AjSAXVekVIgESIAESIAESIAESIAESCByAkzBjQRoALuxVKkTCZAACZAACZAACZAACZAACURCwKVxaQC7tGCpFgmQAAmQAAmQAAmQAAmQAAmQgC+BUA1g31i8IgESIAESIAESIAESIAESIAESIAGHEaABHFKBMRAJkAAJkAAJkAAJkAAJkAAJkIDTCdAAdnoJ6sg/ZZAACZAACZAACZAACZAACZCACwjQAHZBIVKF2BJg6iRAAiRAAiRAAiRAAiRAAu4gQAPYHeVILUggVgSYLgmQAAmQAAmQAAmQAAm4hgANYNcUJRUhARKIPgGmSAIkQAIkQAIkQAIk4CYCNIDdVJrUhQRIgASiSYBpkQAJkAAJkAAJkIDLCNAAdlmBUh0SIAESIIHoEGAqJEACJEACJEAC7iNAA9h9ZUqNSIAESIAESCBSAoxPAiRAAiRAAq4kQAPYlcVKpUiABEiABEiABKwTYEwSIAESIAG3EqAB7NaSpV4kQAIkQAIkQAIkYIUA45AACZCAiwnQAHZx4VI1EiABEiABEiABEiCB8AgwNAmQgLsJ0AB2d/lSOxIgARIgARIgARIgARIIlQDDkYDrCdAAdn0RU0ESIAESIAESIAESIAESIIGMCTBEPBCgARwPpUwdSYAESIAESIAESIAESIAESCA9AnFyjwZwnBQ01SQBEiABEiABEiABEiABEiCBeCcQzACOdy7UnwRIgARIgARIgARIgARIgARIwGUEaAAHLFB6kgAJkAAJkAAJkAAJkAAJkAAJuI0ADWC3lWg09GEaJEACJEACJEACJEACJEACJOBCAjSAXVioVCkyAoxNAiRAAiRAAiRAAiRAAiTgTgI0gN1ZrtSKBKwSYDwSIAESIAESIAESIAEScC0BGsCuLdrwFTt37pz8NO9XuabhHWLkqq5c3pIN5PF+g+TgoSPhJ8gYJOA4AswwCZAACZAACZAACZCAmwnQAHZz6YahG4zfAW9/LvWa9ZDfl6+VDm0aSedbmkuWLEnSf+Bwadr6ftmz90AYKTIoCZCA4wgwwyRAAiRAAiRAAiTgcgI0gF1ewKGqt2DRH/LMS4OlfNlSsuznr2TUsFflsw+fl3W/jZeG9WvKzwuXyTsfjgo1OYYjARIgAccRYIZJgARIgARIgATcT4AGsPvLOCQNR379g5w8eUp633OzlLuoZGqc3LlyynN9e0hSUqJ8N2Wu7Nt/MPUeT0iABEiABFxDgIqQAAmQAAmQQFwQoAEcF8WcvpIwan9e+Iek5Mwhda6pmiYwRoVLlSgiGzdtlR0796S5Tw8SIAESIAEScDYB5p4ESIAESCBeCNAAjpeSTkfP48dPyq7deyVvnlxSqGC+NCGTk7NJyRKF1UZYXAecBg89SIAESIAESMDZBJh7EiABEogjAjSA46iwg6m6fcdu+WfPfjXNOSEhbZVISkyS5BzZ5fTpM5amQF9SvZ30evg1OjJgHWAdYB1gHWAdYB2wXR3gOwrf0VgH9NWBYPaITv+01o5O6ZRlKwIY5cVor3+msmXLKgXy5/H3Duv61OEdQkcGrAOsA6wDrAOsA6wDrAO2qgN8P+M7qtY6kJwtLBMiJoFpAMcEqzMT3bJ1pxw5cjxN5jHye+TosTT+oXqsWjxG/pj9Dh0ZsA6wDrAOsA6wDrAOsA6wDtioDvD9VPc7enI2I1QTImbhaADHDK1zEsba31y5ktUU57Nnz6bJ+PETJ9QU6ezZL5AihQukuU8PEiABEiABEiABEiABEiABhxGI0+zSAI7TgvdWO1dKsuTLm1ut78VmWN73cI5RYYwO45NI+fPlhhcdCZAACZAACZAACZAACZAACTiOQMK/OeYhjgnkyZ0il1QsLYcOH5XlqzakIbF02Wr586/tcnnlClKUI8Bp+NCDBEiABEiABEiABEiABEjAGQRoAKtyiu+fpKREadfqegXh+Vc/lr+2/K3O8bN330HpP3C4nDt3Trre2kIwDRr+dCRAAiRAAiRAAiRAAiRAAiTgNAI0gJ1WYrHIryfNtq2uk+5dW8u6DZsFny3q2LWvwJWt0kpm/rRY3UMYT1D+TwIkQAIkQAIkQAIkQAIkQAKOJEAD2JHFFv1MZ8mSJG+//qgMGvCYYFOs0eOmCVzhQvlk1LBXZfBbfQVhoi8581NkDkiABEiABEiABEiABEiABOKDAA3g+CjnkLTE9Ob7e3aUbWsmy7mDi5VbvWSsdGjTSBITWVVCgui8QMwxCZAACZAACZAACZAACcQNAVo1cVPUVJQESCAtAfqQAAmQAAmQAAmQAAnEEwEawPFU2tSVBEiABLwJ8JwESIC8FtUhAAAQAElEQVQESIAESIAE4owADeA4K3CqSwIkQAIkcJ4Af0mABEiABEiABOKPAA3g+CtzakwCJEACJEACJEACJEACJEACcUmABnBcFrs+pfH94O1/75ZJk3+SMROmy6o1f8qZM2djmoFTp07LT/N+VTJ37tobsazDR47KrDlLVP6ffeVD6dH7ZfVtZOizYtVGgTwrQsBmz94Dsmv33pgzCZQ/6PX3jn8EjKzqECjd9Pygs876AL1YF9Irkf/u6a4PrAv/sfc/A5t4ejZAX/3Phei1ESg//P2wnQCJyJzuuoDcsp0AhYwd6jjfGTLm5B0CzPhc8CZin3MawPYpC8fmZPqshfLY028rQ85biQMHD8st3Z6S4hWbScuOD0v7zo9LpRrtpWK1NrLo15XeQcM6n7fgd6nT5C4pVam5dL//Jdm6bVdq/N+WrZWyl7eSes16KJlFyjWWN975QtCoSpj/1q7fLI1b3SspRetKg+Y9Vf5feO1j+XjYeHm83yB1XfmqDpKtYC3p/dgAOXjoSFgSduzcI9Vq3yqFyzZWTIaP/E6OHTsRVhrhBEYjP8bTCVGjXmcxclVXehWr0FTAKGv+qwWuaev75bsf5kZkkE/XWB9YF8KpAb5hddQH1oUBYT8XUEpufDa4sS6grBzbTiDzAZzbngtQke0EKITvdNQF5MqNzwY+F1Cy9nY0gO1dPrbP3fHjJ+XNd0eoEdIsWZJ88vvBkLEyauxUSUhIkAZ1q0u321tKxfIXyoY/t8oNbXsLRk99IoRwsXDJCrmx/YMy9+ffZMvWnfLJZxOkVqM7BIYvDOFbuj2p/CGnWaNaSnafZwbJjx6jLITkU4NgpLpes+4ybeYvKo3LLi2n8t+9a2sxHfS59JKL5OzZs/LOh6Okza2PCYz+1ETCOAGTLj2flfylr5OX+g8RjP5IFP8hX2YnxOKlK9OkjE9gobH7YfrPii86GMAzTcAMPHTWB9aFDAojnds66gPrQuTPBRShG54NbqwLKBu2E3f5dECDSUZOZ11AXoK1E3xnAJ3gTkcbAek66wPrAoiH73TVhfBzFlkMGsCR8Yv72PjDWL12k1S6uIzkzZMrlcehw0fl2ylzpGiRArJi4WiZ8e0HMuS9frJq8Rj56tNXZO++gzJ4yJiwRmZPnz4jb703Qo2ovPLsvbJl1ffy7dcD1ajpo08PlP4DPxPk5fUXeis5348dJD9P/1RypSTL0M8nCuKnZjCdE4wWv/fx14JRmAfuuUUObp8ty37+SuX/o0FPiemgz/JfRsuBbbPlnrvaCXox33rvy3RSDnyrTq0rZMGMYdK6RQOlyzMvDZYCpRtK5x79ZM26vwJHCtMX+Zry43ypUa2SzJ06RE7uWSDnDi6WPxaMknx5c8nQ956V0/sWytK5X0qjBlfJzwuXSdd7ngvboNdVH1CWrAthVgKv4DrqA+tCZM8FFJdbng1uqwsoG7YT1toJXXUBZcR2AhQCugw9dbQRyISu+sC6ANrWnK66YC131mPRALbOjjE9BDD6iQeL59Tn/8MeA3jzlh3SoE51Nepr3jQMQ9q0vE5a3lBXflm0XPYfOGTeyvCIsMuWr1cG2oO9OkmJ4oWkeZPaygj++ZdlahT2xqZ15P6eHcUwDJVetcsvlob1a8j6DVvl0OEjyi+jnz17D8jMnxZLk4bXyKvP3SfJObKnGwUGNsJdVb2yMoJh/Kcbwe9mQoIhGEkeN2KAbF75nfTq3l6NOn/+1fdy8ZVtpWb9zjJj9iLL05L37T8o302ZKxdXKC2TRg+Ua6++XMzR+nIXlZSra1wmn3/1nVrLXLVKBZk87h1BBwMMeuTBL7vpXuqqD6wLZ9Mth/Ru6qoPrAvJ6vlh9bmAMnTLs8FtdQFlw3bCWjuhqy6gjNhOWGsndLURKCNd9cG3LnTi+yPgh+B01oUQshPVIDSAo4oz/hLLli2rFCqYT44cPRZwhDUpKTHVGDXpwPiC0YjNnzD9xfTP6IgpujCsCxfKJ9mzX5AavOaVl8pNN9ZXcu7t0d7nHuTDgA1HVjA5qQIDnOTOlVMZ+jD6kccAQULyKlmisLz3xuOyb8tMefHpe5QuWC/dsMU9ctFlLWXYiEmKtYTxD4yhPziBnXdUlF+B/HnUyDl6YnEvMTFBetzRRq64vKJMnjpPEB/+oTikp6M+BCsj6Mi6kH5JoTx11AfWBZFoPRdQok5+NritLqA8gj2DcC+Yi1Z9YF0IRtjXP1gZsZ3w5eR/pauNgFy3PRuC1TnoGsxpfy4Ey0gAf511IYD4mHrRAI4pXvcnnid3ilSuVNZjKM2XJb+tSlU4V65kKV+ulDLW/EeIcQ2DGcZpQkLoVRBhESdVyL8nWCM3c85iNZ36nz37//W1foCBnjNnDmXQY5pbKCkhHPQKJWwoYdBB8HSfO2XPphny2YfPS6kSRWTz1h1yxz3PS8Ey1ws248KDNpS0QgmDvKMn1gybP19uuaxSOR/D2LyX3lFXfWBdiF1dQPlGoz6wLoh6JoElmEbLOfHZ4La6gLJkOyFipZ3QVRdQRmwnYtdO4LnGdwbUMl/H54K154IvxdhemamHbn2YMXgkAS8ChmGozaFOnzmjdkXGVF0Ygxh1xVrSBYuWy5ZtO1NjnDlzVr6e8KOMnzRLjTCiAU29mcEJeskwjRcbYG3avF2FhiH9/Ksfq/W6F5Ys6jEMP5G/tvyt7uEH09T+WLleSpUsIjBq4ZeRQwNdpXI5mfDtLJn/y7KMgqv7GKX93jNais6AvF5rodXNCH4w0t35luay8Y9vZPqkwYIpytgpesjwiRKqsY/8IF/e3MwsgQ82cgEbPLhNf/Po38iZ/sGOhqGnPrAuWKsLKDdd9cEwWBdi9VxAOTrp2WAY7qoL4M92AhTOu3DaCcPQUxeQM7YT1toJXW0Eysgw9NQH1gX71wXUB50uTg1gnYjdL6v2NVXljVcekm3bdwum6hYp10Q6du0rWHOxd98Beer596TXw68pP3x2p1O3pxSUnt3aSqARXXUzwA+mytx+s8cY3LRNKlzRRn0GqfBFjeWLUd/LXV1uksnjBgm+uXbTLY/InPlLZd2GzXL/o/1l6e9r5IoqFSXFM6obINk0XsjTQ/feKlmzZpHaje9Um1H9OHOh4Pt33m7rtl0yedp8we7N1zS8Q+l7S/smgnymSTRCD0xLvq5eDfl1zgj5ff5INeUb+QslWeQH+dro4XZ9i14y7psZShcY99hoCy/p2KXbuzMCLzToXMB0ZsQPRY4ZRkd9QJ5YF0aEXRdQRmCnqz6wLsT2uYDydMqzwU11AdzZToiaJWWlndBRF1BGeNaxnQi/nQA3XW0EyklHfYBOrAv2rwuoD7ocDWBdpO0kJ8p5MQxD7uvRQX6ZOUxtqIT1haPHTZPX3hymdjUeOeYHGfzJGIEf7pUtU0LtCo0R4nCz0rbVddLnwc5qwyZ8BgmNb7ubGsqAlx6QSyqWkXcG9JFly9dL3abdlZEM2Vgv9eC9ncIShTVCXw59We0gjY2gGrXqJTDevV3JS24QfM5p+Mjv1KeQsGa3Y5vGYckJN7BhGFKlcnl5u/+j4m2wZpQO8oXPN2G6eNvb+ihdrm3UTTBqjTXA3T0dCIZhpCazc9ceWfzrKjW9HSMdqTdCODEMPfWBdcFaXUAR6qoPhsG6oOO5gDI1DGv1gXXhB7HSRoA52wlr7YRh6HkuoIzYTtj7uYAyMgw99YF1wf51AfVBl6MBrIt0HMipfkUl9dmhfzZNlx8mvCufvPuM+jwQDC98muibUW/KtjWTZd1v46Ve7WqWiGCaLtI69PdPMm/aUJXe6M9eU5vNIEE84H6a8rHawRkvNR3bNpYfvxksF5UujtvKhfrTrFEt2b5uiiB9pFu8WCG1O7MZv2CBvHL5ZRWk3xPd1e7NWLOL/Jn3MzqmpOSQbre3VLtiZ7vggoyCR3Qf+Rr8Vl+1YzZ2twabiuUvlKce66Y+8QQ9vAXkyZMiH7zdV+0GbRj/GcbeYTI6j3V9gE6sCxmVQuD7YKezPrAuJAUuiCC+bn42uKkuoPjYTlhvJ2JdF1A+eNaxnQCJ8By46WwjkLtY1wfoxLoA0uE5cNNdF8LLobXQNICtcWOsdAhgZLLxdVfLnZ1byftvPqG+m4tR2xbN6kqxogXVbs3pRA/pVs7kHFLrqioB08NnfqaMf0cZpfjmcIVypUJKM1AgrGVu3/p6GfN5f9m6+ns5s3+h+n4uvqG7a+M0+W3el/L8kz3VCEKg+On5QYdn+/aQ3nffHNZU8PTSTO8epko2b1JbTDarl4yVl57pJUWLFEgTDXo3vb5WwHtpAmfgEev6AI6sCxkUQoDbmVEfWBcCFEQAL9Rptz8b3FIXUHx4XrKdAAlrLtZ1AbnC3xTbCZAI3WVGG4Hcxbo+sC6Acngus+pCeLkMLzQN4PB4MTQJkICjCTDzJEACJEACJEACJEAC8UyABnA8l34m6n7XfS9K2SqtZOeuvTHPRSSy8G3cqTMWyKw5S9QmV8Eyi7XI17fspUWnSPQJlv9A/rrkQLYuWZHIcUVdAGyLLhJ24Yh0ghw71gUwdgI75DNU5xR97FgfnMLObnUB+YmEHeuC/d/rUMahOtaFUEn5houEm29KsbuiARw7tkw5HQL4hi12Gvb+jlw6wSO6ZUUW4jzeb5DkKVFfmtx0nzRo3lPylmwg1zS8Q1au3pgmP/j00+nTp9WumLHWCXk7ffqM2ngrTUai6KFLDrKsS5YVOYgT73XB7mWE/IXivMOgXMP9O0Icu9YF6Ib8hasT4oXrKOc8MXCwa31A3lgXzpdTuL9W2CEO68JpLe9AKE/wtmv9Rt5YF/TVBdQHK44GsBVqjON6AvjObv+Bw9PouWDRH3LZ1TfL24NHCr5pnCYAPVxHgHXBdUVqWSGH1wXLejNiYAKsD4G5xKMv60I8lnpgnVkXAnOxmy8NYLuViMPyg88a4Zu8Rq7qEo7Dp4PCVVWXLExnHjNxusoedng+unOe2vgKu1tjwytsBvDg42/IfY++rj7HpAJa+NGljy45QKBLli45bqsLbiwjt9UFltF/bUm47UT6deG/dP3bqnDloIzc9mzQxU6XHJSRLlmsC+f/tqz8HekqI11yWBes1wX8zep0NIB10nahrHPnxDMSekaLZrpkHTx4RNat3ywXVygtve5qL9mzn/9EEXYmhEG8duk4wXb9HwwZK/c+Yt0I1qWPLjmoBLpk6ZLjtrrgxjJyW11gGYGANaerLiB3jns2INPpOF3sdMmBqrpksS6AtjWnq4x0yWFdsFYPMiMWDeDMoO4imYUL5ZNe3dsrjfCpo+1rp0gort1NDVWccH50ykK+IC85ORtOfVzpUsXkx0nvC3T4eNh4ZQSfOHHKJ0woF0hfBztdcqCzLlm65EAnOMhzQ10wdXFTvUPZ6NAH7OAgL5Z1wZShQyfoQjlT1LMc3K04MIxlfUD6LCNrZeTN51ku/QAAEABJREFULtbvJ6g7kMe6ABKhOzBzU/02NYderAsmDXseaQDbs1wclSuMkt7YtI589Ol42bJtp/p2bNEiBdI95sie1rAMRWkdsnLlSpby5UrJ7n/2y/HjJwNmK3eunPLJu8+oFycYwXc/+IocOXI8YNj0PHXoA/m65OiUpUMnN9YFt5WRLn101gVdOlHO+XbKSnuksz7oeNa5sS7o0skBdQEownK66hwypUuWDjmsC9afqagLOh0NYJ20XSoLU4Tfeu1hNVX4yeffE3wGIFaq6pCVnCO71L6mqqxa86csXroyqCowgod98Jzc1vEGGTNherphgyWSPfsFooOdLjnQU5csHXLcWBfcVka69NFZF3TpRDkgYM3prA86nnWg4DY5unRiXQBp6y729e583nTIYV04z9oJvzSAnVBKDshjuYtKypD3+gk2GlixamOGOb6uXg1p2+o6SUnJkWFY/wA6ZN1xWwuBnNfeHCaHjxz1z0LqNR52H7zdVxnBqZ5hnkCODna65EB9XbJ0yHFjXXBbGenSR2dd0KUT5YhYbY901gcdzzo31gVdOrEuWP870lVGuuTYri5A8X+d1WedrufPv9nUcqABrAVzfAhp1qiWLPv5K6l1VZUMFe7S6UZ589WHJWdy+AYwEo+1rAtLFpVf534hY78YIDByITOYw/2PBj0lUye+J0Pf7ycF8ucJFjSof6z1MQXrkgN5umTFWo5b64Kbygi6wLmtLujQCTLgYs0OMuDcJMetzwY3lRHqHFysdWJdELH7ex3qARzrwsOW3r1jzQ1lEwsXLE0awMHI0D/uCcA4x87PhmFkyAJTaxo1uEoa1q8pWbIkZRieAZxFgHXBWeUVy9yyLsSSrvPSZn1wXpnFKsesC7Ei67x0WRfsX2ZxYgDbvyDclMP9Bw7J3zv+kVlzlqi1sQuXrFDXwTaUikR3XbIox3opkZ01drq4IXe6ZFEOaFtzZGdvbsgdywgUwne6uCFnumRRDmhbc2RHbtYIhBeLBnB4vJwZWkOuDx46Ii/1HyJ5SzZQrliFptKgeU9p3/lxuapBF8F19kK15OIr28rocdPkzJmzlnOlSxblsIzMSuq2ugC93KaT2/RhGVlvJ3TVBZYRywh1wHS66p3b5ICf23SiPtbfH1EfdDgawDoou1wGRnsbtewlz7w0WNBzl5CQIMWLFZKSJQqnOlzDf826v6Rj175yz0OvyqlTp8MmY0WWFVmUwzIyK6fb6gL0cptObtOHZWS9ndBVF1hGLCPUAdPpqndukwN+btOJ+lh/f0R90OVoAOsi7WI5H346TjDNue611WTFwtFyet8vsnX197J55XepDtcn9yyQpXO/lBrVKgm+nTtk+MSwqeiS5SI5irEufSBMlyzK4d8R6huc2+qCG3ViGVlv+9zGTpc+/Duyf51jGdm/jHT+vaI+6HI0gHWRdqmcffsPyndT5iqjdtyIAVLp4ovEMAJvGpWYmCBVq1SQSaMHysUVSsuYidPlyNFjIZPRJYty3FRGIpHUO7fVBfyxuU0nt+nDMrLeTuiqCywjlhHqgOl01Tu3yQE/t+lEfay/P6I+6HQ0gHXSdqEsbGyFb/9eUrGMYMfkUFQsXCif1LzyUlm3frMcPHgklCgqjC5ZlCPCMlJVThxfF86r4fPrNp3cpg8Ky206uU0flhEIWGsndNUF5FCXLMqxVhdYRiBgjZ3b6tx5Enp/aQDr5e06aQkJCZKUlCg6/umSRTnWS5PsrLHTxQ250yXLDnKgb7ScLn2QX12yKAe0rTmyszc35I5lBArhO13ckDNdsigHtMN3uriFn7PIY9AAjpxhXKeQO1dONZ152sxfZP3GLSGx2LR5u8z9+TcpU7qYpKTkCCkOAumSRTkiLCPUOBG31QVo5Tad3KZPFMsISaXr3MZOlz6AqksW5bA9Qn2Dc1tdcKNObisjXfqgLuh2NIB1E3eZvGzZskrPbm1l5669cmWd2wQbW+3ZeyCNlufOnRNMlR42YpLUa9pDNm7aJs0aXSs5k0M3gHXJopxJLKN/a7Db6gLUcptObtOHZbRXrLYTvnWB7VE4bawudrrk8O+If0eoA6bTVe8ox/r7o1lWuo40gHWRdrGcFs3qSP8Xewu+e3bXfS9KgdINxchV3ccl5K4hhcs2ljvueV42b90h7W5qKHff2TZsKrpkUQ7LyKycbqsL0MttOrlNH5aR9XZCV12wfRlZaGN1sdMlh2XEvyPUAdPpqneUY/390SwrHUcawDoou1yGYRjyyP23yeolYz2jwW2kUMF8ATXGWoJrr75cvv16oHz16atqemnAgOl4GoYeWYZBOSyj8xXRMNxVF6CVYbhLJ8Nwlz4sI+vthGHoqQssI3uXEcoHzjD01AfDoBy+M6DGifoSio53YsNwV50Tzf9oAGsG7mZxFctfKB8MfFJ2bpgqZw8skn82TZfta6fIjvVT5eSeBXJm/0KZO3WING9SW32aJhIWumRRjvVSIjtr7HRxQ+50yaIc0LbmyM7e3JA7lhEohO90cUPOdMmyiZyovW/p0odlZN0c01VGuuSgLuhw1onryB1lOJaAYRjqs0hFixRQn9TJkiUpZroYhh5ZhkE5VgvRMMjOCjvD0MMNeTMMPbIMg3LA24ozDLKzMzfkzTBYRuAQrjMMPdyQL8PQI8swKAe8rTjDiIRd6BINg3JCp/VfSMPQw+0/idE/owEcfaZMMQMCp0+fkUEffCXPv/qRHD5yNIPQkd3WJYtyrJcT2Vljp4sbcqdLFuWAtjVHdvbmhtyxjEAhfKeLG3KmSxblgLY1R3YZcAty223cgqgZsjcN4JBRMWB6BFau3ijN2z0giXlqStb8V0udJnfJdz/MlTNnzqaJdvzECRn3zQwZ+vk3cuhQ+AawLlmUwzIyK6/b6gL0cptObtOHZWS9ndBVF1hGLCPUAdPpqndukwN+btOJ+lh/f0R9iMSFGpcGcKikGC4ogYVLVsi1je6U76fOk7Nnz8qpU6dl7s+/yY3tH1SG8KbN24PGDfeGLlmUE27J/Bee7P5jEc6ZLm7Iky5ZlAPa1hzZ2ZsbcscyAoXwnS5uyJkuWZQD2tYc2ZGbNQKRxXKpARwZFMYOnQCmVLz13gjZf+CQlC1TQj58+0n5evjr8uLT90jBAnnl54XLpEa9zjJj9qLQEw0SUpcsyglSACF4k10IkAIE0cUNonXJohzQtubIzt7ckDuWESiE73RxQ850yaIc0LbmyI7crBGIPBYN4MgZ2i8FjTmC4bts+XrJkztFJox8Q3rc0Uba3dRQnu5zp/y14lt59bn7ZO++g9Kiw0NqSnQkWdMli3KslxLZWWOnixtyp0sW5YC2NUd29uaG3LGMQCF8p4sbcqZLFuWAtjVHduRmjUDksWgAR84wrlPAdOfDh4/K5ZeVl9IXFvVhkT37BfLEw13lh/HvStasWaRD5yciMoJDlRWpLMqZ61OO4VyQnTV2urihLHXJohxrdYFlZL2d0FXnWEYsI9QB0+mqd26TA35u04n6WG/3UB90OhrAOmm7UFa2bFmlUMF8arOrc+cCK3h9g5ryw4T/jOBvJ1v7A9Ely+Fy0hSCLn0gWJcsynlC+HeEGifitroArdymk9v0YRmd79C28gzSVRdYRiwj1AHT6ap3lGP93cQsK11HGsC6SLtUTp7cKVK5UllZvnKD/LX576Ba1rzyUpn2zXuSI0c26XTnU/LTvKVBwwa7oUsW5Ti5jHxrT6T1zm11AXTcppPb9GEZWW8ndNUFlhHLCHXAdLrqndvkgJ/bdKI+1t8fUR90OhrAOmm7UJZhGNKpQ1M5eOiIfPLZBDkXbBjYo3v1KyrJ5HGDJH++3OmG8wQN+L9h6JFlGJTDMjpfBQ3DYXXhfLbT/TUMd+lkGO7SB4VnGO7SyTDcpQ/LyHpbbhh66gLLiGWEOmA6w9BT7wyDcqy+P5plpetIA1gXaRfLub5+TRn+0fOSN0+KHDl6LF1NYQRPm/i+4FihfCm1NjjdCH43dcmiHJaRWfXcVhegl9t0MvWJ9TNIlxyWUSWx2k6wjOzPjmXEMsIzznS66gPlWHuv08XNrA+6jjSAdZF2sRzDMOTWDs3k2b49JGdyjgw1rVqlgiyaPVy94KCnKMMIXgEMQ48sw6AcltH5imcY7qoL0Mow3KWTYbhLH4tlZOm5ahjuYmcYevRhGYlYbcsNg2Vkd3aGwTJiGeEpJ2IY+uqCaPxHA1gjbIoiARIgARIgARKIBQGmSQIkQAIkQAKhEaABHBonhoqAwOP9BsnFV7aVXbv3RpBKaFF1yaKc0MojUCiyC0QlYz9d3JATXbIoB7StObKzNzfkTmsZaWhj3aYPywgErDlddQG50yWLckA7fKeLW/g5Sz8GDeD0+fBuFAjs2LlHjh07oT6VFIXk0k1ClyzKSbcY0r1JduniCXpTFzdkQJcsygFta47s7M0NuWMZgUL4zgq38KWcj6FLFuWc523ll+ysUBNxGzdrFILHogEcnA3vkAAJkAAJkAAJkAAJkICdCTBvJEACYRKgARwmMAYnARIgARIgARIgARIgARKwAwHmgQTCJ0ADOHxmjEECJEACJEACJEACJEACJEACmUuA0i0RoAFsCRsjhUOgerVKUqF8KcmaNUs40SyF1SWLciwVj4pEdgpD2D+6uCFjumRRDmhbc2Rnb27IHcsIFMJ3urghZ7pkUQ5oW3NkR27pEbB6jwawVXKMF5DA8eMn5d5HXpf6N/SQ7X/vVmHu79lRpk18X/Lny62uo/WjS5YuOYG4xIqdvyxdciBXlyzKAW1rjuzszQ25YxmBQvhOFzfkLBaydLVHuuQcPnJUXntzmMz/ZVnqRpmx4Iby0CWLckDbmsOGqZOnzZc/VqxPTcC/Ppw+fUZmzVniEyY1cIgnbpMTSG1/boHCRMNPl5xo5NU7DZcYwN4q8TwzCezbf1C+nTxHNWQpKckxzYouWbrk7Nl7QBq16iXvfDgqXW7nzp2TKT/Ol14PvyYvvv6J/LNnf7rh/W/qkmPKxU6Ez77yocxb8Lvp5XOELg/3fVO2btvl4x/uhdvkmPrjRXThkhUyZsL0VLdqzZ/qb8wME62jTlnRyjPTIYF4IqCrPdIl59ChozL4kzFybaNuUqB0Q3nkybdky9adMSlSXbIox3rx7T9wSO5+4BX536DPgyaSmJggHw8bL916vSCop0EDpnPDbXK8VdXVjuuS461bNM9pAEeTZmalZSO52bJllUIF88mRo8fk5MlTMc2ZLlm65IDX2nWbZfbcJcrQgYELB8MHvZUmzB9nLZTm7R5ULw39Xv5Aal3fTf7a8rd5O8OjLjlmRj4YOlZe6j9Ejh47bnr5HJNzZJf3Pv5aPhk+wcc/3Au3yUFHB14M813YQK5q0EXad3481VWq0V5KVWouM2YvChdTwPA6Za1cvVFuvuNJlX/oEMihIwgdNQEzG6KnU+VAb+gfiMesNW8AABAASURBVEsofoiLNDLChDAIG0qagcIgLtLISE56951aRpmpk672SJecIoXzy4eDnpTrG9QUGCVvvjtCPRvKXX6TDBsxSQ4cPCzR+qdLlh3kfDh0nET692lyT0+faMox5YV63LV7rxw/fjLU4JbDOUXOmTNnZdAHX0mu4nVj+s6gS47lAgsxIg3gEEExWGgE8ubJJU883FV+/2Od4OPY3oZbaCmEHsqUFWtZuuSYmo+dOEMZOjB+4GD41G3aXY2QYurP0M8nSrYLssrYL/rLS8/0kvUbt8inX0wyo4d81CHn0OGjMt1jsDdqcJXUvrpqwLxVv6KSNKhTXYVD+ICBMvBEPDfJgbqjx01TywnwN1Sx/IXS7faW0r1ra+l8S3MpVrSgWmLQqNW9Mm3mLwgekdMla9Lkn6TqtZ1k1NipapQHIz2B3MY/twnqulWlnCzH7KAKxCUUP3SiIY2M2CEMwoaSZqAwiIs0MpIT7L6TyygzddLVHumSYxiGNL2+llomdXjHHBn92WtSo1ol2fDnVrnjnuclT4n6amYU6supU6eDoQ/J3zD0yDIM/XL2b50ln3/8glStUkGxu/vBV9SIeqNWvSRSdobxnz6xkINyRfs9ZsJ0+XbKHDl46Ij8+dd2NRAAP3/3QJ//ydcTflSDLeioCanwPYHcJsejks//I8dMEbCBnsHeGZq17S1z5i/1iRfuhS454eYr3PA0gMMlxvDpEsAfXq5cydK6RX0ZMnyi1Kh/u/To/XJA9/yrHwnWyqSbYDo3dcnSJcdb1e4eQ2ft0nHyx4JRcsdtLWXx0pVqShBGUf/e8Y80a1xLWt5QTx7odbPUvfYKmfvzb2rU3TuNUM5jLeewxwDevGWHFC6UT7JnvyBgluCP+wiH8AEDZeCJeIiPdJBeoODwx32EQ/hAYTLyQzzERzpIL1B4+OM+wiF8oDAZ+eHvYvCQMZIlS5JMGPmGrFo8Roa8108+GvSUfPbh87J19ffy6eBnVTID3/syol5wXbLQU//BkLGCv6fHH+oi29ZMlrMHFsm5g4vTuA3LJqo6oxQM88fpcjDa8uvcEbJ97RRLDnGRRkbYEAZhYy0nUD6cXkaZqRP+fnS0sbrkeLPEbKD2ra+XhbOGyz+bpssHA58UvMj/OHOhtOz4sOQuUU/u9hh2mDmAWSveccM91yVLl5zcuXLKbR1vkKVzvwzIrnq926MyIhwLOVjGhenM6OzH+yJmAsBIw3Ugh2ViqJ+3dmwqeT2DLqGWvdvkeOuNdvyTzyaozWYDvTNsXvmdfPLuM6pj+bU3h1l+Z9Alx1u3WJ3TAI4V2ThN9589++Wue18UjC4CwYpVG9VaDazX8HdDP/9GDh06imCWnC5ZuuSYEJo0vEbefv1RKV+2lFSuVFbee+NxgR9G+nbu2iNHjhwXNKpJSYmSMzmHXFiyqKxbv1kOHjxiJhHSEWnGWk5CQoIgnxjNC/bCAn/cF0v/zkdymxz8Xfy5abu0a9XQ09FRVwzDOK/ov7+GYaiXHXQ0LV+5wfI6KCSnS9a+/QcFeW3b6jo1cwGj2Ibhq5dE4Z/T5RiGoTYMLFqkgFhx2GzQMDLmahh65AQqUqeXUWbqpKs90iUnEEv4oR7f1eUm+Xr469K8SW14CWbDYMrtpTU7SPmqrWXkmB/UC726GcGPLlk65fTs1kaw+WiPO9oI2sf9+w/JySgvS4M+0ZCTkpIjdYZTp/ZNlRFXulQxNeMJnfT+7vUXesuaX8fJA/fcElapu02Ot/IZteNYN92l041qcGr12k2WlxbokuOtW6zOE2KVMNONTwIF8ueRoe/3U40WGq70HMIhvFVSiIs00pNh3kM4hLciC/EQ30wrvSPCIbwVOWYcjB5iFNG8xjn8MJqIqb5Yj2Lei+SINJG2mQbO4RdNOegtvrhCafl+6jxZ9OtKU5TPEf64X75cKcHIhs/NEC/cJgcjvzlz5lCdB4YR2JhBx0JyjuwhEgoeTJcsU47ZeRM8R5HdcZucyGjYM7Yby0iXTmhf0M6k1w6Z9xAO4a3UAsRDfDOt9I4Ih/BW5ASKgyn3T7/4vhQt30SqXHOzfPfDXDWD6OH7blWjwmXLlFDTfJ/o947s/mdfoCRC9tMlS5ecPXsPyBvvfCFYQ12qUnP56NNxcvbsWalXu5rAAAwZTAYBoykHHfnP9u2hZjj97+UHpUih/GpmG2Y8BXJ9HuwsFTzvC4YRuG0MlnW3yfHW03z+4L3AMAJzwT20vxhwQJ3wjh/quS45oeYnknAJkURmXBLwJ4A/job1a0q7mxpm6BAO4f3TCPUacZFGrGXpkpPt3w3EsKEVppmYHNDrvXPXXilTupikeIwi09/7iAcbenm9/YKd65ID+ZDVs1tbOXjoiNRufKf0fmyAYD0S1ndNnbFAHnz8DcEnszDlCaOdeDgjXrjObXLQs96gbnXB7s8o+0A80BGy5LdVUuvqKlKwQN5AQULy0yXLlIM8I+8hZS6DQIFuu00OdMQsCbxwYvlDRg7hEB7xwnWIh/gZycB9hEP4cGUgvBvLSJdOutojXXJQH+BQnz4cOi7VcHt5wFBl3F5d4zL5ZtSbcmDrbHnjlYekp2dkE6N/86YNlZturK9GCxE/HKdLli452HT0i1HfyxW1O6l1v48+NVB1EKCjANPIMZ18+EcvqBlj4XDyD6tDDjpS0KHyaO/b/cVH9dptcsznT6zfGXTJiWphB0mMBnAQMPQmAd0EsJaledPaMnvur9KxS1/Bt/B+mP6z3HxHX8ERG0WdOHFKGZMrV/+pXg7QwP6xcr3HOC4uOXOGNhqoS47Jr0WzOvLOgMfUJdbuYC0Xeqeb3HSfvD14pJrW9sj9t8mdnVupMFZ/3CTHMAx57IHb1aeOnnrhPcXImwvWPz394mDZtn23PHTvrWqk2Pt+OOeGoUeWYRhyz53tBAb9I08OtLRmPRS9DMNdcqAzPvFVrfatUqxCU28X8BzhEB7xwnWIh/ixlmMY7isjw9CjU7hlavfw6Oxtc+tjynC7+8FXBJ2j6NDDNFcYbj9P/1RaNKur9kMwdcF0zlpXVZG3+z+qlguY/hkddcnSKadzj36Ss0gdub17P/lt2VrJkztFMFL+5/JvZN1v41WHAYyWjNikdx/66JCDPKDjpdZVlwum4KOjDX7+Dht/YlYADHL/e6Feu02OYYTejvd5oIvldwbD0CMn1HKMJBwN4EjoMW5QAhgZWLt+s/QfONxnAyxsjAWjLWhECzd0ydIh56F7O6kdMTEl+Ia2vaVp6/vlm+9/Ug+r5179SC67uqNau4FNscpUbqnWQS39fY3UvqaqWhccKj5dcpAfwzCkV/f28teKbwXTm1o1ryclSxQWjN73e6K7Wssz4KUHfF5wEC9cZxjOlIO/h0ateqlPf5Sq1Dz1WKfJXWqnZ/zNFK/YLNUfYQqXbSwfDxsvpUoWUd9XhkEcCi+dsvzzg5eoMRN+FKz9xWhFyYv/0xU6eTvwQF790wjl2m1yoHP27BfIZZeWU383+NvxdzAYEK5K5fJqLZ3VqY665ESnjKBx+k6XHORCpyzIc4s7dOioLFm6Sq1TxQ73KxaOlp0bpkqfBzuHZdyGwkOXLJ1y0GGO2V8d2jQSjIqj0wAj5VhDaxiBp8KGwso7DPTRIceUOeTziXLdjXfL9NkLTS+f47Ll66RFh4csff3COyE3ycFMwZFf/+BpXwtIeu8M6DRodcvDPu8T4bS3uuR4l1OszmkAx4psHKeLPzDs6FexWhvBp5Dwom66u+57UQpd1EiN/OFbYpFi0iVLlxysZf3264Gy+KfPpZ/HOHzsgc6yYMYw2fPXDMHOuVdVryyLZg+Xga8/IseOn1CbH+ETEjBow2GpS453nrChD0Z6sUMhdiT88Zv35fkne1pay+Odrv+50+ScPHlK8EkZrBHzd6h30G/f/oM+nw3CNfzxIoBdoNFbjuuMnE5Z/nnBSxQ2vkOecQ86+OtrXoMH8opw4Tq3yYH+GNXBcwF/N4EcdtTu3rW16jBpd9P1lqc66pLjxjLSpRPqA9rO0eOmqfWxiXlqipGrekBXtkorNeMCcaw4HXIwFRVTnI/smKt2uK908UVpNv2zkvdAcXTJ0inn689fl4PbZ8uoYa9KLc+oOEbHA+keiR/00SEHeUSbN+HbWYJ3HYz8w8/fofO85pWXCsIhvP/9UK4RD/HdIgfLyPDZTHRUQH//9hXX8EdnudnOmsdw2ltdcpDXWDsawLEmHIfpv/vhaBk2YpIa0cNL2cihr6hNsb745EW1LhiL7x964k3BaFCkeHTJ0iUHPNCAXVn1EmUc9n+xt2oIcqUky2vP36+MYdzD7od4YUBv7/dj3xYYtIgbjtMlxztP+PwJpjXhIertH+1zJ8nR+TkanbL8yzQc2b/OHSEI759GKNeIh/ihfN4H4RA+lHT9wyAe4sdajr/cQNeYzvfqc/dJmQuLCT6fhdkqgcJF6hctObrY6ZIDrjpljRwzRTp27St/rFivNjiCfH+HUcEypYur2UP+90K91iEHderyyypItmxZQ82WCmflR5csnXJgCGLvDPzNb/97t9pjY8yE6TJrzhLBrAQrnPzjQB8dciAXX7PAVy3w+atg7zXwx32EQ3jEC9chHuIjHaQXKD78cR/hED5QmIz8EA/xkQ7SCxQe/riPcAgfKExGfuE8f/zbLLRjiJ+RDNxHOIT3TyOUa8RDfKRjB0cD2A6l4KI87POMVOHhiyl5i2YNV7v63dyusTJ8b+3QTBnCmKaDP/iPP5sQ0TpAXbJ0yQm3GuCFAWt7DCM605yCyY+GHEyHv6bhHZK9UC21bvHKOreljkyg1xLrgWEYB8tDqP5OlGMYhqAcMXJtxSGuYYRWBwxDnyz/MjOM0GWHo5Pb5fjrF+wazC6pWEYmT50nu3bvCxYsYv9oyDEMd9UFQDUMPTph5GrYiG/VWs85P3wi+JY2pg6XKlFEfTca11g/m5BgqFlDKC/kL1ynS46ZrzXr/pKH+74pVa/t5DM9s5TXspBwpmqa6QY66pIVQzk+aqHdu6pBFylesZlgj432nR+XBs17SkrRutKhyxOCtf0+ESxe6JJjMXtxHc0wQn/++L9n4BlhGLF/hwhHjo7CpAGsg3IcycDI267de6VZo1qCXt1Aql9T8zK5ofG1EklvF9LVJUuXHPTgYt0jDMGMHMIhPDiE6xAP8TOSgfsIh/DhyvAOv/T3NYLGecGiP9RuxehN9t6Gv2qVCjJr7hIZ+80M72hhn7tNTtgAGCGuCWBq28FDR9R3UTHLJlYwdMmJVf6dni5GiNB2og299urL00wXNgxDbXyEmUJYHoH2y4rOuuQgb9Nm/iKVarSXt977Un7/Y63Pcg9zmiaOG//cpuo34lh1umTpkrNi1Ua5tlE39ZlBtK2YHoyZdzji+uvxP8oN7Xp7OsX2WkWm4umSg08h4pOIc3/+TTZt3q5k+/9pLGumAAAQAElEQVRs2rxdcB97YOTMmcP/dkjXbpMTktIM5EOABrAPDl5ESgCjhYUK5lONVDDDyTAMNS0rnE/3BMqXLlm65KCXVscOrLrkoMxg6PZ/+zO1c/VXn76iNje5pV0T3Ep12NwHnSIYubL6suY2OSYcrMHDbpftbu+jRkXQs29Oa8NOmHgJQBgzfCRHpKNLFp4N6FxBJ0sgh3sIE4k+iIs0kFYgGfDDPYRB2Egc0kBaSDOQwz2EiURGsLgwSDdv3SEPPP4/tSaucqWykjdPrmDBLfvrkmM5g3EWEe2nYZwftcG62TNnz6pd44EBM6wwpXL12k1q00T4WXWxloNnPgx15A+7Om9Z9b2aMYbN8n6b96XgutvtLSVP7hQZ83l/KVwoH4Jacrpk6ZKDZwqWPGAPCOwZgk9FYW8NfDsXR1zDH53D738yxhIzRNIlB7IwnRufRNy4aZtc36KXjPN0jGNQBW08nqMTv5stN7Z/UHAfRn6KRQPY0XIAKojT1Y7rkhNEzah40wCOCkYmYhLAixc+5TNzzmLB5wxMf+8jXtzRO4oNDgoVzOt9K6xzXbJ0ydG1A6suOShMrPVdtny9tG5RX9q2aphmtAJhcibnkAtLFpVIXtbcJgdcDhw8rD6BhcZ+7MQZalRk4eIVcujQUdyWxb+uknrNesi0mQvUdSQ/umRhWuWDj78hSXmvUp89Cfa5HXQEoaPGqk5uk4NPR2FDo0CbHWXNf7VcWOlGwVICjPjcfWdby+sp7SDHX0fojXxZqQuIh/j+aQa6RjiEtyIHcRAXaQRK298P4RAe8cJ12OG7TOliavkQjALEL1G8kOzctUfWbdiMS4HBgntwVmcD6JKDZw+e/Wgjet3VXqBLjuzZJCkxUdCZjutXnr1PihTOL+hMhU5KSQs/umTpkoN275dFy6VJw2vkiYe6Ctp2byy4xieRsNHTLM87mdl56h0mlHNdcsy84JOIeI7hHbLtbX0EXz3Iku98m3HTLY8IRqOtbP5ppm8e3SYH9Q6fzYz1O4MuOWY5+R+jdU0DOFokmU4qAexIjB7pbr1eSLP2ZO++g+qzSDB6HrqvU0CDKDWhEE50ydIhBz3cbtrpFcWHUaPDh4+qTzRhJAF+wRxebKy+rLlNDhh9MGSsjJkwXVreUFdWLvpajYrA33QN6lZXO2iPGjtNvfCa/laOumRhM7m3B49UWSxerJDaKA8XRYsUEFxj4x78Hdx28w2CF3Dcs+LcJgd/OxeVKR70M0j4LFLXW1vIHwtGqW+mWmGGOLrkYOAy0WPgQGZ6DqM00Bv5Si9csHu65EC+LlloO+vXqS6TJs+Rnxcug2i5vH" id="107" name="Google Shape;107;p20"/>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8" name="Google Shape;108;p20" title="Chart"/>
          <p:cNvPicPr preferRelativeResize="0"/>
          <p:nvPr/>
        </p:nvPicPr>
        <p:blipFill>
          <a:blip r:embed="rId3">
            <a:alphaModFix/>
          </a:blip>
          <a:stretch>
            <a:fillRect/>
          </a:stretch>
        </p:blipFill>
        <p:spPr>
          <a:xfrm>
            <a:off x="2936388" y="584996"/>
            <a:ext cx="5601576" cy="37077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nvSpPr>
        <p:spPr>
          <a:xfrm>
            <a:off x="1420760" y="0"/>
            <a:ext cx="962578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sng">
                <a:solidFill>
                  <a:schemeClr val="dk1"/>
                </a:solidFill>
                <a:latin typeface="Cambria"/>
                <a:ea typeface="Cambria"/>
                <a:cs typeface="Cambria"/>
                <a:sym typeface="Cambria"/>
              </a:rPr>
              <a:t>DISTRIBUTION OF TICKETS BY REQUEST CATEGORY</a:t>
            </a:r>
            <a:endParaRPr>
              <a:latin typeface="Cambria"/>
              <a:ea typeface="Cambria"/>
              <a:cs typeface="Cambria"/>
              <a:sym typeface="Cambria"/>
            </a:endParaRPr>
          </a:p>
        </p:txBody>
      </p:sp>
      <p:sp>
        <p:nvSpPr>
          <p:cNvPr id="114" name="Google Shape;114;p21"/>
          <p:cNvSpPr txBox="1"/>
          <p:nvPr/>
        </p:nvSpPr>
        <p:spPr>
          <a:xfrm>
            <a:off x="491613" y="3514579"/>
            <a:ext cx="11208774" cy="32624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sng">
                <a:solidFill>
                  <a:srgbClr val="FF0000"/>
                </a:solidFill>
                <a:latin typeface="Arial Black"/>
                <a:ea typeface="Arial Black"/>
                <a:cs typeface="Arial Black"/>
                <a:sym typeface="Arial Black"/>
              </a:rPr>
              <a:t>INSIGHTS :</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System Issues represent the largest category and should be a focus for proactive monitoring and resource allocation.</a:t>
            </a:r>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Login Access issues make up a significant portion of tickets; implementing self-service tools can alleviate pressure.</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Software Issues could be addressed with better user training and regular software updates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Hardware Issues remain a smaller category, but streamlining them will improve resolution efficiency.</a:t>
            </a:r>
            <a:endParaRPr/>
          </a:p>
        </p:txBody>
      </p:sp>
      <p:pic>
        <p:nvPicPr>
          <p:cNvPr id="115" name="Google Shape;115;p21" title="Chart"/>
          <p:cNvPicPr preferRelativeResize="0"/>
          <p:nvPr/>
        </p:nvPicPr>
        <p:blipFill>
          <a:blip r:embed="rId3">
            <a:alphaModFix/>
          </a:blip>
          <a:stretch>
            <a:fillRect/>
          </a:stretch>
        </p:blipFill>
        <p:spPr>
          <a:xfrm>
            <a:off x="3568013" y="518202"/>
            <a:ext cx="5331274" cy="3310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nvSpPr>
        <p:spPr>
          <a:xfrm>
            <a:off x="1084006" y="110265"/>
            <a:ext cx="98076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chemeClr val="dk1"/>
                </a:solidFill>
                <a:latin typeface="Cambria"/>
                <a:ea typeface="Cambria"/>
                <a:cs typeface="Cambria"/>
                <a:sym typeface="Cambria"/>
              </a:rPr>
              <a:t>AVERAGE OF SATISFACTION RATE OVER TIME</a:t>
            </a:r>
            <a:endParaRPr>
              <a:latin typeface="Cambria"/>
              <a:ea typeface="Cambria"/>
              <a:cs typeface="Cambria"/>
              <a:sym typeface="Cambria"/>
            </a:endParaRPr>
          </a:p>
        </p:txBody>
      </p:sp>
      <p:sp>
        <p:nvSpPr>
          <p:cNvPr id="121" name="Google Shape;121;p22"/>
          <p:cNvSpPr txBox="1"/>
          <p:nvPr/>
        </p:nvSpPr>
        <p:spPr>
          <a:xfrm>
            <a:off x="619432" y="4160645"/>
            <a:ext cx="11179200" cy="3601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rgbClr val="FF0000"/>
                </a:solidFill>
                <a:latin typeface="Arial Black"/>
                <a:ea typeface="Arial Black"/>
                <a:cs typeface="Arial Black"/>
                <a:sym typeface="Arial Black"/>
              </a:rPr>
              <a:t>INSIGHTS :</a:t>
            </a:r>
            <a:endParaRPr/>
          </a:p>
          <a:p>
            <a:pPr indent="0" lvl="0" marL="0" marR="0" rtl="0" algn="l">
              <a:spcBef>
                <a:spcPts val="0"/>
              </a:spcBef>
              <a:spcAft>
                <a:spcPts val="0"/>
              </a:spcAft>
              <a:buNone/>
            </a:pPr>
            <a:r>
              <a:t/>
            </a:r>
            <a:endParaRPr sz="2000" u="sng">
              <a:solidFill>
                <a:srgbClr val="FF0000"/>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Arial Black"/>
                <a:ea typeface="Arial Black"/>
                <a:cs typeface="Arial Black"/>
                <a:sym typeface="Arial Black"/>
              </a:rPr>
              <a:t>The </a:t>
            </a:r>
            <a:r>
              <a:rPr b="1" lang="en-US" sz="1800">
                <a:solidFill>
                  <a:schemeClr val="dk1"/>
                </a:solidFill>
                <a:latin typeface="Arial Black"/>
                <a:ea typeface="Arial Black"/>
                <a:cs typeface="Arial Black"/>
                <a:sym typeface="Arial Black"/>
              </a:rPr>
              <a:t>steady increase</a:t>
            </a:r>
            <a:r>
              <a:rPr lang="en-US" sz="1800">
                <a:solidFill>
                  <a:schemeClr val="dk1"/>
                </a:solidFill>
                <a:latin typeface="Arial Black"/>
                <a:ea typeface="Arial Black"/>
                <a:cs typeface="Arial Black"/>
                <a:sym typeface="Arial Black"/>
              </a:rPr>
              <a:t> in satisfaction from 2016 to 2020 indicates that IT support is improving and users are responding positively.</a:t>
            </a:r>
            <a:endParaRPr sz="1800" u="sng">
              <a:solidFill>
                <a:srgbClr val="FF0000"/>
              </a:solidFill>
              <a:latin typeface="Arial Black"/>
              <a:ea typeface="Arial Black"/>
              <a:cs typeface="Arial Black"/>
              <a:sym typeface="Arial Black"/>
            </a:endParaRPr>
          </a:p>
          <a:p>
            <a:pPr indent="-171450" lvl="0" marL="285750" marR="0" rtl="0" algn="l">
              <a:spcBef>
                <a:spcPts val="0"/>
              </a:spcBef>
              <a:spcAft>
                <a:spcPts val="0"/>
              </a:spcAft>
              <a:buClr>
                <a:schemeClr val="dk1"/>
              </a:buClr>
              <a:buSzPts val="1800"/>
              <a:buFont typeface="Noto Sans Symbols"/>
              <a:buNone/>
            </a:pPr>
            <a:r>
              <a:t/>
            </a:r>
            <a:endParaRPr sz="1800" u="sng">
              <a:solidFill>
                <a:srgbClr val="FF0000"/>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Arial Black"/>
                <a:ea typeface="Arial Black"/>
                <a:cs typeface="Arial Black"/>
                <a:sym typeface="Arial Black"/>
              </a:rPr>
              <a:t>The </a:t>
            </a:r>
            <a:r>
              <a:rPr b="1" lang="en-US" sz="1800">
                <a:solidFill>
                  <a:schemeClr val="dk1"/>
                </a:solidFill>
                <a:latin typeface="Arial Black"/>
                <a:ea typeface="Arial Black"/>
                <a:cs typeface="Arial Black"/>
                <a:sym typeface="Arial Black"/>
              </a:rPr>
              <a:t>consistency</a:t>
            </a:r>
            <a:r>
              <a:rPr lang="en-US" sz="1800">
                <a:solidFill>
                  <a:schemeClr val="dk1"/>
                </a:solidFill>
                <a:latin typeface="Arial Black"/>
                <a:ea typeface="Arial Black"/>
                <a:cs typeface="Arial Black"/>
                <a:sym typeface="Arial Black"/>
              </a:rPr>
              <a:t> of the increase, particularly the slight rise in 2020, suggests that IT support team adapted well to increasing demand, potentially through better communication, improved tools, or more efficient handling of tickets.</a:t>
            </a:r>
            <a:endParaRPr sz="1800" u="sng">
              <a:solidFill>
                <a:srgbClr val="FF0000"/>
              </a:solidFill>
              <a:latin typeface="Arial Black"/>
              <a:ea typeface="Arial Black"/>
              <a:cs typeface="Arial Black"/>
              <a:sym typeface="Arial Black"/>
            </a:endParaRPr>
          </a:p>
          <a:p>
            <a:pPr indent="0" lvl="0" marL="0" marR="0" rtl="0" algn="l">
              <a:spcBef>
                <a:spcPts val="0"/>
              </a:spcBef>
              <a:spcAft>
                <a:spcPts val="0"/>
              </a:spcAft>
              <a:buNone/>
            </a:pPr>
            <a:r>
              <a:t/>
            </a:r>
            <a:endParaRPr sz="2000" u="sng">
              <a:solidFill>
                <a:srgbClr val="FF0000"/>
              </a:solidFill>
              <a:latin typeface="Arial Black"/>
              <a:ea typeface="Arial Black"/>
              <a:cs typeface="Arial Black"/>
              <a:sym typeface="Arial Black"/>
            </a:endParaRPr>
          </a:p>
          <a:p>
            <a:pPr indent="0" lvl="0" marL="0" marR="0" rtl="0" algn="l">
              <a:spcBef>
                <a:spcPts val="0"/>
              </a:spcBef>
              <a:spcAft>
                <a:spcPts val="0"/>
              </a:spcAft>
              <a:buNone/>
            </a:pPr>
            <a:r>
              <a:t/>
            </a:r>
            <a:endParaRPr sz="2000" u="sng">
              <a:solidFill>
                <a:srgbClr val="FF0000"/>
              </a:solidFill>
              <a:latin typeface="Arial Black"/>
              <a:ea typeface="Arial Black"/>
              <a:cs typeface="Arial Black"/>
              <a:sym typeface="Arial Black"/>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2" name="Google Shape;122;p22" title="Chart"/>
          <p:cNvPicPr preferRelativeResize="0"/>
          <p:nvPr/>
        </p:nvPicPr>
        <p:blipFill>
          <a:blip r:embed="rId3">
            <a:alphaModFix/>
          </a:blip>
          <a:stretch>
            <a:fillRect/>
          </a:stretch>
        </p:blipFill>
        <p:spPr>
          <a:xfrm>
            <a:off x="2751325" y="633475"/>
            <a:ext cx="6689349" cy="378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nvSpPr>
        <p:spPr>
          <a:xfrm>
            <a:off x="1371588" y="86857"/>
            <a:ext cx="92619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sng">
                <a:solidFill>
                  <a:schemeClr val="dk1"/>
                </a:solidFill>
                <a:latin typeface="Cambria"/>
                <a:ea typeface="Cambria"/>
                <a:cs typeface="Cambria"/>
                <a:sym typeface="Cambria"/>
              </a:rPr>
              <a:t>DISTRIBUTION OF TICKETS BY SATISFACTION RATE</a:t>
            </a:r>
            <a:endParaRPr>
              <a:latin typeface="Cambria"/>
              <a:ea typeface="Cambria"/>
              <a:cs typeface="Cambria"/>
              <a:sym typeface="Cambria"/>
            </a:endParaRPr>
          </a:p>
        </p:txBody>
      </p:sp>
      <p:sp>
        <p:nvSpPr>
          <p:cNvPr id="128" name="Google Shape;128;p23"/>
          <p:cNvSpPr txBox="1"/>
          <p:nvPr/>
        </p:nvSpPr>
        <p:spPr>
          <a:xfrm>
            <a:off x="619432" y="3716594"/>
            <a:ext cx="11105400" cy="21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rgbClr val="FF0000"/>
                </a:solidFill>
                <a:latin typeface="Arial Black"/>
                <a:ea typeface="Arial Black"/>
                <a:cs typeface="Arial Black"/>
                <a:sym typeface="Arial Black"/>
              </a:rPr>
              <a:t>INSIGHTS :</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b="1" lang="en-US" sz="1600">
                <a:solidFill>
                  <a:schemeClr val="dk1"/>
                </a:solidFill>
                <a:latin typeface="Arial Black"/>
                <a:ea typeface="Arial Black"/>
                <a:cs typeface="Arial Black"/>
                <a:sym typeface="Arial Black"/>
              </a:rPr>
              <a:t>High Satisfaction:</a:t>
            </a:r>
            <a:r>
              <a:rPr lang="en-US" sz="1600">
                <a:solidFill>
                  <a:schemeClr val="dk1"/>
                </a:solidFill>
                <a:latin typeface="Arial Black"/>
                <a:ea typeface="Arial Black"/>
                <a:cs typeface="Arial Black"/>
                <a:sym typeface="Arial Black"/>
              </a:rPr>
              <a:t> The majority of tickets are rated highly (4 and 5), indicating that IT support is generally meeting or exceeding expectations.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b="1" lang="en-US" sz="1600">
                <a:solidFill>
                  <a:schemeClr val="dk1"/>
                </a:solidFill>
                <a:latin typeface="Arial Black"/>
                <a:ea typeface="Arial Black"/>
                <a:cs typeface="Arial Black"/>
                <a:sym typeface="Arial Black"/>
              </a:rPr>
              <a:t>Low Satisfaction Focus:</a:t>
            </a:r>
            <a:r>
              <a:rPr lang="en-US" sz="1600">
                <a:solidFill>
                  <a:schemeClr val="dk1"/>
                </a:solidFill>
                <a:latin typeface="Arial Black"/>
                <a:ea typeface="Arial Black"/>
                <a:cs typeface="Arial Black"/>
                <a:sym typeface="Arial Black"/>
              </a:rPr>
              <a:t> However, tickets rated with low satisfaction scores (1-3), indicating areas where support could be improved. This group represents an opportunity to </a:t>
            </a:r>
            <a:r>
              <a:rPr b="1" lang="en-US" sz="1600">
                <a:solidFill>
                  <a:schemeClr val="dk1"/>
                </a:solidFill>
                <a:latin typeface="Arial Black"/>
                <a:ea typeface="Arial Black"/>
                <a:cs typeface="Arial Black"/>
                <a:sym typeface="Arial Black"/>
              </a:rPr>
              <a:t>analyze and improve</a:t>
            </a:r>
            <a:r>
              <a:rPr lang="en-US" sz="1600">
                <a:solidFill>
                  <a:schemeClr val="dk1"/>
                </a:solidFill>
                <a:latin typeface="Arial Black"/>
                <a:ea typeface="Arial Black"/>
                <a:cs typeface="Arial Black"/>
                <a:sym typeface="Arial Black"/>
              </a:rPr>
              <a:t> the underlying causes of dissatisfaction or neutrality</a:t>
            </a:r>
            <a:endParaRPr/>
          </a:p>
        </p:txBody>
      </p:sp>
      <p:pic>
        <p:nvPicPr>
          <p:cNvPr id="129" name="Google Shape;129;p23" title="Chart"/>
          <p:cNvPicPr preferRelativeResize="0"/>
          <p:nvPr/>
        </p:nvPicPr>
        <p:blipFill>
          <a:blip r:embed="rId3">
            <a:alphaModFix/>
          </a:blip>
          <a:stretch>
            <a:fillRect/>
          </a:stretch>
        </p:blipFill>
        <p:spPr>
          <a:xfrm>
            <a:off x="3238604" y="548527"/>
            <a:ext cx="5527950" cy="35167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nvSpPr>
        <p:spPr>
          <a:xfrm>
            <a:off x="1907458" y="132734"/>
            <a:ext cx="8377200" cy="738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sng">
                <a:solidFill>
                  <a:schemeClr val="dk1"/>
                </a:solidFill>
                <a:latin typeface="Cambria"/>
                <a:ea typeface="Cambria"/>
                <a:cs typeface="Cambria"/>
                <a:sym typeface="Cambria"/>
              </a:rPr>
              <a:t>AVG RESOLUTION TIME BY REQUEST CATEGORY </a:t>
            </a:r>
            <a:endParaRPr>
              <a:latin typeface="Cambria"/>
              <a:ea typeface="Cambria"/>
              <a:cs typeface="Cambria"/>
              <a:sym typeface="Cambria"/>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24"/>
          <p:cNvSpPr txBox="1"/>
          <p:nvPr/>
        </p:nvSpPr>
        <p:spPr>
          <a:xfrm>
            <a:off x="486697" y="3834581"/>
            <a:ext cx="11326761" cy="2523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sng">
                <a:solidFill>
                  <a:srgbClr val="FF0000"/>
                </a:solidFill>
                <a:latin typeface="Arial Black"/>
                <a:ea typeface="Arial Black"/>
                <a:cs typeface="Arial Black"/>
                <a:sym typeface="Arial Black"/>
              </a:rPr>
              <a:t>INSIGHTS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The </a:t>
            </a:r>
            <a:r>
              <a:rPr b="1" lang="en-US" sz="1600">
                <a:solidFill>
                  <a:schemeClr val="dk1"/>
                </a:solidFill>
                <a:latin typeface="Arial Black"/>
                <a:ea typeface="Arial Black"/>
                <a:cs typeface="Arial Black"/>
                <a:sym typeface="Arial Black"/>
              </a:rPr>
              <a:t>login access category</a:t>
            </a:r>
            <a:r>
              <a:rPr lang="en-US" sz="1600">
                <a:solidFill>
                  <a:schemeClr val="dk1"/>
                </a:solidFill>
                <a:latin typeface="Arial Black"/>
                <a:ea typeface="Arial Black"/>
                <a:cs typeface="Arial Black"/>
                <a:sym typeface="Arial Black"/>
              </a:rPr>
              <a:t> is already highly efficient with </a:t>
            </a:r>
            <a:r>
              <a:rPr b="1" lang="en-US" sz="1600">
                <a:solidFill>
                  <a:schemeClr val="dk1"/>
                </a:solidFill>
                <a:latin typeface="Arial Black"/>
                <a:ea typeface="Arial Black"/>
                <a:cs typeface="Arial Black"/>
                <a:sym typeface="Arial Black"/>
              </a:rPr>
              <a:t>consistent and lower resolution times</a:t>
            </a:r>
            <a:r>
              <a:rPr lang="en-US" sz="1600">
                <a:solidFill>
                  <a:schemeClr val="dk1"/>
                </a:solidFill>
                <a:latin typeface="Arial Black"/>
                <a:ea typeface="Arial Black"/>
                <a:cs typeface="Arial Black"/>
                <a:sym typeface="Arial Black"/>
              </a:rPr>
              <a:t>.</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b="1" lang="en-US" sz="1600">
                <a:solidFill>
                  <a:schemeClr val="dk1"/>
                </a:solidFill>
                <a:latin typeface="Arial Black"/>
                <a:ea typeface="Arial Black"/>
                <a:cs typeface="Arial Black"/>
                <a:sym typeface="Arial Black"/>
              </a:rPr>
              <a:t>Hardware</a:t>
            </a:r>
            <a:r>
              <a:rPr lang="en-US" sz="1600">
                <a:solidFill>
                  <a:schemeClr val="dk1"/>
                </a:solidFill>
                <a:latin typeface="Arial Black"/>
                <a:ea typeface="Arial Black"/>
                <a:cs typeface="Arial Black"/>
                <a:sym typeface="Arial Black"/>
              </a:rPr>
              <a:t> and </a:t>
            </a:r>
            <a:r>
              <a:rPr b="1" lang="en-US" sz="1600">
                <a:solidFill>
                  <a:schemeClr val="dk1"/>
                </a:solidFill>
                <a:latin typeface="Arial Black"/>
                <a:ea typeface="Arial Black"/>
                <a:cs typeface="Arial Black"/>
                <a:sym typeface="Arial Black"/>
              </a:rPr>
              <a:t>system request resolution times</a:t>
            </a:r>
            <a:r>
              <a:rPr lang="en-US" sz="1600">
                <a:solidFill>
                  <a:schemeClr val="dk1"/>
                </a:solidFill>
                <a:latin typeface="Arial Black"/>
                <a:ea typeface="Arial Black"/>
                <a:cs typeface="Arial Black"/>
                <a:sym typeface="Arial Black"/>
              </a:rPr>
              <a:t> remain stable but may benefit from </a:t>
            </a:r>
            <a:r>
              <a:rPr b="1" lang="en-US" sz="1600">
                <a:solidFill>
                  <a:schemeClr val="dk1"/>
                </a:solidFill>
                <a:latin typeface="Arial Black"/>
                <a:ea typeface="Arial Black"/>
                <a:cs typeface="Arial Black"/>
                <a:sym typeface="Arial Black"/>
              </a:rPr>
              <a:t>further optimizations</a:t>
            </a:r>
            <a:r>
              <a:rPr lang="en-US" sz="1600">
                <a:solidFill>
                  <a:schemeClr val="dk1"/>
                </a:solidFill>
                <a:latin typeface="Arial Black"/>
                <a:ea typeface="Arial Black"/>
                <a:cs typeface="Arial Black"/>
                <a:sym typeface="Arial Black"/>
              </a:rPr>
              <a:t> to reduce the average time for these more complex issues.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The </a:t>
            </a:r>
            <a:r>
              <a:rPr b="1" lang="en-US" sz="1600">
                <a:solidFill>
                  <a:schemeClr val="dk1"/>
                </a:solidFill>
                <a:latin typeface="Arial Black"/>
                <a:ea typeface="Arial Black"/>
                <a:cs typeface="Arial Black"/>
                <a:sym typeface="Arial Black"/>
              </a:rPr>
              <a:t>software category</a:t>
            </a:r>
            <a:r>
              <a:rPr lang="en-US" sz="1600">
                <a:solidFill>
                  <a:schemeClr val="dk1"/>
                </a:solidFill>
                <a:latin typeface="Arial Black"/>
                <a:ea typeface="Arial Black"/>
                <a:cs typeface="Arial Black"/>
                <a:sym typeface="Arial Black"/>
              </a:rPr>
              <a:t> shows slight fluctuations, with a </a:t>
            </a:r>
            <a:r>
              <a:rPr b="1" lang="en-US" sz="1600">
                <a:solidFill>
                  <a:schemeClr val="dk1"/>
                </a:solidFill>
                <a:latin typeface="Arial Black"/>
                <a:ea typeface="Arial Black"/>
                <a:cs typeface="Arial Black"/>
                <a:sym typeface="Arial Black"/>
              </a:rPr>
              <a:t>need to focus on investigating Qtr 4's slight increase</a:t>
            </a:r>
            <a:r>
              <a:rPr lang="en-US" sz="1600">
                <a:solidFill>
                  <a:schemeClr val="dk1"/>
                </a:solidFill>
                <a:latin typeface="Arial Black"/>
                <a:ea typeface="Arial Black"/>
                <a:cs typeface="Arial Black"/>
                <a:sym typeface="Arial Black"/>
              </a:rPr>
              <a:t> in resolution time.</a:t>
            </a:r>
            <a:endParaRPr/>
          </a:p>
        </p:txBody>
      </p:sp>
      <p:pic>
        <p:nvPicPr>
          <p:cNvPr id="136" name="Google Shape;136;p24" title="Chart"/>
          <p:cNvPicPr preferRelativeResize="0"/>
          <p:nvPr/>
        </p:nvPicPr>
        <p:blipFill>
          <a:blip r:embed="rId3">
            <a:alphaModFix/>
          </a:blip>
          <a:stretch>
            <a:fillRect/>
          </a:stretch>
        </p:blipFill>
        <p:spPr>
          <a:xfrm>
            <a:off x="3249124" y="567850"/>
            <a:ext cx="5693849" cy="3757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nvSpPr>
        <p:spPr>
          <a:xfrm>
            <a:off x="1519084" y="0"/>
            <a:ext cx="84951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sng">
                <a:solidFill>
                  <a:schemeClr val="dk1"/>
                </a:solidFill>
                <a:latin typeface="Cambria"/>
                <a:ea typeface="Cambria"/>
                <a:cs typeface="Cambria"/>
                <a:sym typeface="Cambria"/>
              </a:rPr>
              <a:t>TICKETS</a:t>
            </a:r>
            <a:r>
              <a:rPr b="1" lang="en-US" sz="3600" u="sng">
                <a:solidFill>
                  <a:schemeClr val="dk1"/>
                </a:solidFill>
                <a:latin typeface="Cambria"/>
                <a:ea typeface="Cambria"/>
                <a:cs typeface="Cambria"/>
                <a:sym typeface="Cambria"/>
              </a:rPr>
              <a:t> </a:t>
            </a:r>
            <a:r>
              <a:rPr b="1" lang="en-US" sz="2400" u="sng">
                <a:solidFill>
                  <a:schemeClr val="dk1"/>
                </a:solidFill>
                <a:latin typeface="Cambria"/>
                <a:ea typeface="Cambria"/>
                <a:cs typeface="Cambria"/>
                <a:sym typeface="Cambria"/>
              </a:rPr>
              <a:t>BY</a:t>
            </a:r>
            <a:r>
              <a:rPr b="1" lang="en-US" sz="3600" u="sng">
                <a:solidFill>
                  <a:schemeClr val="dk1"/>
                </a:solidFill>
                <a:latin typeface="Cambria"/>
                <a:ea typeface="Cambria"/>
                <a:cs typeface="Cambria"/>
                <a:sym typeface="Cambria"/>
              </a:rPr>
              <a:t> </a:t>
            </a:r>
            <a:r>
              <a:rPr b="1" lang="en-US" sz="2400" u="sng">
                <a:solidFill>
                  <a:schemeClr val="dk1"/>
                </a:solidFill>
                <a:latin typeface="Cambria"/>
                <a:ea typeface="Cambria"/>
                <a:cs typeface="Cambria"/>
                <a:sym typeface="Cambria"/>
              </a:rPr>
              <a:t>PRIORITY</a:t>
            </a:r>
            <a:endParaRPr b="1" sz="3600" u="sng">
              <a:solidFill>
                <a:schemeClr val="dk1"/>
              </a:solidFill>
              <a:latin typeface="Cambria"/>
              <a:ea typeface="Cambria"/>
              <a:cs typeface="Cambria"/>
              <a:sym typeface="Cambria"/>
            </a:endParaRPr>
          </a:p>
        </p:txBody>
      </p:sp>
      <p:sp>
        <p:nvSpPr>
          <p:cNvPr id="142" name="Google Shape;142;p25"/>
          <p:cNvSpPr txBox="1"/>
          <p:nvPr/>
        </p:nvSpPr>
        <p:spPr>
          <a:xfrm>
            <a:off x="339213" y="3429000"/>
            <a:ext cx="11208774" cy="3477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rgbClr val="FF0000"/>
                </a:solidFill>
                <a:latin typeface="Arial Black"/>
                <a:ea typeface="Arial Black"/>
                <a:cs typeface="Arial Black"/>
                <a:sym typeface="Arial Black"/>
              </a:rPr>
              <a:t>INSIGHTS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The </a:t>
            </a:r>
            <a:r>
              <a:rPr b="1" lang="en-US" sz="1600">
                <a:solidFill>
                  <a:schemeClr val="dk1"/>
                </a:solidFill>
                <a:latin typeface="Arial Black"/>
                <a:ea typeface="Arial Black"/>
                <a:cs typeface="Arial Black"/>
                <a:sym typeface="Arial Black"/>
              </a:rPr>
              <a:t>highest number of tickets</a:t>
            </a:r>
            <a:r>
              <a:rPr lang="en-US" sz="1600">
                <a:solidFill>
                  <a:schemeClr val="dk1"/>
                </a:solidFill>
                <a:latin typeface="Arial Black"/>
                <a:ea typeface="Arial Black"/>
                <a:cs typeface="Arial Black"/>
                <a:sym typeface="Arial Black"/>
              </a:rPr>
              <a:t> falls under </a:t>
            </a:r>
            <a:r>
              <a:rPr b="1" lang="en-US" sz="1600">
                <a:solidFill>
                  <a:schemeClr val="dk1"/>
                </a:solidFill>
                <a:latin typeface="Arial Black"/>
                <a:ea typeface="Arial Black"/>
                <a:cs typeface="Arial Black"/>
                <a:sym typeface="Arial Black"/>
              </a:rPr>
              <a:t>High priority</a:t>
            </a:r>
            <a:r>
              <a:rPr lang="en-US" sz="1600">
                <a:solidFill>
                  <a:schemeClr val="dk1"/>
                </a:solidFill>
                <a:latin typeface="Arial Black"/>
                <a:ea typeface="Arial Black"/>
                <a:cs typeface="Arial Black"/>
                <a:sym typeface="Arial Black"/>
              </a:rPr>
              <a:t>. This indicates that a significant portion of the issues being reported is considered critical or urgent, which may require immediate attention or have a larger impact on users or business operations.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The </a:t>
            </a:r>
            <a:r>
              <a:rPr b="1" lang="en-US" sz="1600">
                <a:solidFill>
                  <a:schemeClr val="dk1"/>
                </a:solidFill>
                <a:latin typeface="Arial Black"/>
                <a:ea typeface="Arial Black"/>
                <a:cs typeface="Arial Black"/>
                <a:sym typeface="Arial Black"/>
              </a:rPr>
              <a:t>large number of unassigned tickets</a:t>
            </a:r>
            <a:r>
              <a:rPr lang="en-US" sz="1600">
                <a:solidFill>
                  <a:schemeClr val="dk1"/>
                </a:solidFill>
                <a:latin typeface="Arial Black"/>
                <a:ea typeface="Arial Black"/>
                <a:cs typeface="Arial Black"/>
                <a:sym typeface="Arial Black"/>
              </a:rPr>
              <a:t> is concerning. </a:t>
            </a:r>
            <a:r>
              <a:rPr b="1" lang="en-US" sz="1600">
                <a:solidFill>
                  <a:schemeClr val="dk1"/>
                </a:solidFill>
                <a:latin typeface="Arial Black"/>
                <a:ea typeface="Arial Black"/>
                <a:cs typeface="Arial Black"/>
                <a:sym typeface="Arial Black"/>
              </a:rPr>
              <a:t>Unassigned</a:t>
            </a:r>
            <a:r>
              <a:rPr lang="en-US" sz="1600">
                <a:solidFill>
                  <a:schemeClr val="dk1"/>
                </a:solidFill>
                <a:latin typeface="Arial Black"/>
                <a:ea typeface="Arial Black"/>
                <a:cs typeface="Arial Black"/>
                <a:sym typeface="Arial Black"/>
              </a:rPr>
              <a:t> tickets could indicate a backlog, inefficiency in ticket triage, or a lack of capacity to allocate issues to the right support teams.</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Arial Black"/>
                <a:ea typeface="Arial Black"/>
                <a:cs typeface="Arial Black"/>
                <a:sym typeface="Arial Black"/>
              </a:rPr>
              <a:t>The </a:t>
            </a:r>
            <a:r>
              <a:rPr b="1" lang="en-US" sz="1600">
                <a:solidFill>
                  <a:schemeClr val="dk1"/>
                </a:solidFill>
                <a:latin typeface="Arial Black"/>
                <a:ea typeface="Arial Black"/>
                <a:cs typeface="Arial Black"/>
                <a:sym typeface="Arial Black"/>
              </a:rPr>
              <a:t>medium-priority tickets</a:t>
            </a:r>
            <a:r>
              <a:rPr lang="en-US" sz="1600">
                <a:solidFill>
                  <a:schemeClr val="dk1"/>
                </a:solidFill>
                <a:latin typeface="Arial Black"/>
                <a:ea typeface="Arial Black"/>
                <a:cs typeface="Arial Black"/>
                <a:sym typeface="Arial Black"/>
              </a:rPr>
              <a:t> fall in between high and low, making up a fairly large portion of the ticket pool. These may represent issues that need attention but are not urgent, and resolving them in a timely manner is important to prevent them from escalating into high-priority tickets</a:t>
            </a:r>
            <a:r>
              <a:rPr lang="en-US" sz="1800">
                <a:solidFill>
                  <a:schemeClr val="dk1"/>
                </a:solidFill>
                <a:latin typeface="Calibri"/>
                <a:ea typeface="Calibri"/>
                <a:cs typeface="Calibri"/>
                <a:sym typeface="Calibri"/>
              </a:rPr>
              <a:t>.</a:t>
            </a:r>
            <a:endParaRPr/>
          </a:p>
        </p:txBody>
      </p:sp>
      <p:pic>
        <p:nvPicPr>
          <p:cNvPr id="143" name="Google Shape;143;p25" title="Chart"/>
          <p:cNvPicPr preferRelativeResize="0"/>
          <p:nvPr/>
        </p:nvPicPr>
        <p:blipFill>
          <a:blip r:embed="rId3">
            <a:alphaModFix/>
          </a:blip>
          <a:stretch>
            <a:fillRect/>
          </a:stretch>
        </p:blipFill>
        <p:spPr>
          <a:xfrm>
            <a:off x="3522725" y="693125"/>
            <a:ext cx="4841750" cy="31055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nvSpPr>
        <p:spPr>
          <a:xfrm>
            <a:off x="0" y="117494"/>
            <a:ext cx="120495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chemeClr val="dk1"/>
                </a:solidFill>
                <a:latin typeface="Cambria"/>
                <a:ea typeface="Cambria"/>
                <a:cs typeface="Cambria"/>
                <a:sym typeface="Cambria"/>
              </a:rPr>
              <a:t>TICKETS BY SEVERITY RATE</a:t>
            </a:r>
            <a:endParaRPr>
              <a:latin typeface="Cambria"/>
              <a:ea typeface="Cambria"/>
              <a:cs typeface="Cambria"/>
              <a:sym typeface="Cambria"/>
            </a:endParaRPr>
          </a:p>
        </p:txBody>
      </p:sp>
      <p:sp>
        <p:nvSpPr>
          <p:cNvPr id="149" name="Google Shape;149;p26"/>
          <p:cNvSpPr txBox="1"/>
          <p:nvPr/>
        </p:nvSpPr>
        <p:spPr>
          <a:xfrm>
            <a:off x="317089" y="4218293"/>
            <a:ext cx="11415300" cy="263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u="sng">
                <a:solidFill>
                  <a:srgbClr val="FF0000"/>
                </a:solidFill>
                <a:latin typeface="Arial Black"/>
                <a:ea typeface="Arial Black"/>
                <a:cs typeface="Arial Black"/>
                <a:sym typeface="Arial Black"/>
              </a:rPr>
              <a:t>INSIGHTS :</a:t>
            </a:r>
            <a:endParaRPr sz="2000" u="sng">
              <a:solidFill>
                <a:srgbClr val="FF0000"/>
              </a:solidFill>
              <a:latin typeface="Arial Black"/>
              <a:ea typeface="Arial Black"/>
              <a:cs typeface="Arial Black"/>
              <a:sym typeface="Arial Black"/>
            </a:endParaRPr>
          </a:p>
          <a:p>
            <a:pPr indent="0" lvl="0" marL="0" marR="0" rtl="0" algn="l">
              <a:spcBef>
                <a:spcPts val="0"/>
              </a:spcBef>
              <a:spcAft>
                <a:spcPts val="0"/>
              </a:spcAft>
              <a:buNone/>
            </a:pPr>
            <a:r>
              <a:t/>
            </a:r>
            <a:endParaRPr sz="2000" u="sng">
              <a:solidFill>
                <a:srgbClr val="FF0000"/>
              </a:solidFill>
              <a:latin typeface="Arial Black"/>
              <a:ea typeface="Arial Black"/>
              <a:cs typeface="Arial Black"/>
              <a:sym typeface="Arial Black"/>
            </a:endParaRPr>
          </a:p>
          <a:p>
            <a:pPr indent="-330200" lvl="0" marL="457200" rtl="0" algn="l">
              <a:lnSpc>
                <a:spcPct val="115000"/>
              </a:lnSpc>
              <a:spcBef>
                <a:spcPts val="0"/>
              </a:spcBef>
              <a:spcAft>
                <a:spcPts val="0"/>
              </a:spcAft>
              <a:buClr>
                <a:schemeClr val="dk1"/>
              </a:buClr>
              <a:buSzPts val="1600"/>
              <a:buFont typeface="Arial Black"/>
              <a:buChar char="❑"/>
            </a:pPr>
            <a:r>
              <a:rPr lang="en-US" sz="1600">
                <a:solidFill>
                  <a:schemeClr val="dk1"/>
                </a:solidFill>
                <a:latin typeface="Arial Black"/>
                <a:ea typeface="Arial Black"/>
                <a:cs typeface="Arial Black"/>
                <a:sym typeface="Arial Black"/>
              </a:rPr>
              <a:t>There is a clear upward trend in the volume of tickets year over year, with the number of tickets rising significantly from 2016 to 2020.</a:t>
            </a:r>
            <a:endParaRPr sz="1600">
              <a:solidFill>
                <a:schemeClr val="dk1"/>
              </a:solidFill>
              <a:latin typeface="Arial Black"/>
              <a:ea typeface="Arial Black"/>
              <a:cs typeface="Arial Black"/>
              <a:sym typeface="Arial Black"/>
            </a:endParaRPr>
          </a:p>
          <a:p>
            <a:pPr indent="0" lvl="0" marL="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330200" lvl="0" marL="457200" rtl="0" algn="l">
              <a:lnSpc>
                <a:spcPct val="115000"/>
              </a:lnSpc>
              <a:spcBef>
                <a:spcPts val="0"/>
              </a:spcBef>
              <a:spcAft>
                <a:spcPts val="0"/>
              </a:spcAft>
              <a:buClr>
                <a:schemeClr val="dk1"/>
              </a:buClr>
              <a:buSzPts val="1600"/>
              <a:buFont typeface="Arial Black"/>
              <a:buChar char="❑"/>
            </a:pPr>
            <a:r>
              <a:rPr lang="en-US" sz="1600">
                <a:solidFill>
                  <a:schemeClr val="dk1"/>
                </a:solidFill>
                <a:latin typeface="Arial Black"/>
                <a:ea typeface="Arial Black"/>
                <a:cs typeface="Arial Black"/>
                <a:sym typeface="Arial Black"/>
              </a:rPr>
              <a:t>The sharp increase in 2020 suggests either a growth in users, an increase in system-related issues, or both, which may cause additional strain on support resources.</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550">
              <a:solidFill>
                <a:schemeClr val="dk1"/>
              </a:solidFill>
              <a:latin typeface="Arial Black"/>
              <a:ea typeface="Arial Black"/>
              <a:cs typeface="Arial Black"/>
              <a:sym typeface="Arial Black"/>
            </a:endParaRPr>
          </a:p>
        </p:txBody>
      </p:sp>
      <p:pic>
        <p:nvPicPr>
          <p:cNvPr id="150" name="Google Shape;150;p26" title="Chart"/>
          <p:cNvPicPr preferRelativeResize="0"/>
          <p:nvPr/>
        </p:nvPicPr>
        <p:blipFill>
          <a:blip r:embed="rId3">
            <a:alphaModFix/>
          </a:blip>
          <a:stretch>
            <a:fillRect/>
          </a:stretch>
        </p:blipFill>
        <p:spPr>
          <a:xfrm>
            <a:off x="3352875" y="640700"/>
            <a:ext cx="5486275" cy="3671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0" y="84969"/>
            <a:ext cx="120495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chemeClr val="dk1"/>
                </a:solidFill>
                <a:latin typeface="Cambria"/>
                <a:ea typeface="Cambria"/>
                <a:cs typeface="Cambria"/>
                <a:sym typeface="Cambria"/>
              </a:rPr>
              <a:t>AGE GROUP BY SATISFACTION RATE</a:t>
            </a:r>
            <a:endParaRPr b="1" sz="2800" u="sng">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800" u="sng">
              <a:solidFill>
                <a:schemeClr val="dk1"/>
              </a:solidFill>
              <a:latin typeface="Cambria"/>
              <a:ea typeface="Cambria"/>
              <a:cs typeface="Cambria"/>
              <a:sym typeface="Cambria"/>
            </a:endParaRPr>
          </a:p>
        </p:txBody>
      </p:sp>
      <p:sp>
        <p:nvSpPr>
          <p:cNvPr id="156" name="Google Shape;156;p27"/>
          <p:cNvSpPr txBox="1"/>
          <p:nvPr/>
        </p:nvSpPr>
        <p:spPr>
          <a:xfrm>
            <a:off x="815180" y="3787098"/>
            <a:ext cx="10810500" cy="413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rgbClr val="FF0000"/>
                </a:solidFill>
                <a:latin typeface="Arial Black"/>
                <a:ea typeface="Arial Black"/>
                <a:cs typeface="Arial Black"/>
                <a:sym typeface="Arial Black"/>
              </a:rPr>
              <a:t>INSIGHTS :</a:t>
            </a:r>
            <a:endParaRPr sz="2400" u="sng">
              <a:solidFill>
                <a:srgbClr val="FF0000"/>
              </a:solidFill>
              <a:latin typeface="Arial Black"/>
              <a:ea typeface="Arial Black"/>
              <a:cs typeface="Arial Black"/>
              <a:sym typeface="Arial Black"/>
            </a:endParaRPr>
          </a:p>
          <a:p>
            <a:pPr indent="0" lvl="0" marL="0" marR="0" rtl="0" algn="l">
              <a:spcBef>
                <a:spcPts val="0"/>
              </a:spcBef>
              <a:spcAft>
                <a:spcPts val="0"/>
              </a:spcAft>
              <a:buNone/>
            </a:pPr>
            <a:r>
              <a:t/>
            </a:r>
            <a:endParaRPr sz="2400" u="sng">
              <a:solidFill>
                <a:srgbClr val="FF0000"/>
              </a:solidFill>
              <a:latin typeface="Arial Black"/>
              <a:ea typeface="Arial Black"/>
              <a:cs typeface="Arial Black"/>
              <a:sym typeface="Arial Black"/>
            </a:endParaRPr>
          </a:p>
          <a:p>
            <a:pPr indent="-361950" lvl="0" marL="457200" rtl="0" algn="l">
              <a:lnSpc>
                <a:spcPct val="115000"/>
              </a:lnSpc>
              <a:spcBef>
                <a:spcPts val="0"/>
              </a:spcBef>
              <a:spcAft>
                <a:spcPts val="0"/>
              </a:spcAft>
              <a:buClr>
                <a:schemeClr val="dk1"/>
              </a:buClr>
              <a:buSzPts val="2100"/>
              <a:buFont typeface="Arial Black"/>
              <a:buChar char="❑"/>
            </a:pPr>
            <a:r>
              <a:rPr b="1" lang="en-US" sz="1600">
                <a:solidFill>
                  <a:schemeClr val="dk1"/>
                </a:solidFill>
                <a:latin typeface="Arial Black"/>
                <a:ea typeface="Arial Black"/>
                <a:cs typeface="Arial Black"/>
                <a:sym typeface="Arial Black"/>
              </a:rPr>
              <a:t>Peak satisfaction</a:t>
            </a:r>
            <a:r>
              <a:rPr lang="en-US" sz="1600">
                <a:solidFill>
                  <a:schemeClr val="dk1"/>
                </a:solidFill>
                <a:latin typeface="Arial Black"/>
                <a:ea typeface="Arial Black"/>
                <a:cs typeface="Arial Black"/>
                <a:sym typeface="Arial Black"/>
              </a:rPr>
              <a:t> is seen at ages </a:t>
            </a:r>
            <a:r>
              <a:rPr b="1" lang="en-US" sz="1600">
                <a:solidFill>
                  <a:schemeClr val="dk1"/>
                </a:solidFill>
                <a:latin typeface="Arial Black"/>
                <a:ea typeface="Arial Black"/>
                <a:cs typeface="Arial Black"/>
                <a:sym typeface="Arial Black"/>
              </a:rPr>
              <a:t>32, 49, and 50</a:t>
            </a:r>
            <a:r>
              <a:rPr lang="en-US" sz="1600">
                <a:solidFill>
                  <a:schemeClr val="dk1"/>
                </a:solidFill>
                <a:latin typeface="Arial Black"/>
                <a:ea typeface="Arial Black"/>
                <a:cs typeface="Arial Black"/>
                <a:sym typeface="Arial Black"/>
              </a:rPr>
              <a:t> (above 4.4), showing these age groups deliver the best service quality.</a:t>
            </a:r>
            <a:br>
              <a:rPr lang="en-US" sz="1600">
                <a:solidFill>
                  <a:schemeClr val="dk1"/>
                </a:solidFill>
                <a:latin typeface="Arial Black"/>
                <a:ea typeface="Arial Black"/>
                <a:cs typeface="Arial Black"/>
                <a:sym typeface="Arial Black"/>
              </a:rPr>
            </a:br>
            <a:endParaRPr sz="1600">
              <a:solidFill>
                <a:schemeClr val="dk1"/>
              </a:solidFill>
              <a:latin typeface="Arial Black"/>
              <a:ea typeface="Arial Black"/>
              <a:cs typeface="Arial Black"/>
              <a:sym typeface="Arial Black"/>
            </a:endParaRPr>
          </a:p>
          <a:p>
            <a:pPr indent="-361950" lvl="0" marL="457200" rtl="0" algn="l">
              <a:lnSpc>
                <a:spcPct val="115000"/>
              </a:lnSpc>
              <a:spcBef>
                <a:spcPts val="0"/>
              </a:spcBef>
              <a:spcAft>
                <a:spcPts val="0"/>
              </a:spcAft>
              <a:buClr>
                <a:schemeClr val="dk1"/>
              </a:buClr>
              <a:buSzPts val="2100"/>
              <a:buFont typeface="Arial Black"/>
              <a:buChar char="❑"/>
            </a:pPr>
            <a:r>
              <a:rPr lang="en-US" sz="1600">
                <a:solidFill>
                  <a:schemeClr val="dk1"/>
                </a:solidFill>
                <a:latin typeface="Arial Black"/>
                <a:ea typeface="Arial Black"/>
                <a:cs typeface="Arial Black"/>
                <a:sym typeface="Arial Black"/>
              </a:rPr>
              <a:t>A </a:t>
            </a:r>
            <a:r>
              <a:rPr b="1" lang="en-US" sz="1600">
                <a:solidFill>
                  <a:schemeClr val="dk1"/>
                </a:solidFill>
                <a:latin typeface="Arial Black"/>
                <a:ea typeface="Arial Black"/>
                <a:cs typeface="Arial Black"/>
                <a:sym typeface="Arial Black"/>
              </a:rPr>
              <a:t>major dip at age 35 (3.04)</a:t>
            </a:r>
            <a:r>
              <a:rPr lang="en-US" sz="1600">
                <a:solidFill>
                  <a:schemeClr val="dk1"/>
                </a:solidFill>
                <a:latin typeface="Arial Black"/>
                <a:ea typeface="Arial Black"/>
                <a:cs typeface="Arial Black"/>
                <a:sym typeface="Arial Black"/>
              </a:rPr>
              <a:t> indicates performance issues; targeted training is needed.</a:t>
            </a:r>
            <a:br>
              <a:rPr lang="en-US" sz="1600">
                <a:solidFill>
                  <a:schemeClr val="dk1"/>
                </a:solidFill>
                <a:latin typeface="Arial Black"/>
                <a:ea typeface="Arial Black"/>
                <a:cs typeface="Arial Black"/>
                <a:sym typeface="Arial Black"/>
              </a:rPr>
            </a:br>
            <a:endParaRPr sz="1600">
              <a:solidFill>
                <a:schemeClr val="dk1"/>
              </a:solidFill>
              <a:latin typeface="Arial Black"/>
              <a:ea typeface="Arial Black"/>
              <a:cs typeface="Arial Black"/>
              <a:sym typeface="Arial Black"/>
            </a:endParaRPr>
          </a:p>
          <a:p>
            <a:pPr indent="-361950" lvl="0" marL="457200" rtl="0" algn="l">
              <a:lnSpc>
                <a:spcPct val="115000"/>
              </a:lnSpc>
              <a:spcBef>
                <a:spcPts val="0"/>
              </a:spcBef>
              <a:spcAft>
                <a:spcPts val="0"/>
              </a:spcAft>
              <a:buClr>
                <a:schemeClr val="dk1"/>
              </a:buClr>
              <a:buSzPts val="2100"/>
              <a:buFont typeface="Arial Black"/>
              <a:buChar char="❑"/>
            </a:pPr>
            <a:r>
              <a:rPr b="1" lang="en-US" sz="1600">
                <a:solidFill>
                  <a:schemeClr val="dk1"/>
                </a:solidFill>
                <a:latin typeface="Arial Black"/>
                <a:ea typeface="Arial Black"/>
                <a:cs typeface="Arial Black"/>
                <a:sym typeface="Arial Black"/>
              </a:rPr>
              <a:t>Overall stability</a:t>
            </a:r>
            <a:r>
              <a:rPr lang="en-US" sz="1600">
                <a:solidFill>
                  <a:schemeClr val="dk1"/>
                </a:solidFill>
                <a:latin typeface="Arial Black"/>
                <a:ea typeface="Arial Black"/>
                <a:cs typeface="Arial Black"/>
                <a:sym typeface="Arial Black"/>
              </a:rPr>
              <a:t> exists across most other age groups (4.0–4.3), with senior agents (49–53) again showing higher satisfaction due to experience.</a:t>
            </a:r>
            <a:endParaRPr sz="1600">
              <a:solidFill>
                <a:schemeClr val="dk1"/>
              </a:solidFill>
              <a:latin typeface="Arial Black"/>
              <a:ea typeface="Arial Black"/>
              <a:cs typeface="Arial Black"/>
              <a:sym typeface="Arial Black"/>
            </a:endParaRPr>
          </a:p>
          <a:p>
            <a:pPr indent="0" lvl="0" marL="45720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45720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a:p>
        </p:txBody>
      </p:sp>
      <p:pic>
        <p:nvPicPr>
          <p:cNvPr id="157" name="Google Shape;157;p27" title="Chart"/>
          <p:cNvPicPr preferRelativeResize="0"/>
          <p:nvPr/>
        </p:nvPicPr>
        <p:blipFill>
          <a:blip r:embed="rId3">
            <a:alphaModFix/>
          </a:blip>
          <a:stretch>
            <a:fillRect/>
          </a:stretch>
        </p:blipFill>
        <p:spPr>
          <a:xfrm>
            <a:off x="2040225" y="606100"/>
            <a:ext cx="8111550" cy="318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nvSpPr>
        <p:spPr>
          <a:xfrm>
            <a:off x="0" y="125644"/>
            <a:ext cx="12049500" cy="138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chemeClr val="dk1"/>
                </a:solidFill>
                <a:latin typeface="Cambria"/>
                <a:ea typeface="Cambria"/>
                <a:cs typeface="Cambria"/>
                <a:sym typeface="Cambria"/>
              </a:rPr>
              <a:t>Distribution of Ticket by Resolution Time</a:t>
            </a:r>
            <a:endParaRPr b="1" sz="2800" u="sng">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800" u="sng">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800" u="sng">
              <a:solidFill>
                <a:schemeClr val="dk1"/>
              </a:solidFill>
              <a:latin typeface="Cambria"/>
              <a:ea typeface="Cambria"/>
              <a:cs typeface="Cambria"/>
              <a:sym typeface="Cambria"/>
            </a:endParaRPr>
          </a:p>
        </p:txBody>
      </p:sp>
      <p:sp>
        <p:nvSpPr>
          <p:cNvPr id="163" name="Google Shape;163;p28"/>
          <p:cNvSpPr txBox="1"/>
          <p:nvPr/>
        </p:nvSpPr>
        <p:spPr>
          <a:xfrm>
            <a:off x="893755" y="3615248"/>
            <a:ext cx="10810500" cy="4316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rgbClr val="FF0000"/>
                </a:solidFill>
                <a:latin typeface="Arial Black"/>
                <a:ea typeface="Arial Black"/>
                <a:cs typeface="Arial Black"/>
                <a:sym typeface="Arial Black"/>
              </a:rPr>
              <a:t>INSIGHTS :</a:t>
            </a:r>
            <a:endParaRPr sz="2400" u="sng">
              <a:solidFill>
                <a:srgbClr val="FF0000"/>
              </a:solidFill>
              <a:latin typeface="Arial Black"/>
              <a:ea typeface="Arial Black"/>
              <a:cs typeface="Arial Black"/>
              <a:sym typeface="Arial Black"/>
            </a:endParaRPr>
          </a:p>
          <a:p>
            <a:pPr indent="0" lvl="0" marL="0" marR="0" rtl="0" algn="l">
              <a:spcBef>
                <a:spcPts val="0"/>
              </a:spcBef>
              <a:spcAft>
                <a:spcPts val="0"/>
              </a:spcAft>
              <a:buNone/>
            </a:pPr>
            <a:r>
              <a:t/>
            </a:r>
            <a:endParaRPr sz="1600" u="sng">
              <a:solidFill>
                <a:srgbClr val="FF0000"/>
              </a:solidFill>
              <a:latin typeface="Arial Black"/>
              <a:ea typeface="Arial Black"/>
              <a:cs typeface="Arial Black"/>
              <a:sym typeface="Arial Black"/>
            </a:endParaRPr>
          </a:p>
          <a:p>
            <a:pPr indent="-330200" lvl="0" marL="457200" rtl="0" algn="l">
              <a:lnSpc>
                <a:spcPct val="115000"/>
              </a:lnSpc>
              <a:spcBef>
                <a:spcPts val="0"/>
              </a:spcBef>
              <a:spcAft>
                <a:spcPts val="0"/>
              </a:spcAft>
              <a:buClr>
                <a:schemeClr val="dk1"/>
              </a:buClr>
              <a:buSzPts val="1600"/>
              <a:buFont typeface="Arial Black"/>
              <a:buChar char="❑"/>
            </a:pPr>
            <a:r>
              <a:rPr lang="en-US" sz="1600">
                <a:solidFill>
                  <a:schemeClr val="dk1"/>
                </a:solidFill>
                <a:latin typeface="Arial Black"/>
                <a:ea typeface="Arial Black"/>
                <a:cs typeface="Arial Black"/>
                <a:sym typeface="Arial Black"/>
              </a:rPr>
              <a:t>The majority of tickets are resolved within the first 1-2 days, indicating efficient handling of many issues.</a:t>
            </a:r>
            <a:endParaRPr sz="1600">
              <a:solidFill>
                <a:schemeClr val="dk1"/>
              </a:solidFill>
              <a:latin typeface="Arial Black"/>
              <a:ea typeface="Arial Black"/>
              <a:cs typeface="Arial Black"/>
              <a:sym typeface="Arial Black"/>
            </a:endParaRPr>
          </a:p>
          <a:p>
            <a:pPr indent="0" lvl="0" marL="45720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330200" lvl="0" marL="457200" rtl="0" algn="l">
              <a:lnSpc>
                <a:spcPct val="115000"/>
              </a:lnSpc>
              <a:spcBef>
                <a:spcPts val="0"/>
              </a:spcBef>
              <a:spcAft>
                <a:spcPts val="0"/>
              </a:spcAft>
              <a:buClr>
                <a:schemeClr val="dk1"/>
              </a:buClr>
              <a:buSzPts val="1600"/>
              <a:buFont typeface="Arial Black"/>
              <a:buChar char="❑"/>
            </a:pPr>
            <a:r>
              <a:rPr lang="en-US" sz="1600">
                <a:solidFill>
                  <a:schemeClr val="dk1"/>
                </a:solidFill>
                <a:latin typeface="Arial Black"/>
                <a:ea typeface="Arial Black"/>
                <a:cs typeface="Arial Black"/>
                <a:sym typeface="Arial Black"/>
              </a:rPr>
              <a:t>There is a gradually decreasing number of tickets as resolution time increases, though a noticeable tail exists with some tickets taking over 10 days to resolve, suggesting occasional complexities or process delays.</a:t>
            </a:r>
            <a:endParaRPr sz="1600">
              <a:solidFill>
                <a:schemeClr val="dk1"/>
              </a:solidFill>
              <a:latin typeface="Arial Black"/>
              <a:ea typeface="Arial Black"/>
              <a:cs typeface="Arial Black"/>
              <a:sym typeface="Arial Black"/>
            </a:endParaRPr>
          </a:p>
          <a:p>
            <a:pPr indent="0" lvl="0" marL="45720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330200" lvl="0" marL="457200" rtl="0" algn="l">
              <a:lnSpc>
                <a:spcPct val="115000"/>
              </a:lnSpc>
              <a:spcBef>
                <a:spcPts val="0"/>
              </a:spcBef>
              <a:spcAft>
                <a:spcPts val="0"/>
              </a:spcAft>
              <a:buClr>
                <a:schemeClr val="dk1"/>
              </a:buClr>
              <a:buSzPts val="1600"/>
              <a:buFont typeface="Arial Black"/>
              <a:buChar char="❑"/>
            </a:pPr>
            <a:r>
              <a:rPr lang="en-US" sz="1600">
                <a:solidFill>
                  <a:schemeClr val="dk1"/>
                </a:solidFill>
                <a:latin typeface="Arial Black"/>
                <a:ea typeface="Arial Black"/>
                <a:cs typeface="Arial Black"/>
                <a:sym typeface="Arial Black"/>
              </a:rPr>
              <a:t>This long-tail distribution implies that while most cases are routine and quickly addressed, a non-trivial subset of issues require extended follow-up or escalation.</a:t>
            </a:r>
            <a:endParaRPr sz="1600">
              <a:solidFill>
                <a:schemeClr val="dk1"/>
              </a:solidFill>
              <a:latin typeface="Arial Black"/>
              <a:ea typeface="Arial Black"/>
              <a:cs typeface="Arial Black"/>
              <a:sym typeface="Arial Black"/>
            </a:endParaRPr>
          </a:p>
          <a:p>
            <a:pPr indent="0" lvl="0" marL="45720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457200" rtl="0" algn="l">
              <a:lnSpc>
                <a:spcPct val="115000"/>
              </a:lnSpc>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a:p>
        </p:txBody>
      </p:sp>
      <p:pic>
        <p:nvPicPr>
          <p:cNvPr id="164" name="Google Shape;164;p28" title="Chart"/>
          <p:cNvPicPr preferRelativeResize="0"/>
          <p:nvPr/>
        </p:nvPicPr>
        <p:blipFill>
          <a:blip r:embed="rId3">
            <a:alphaModFix/>
          </a:blip>
          <a:stretch>
            <a:fillRect/>
          </a:stretch>
        </p:blipFill>
        <p:spPr>
          <a:xfrm>
            <a:off x="3094975" y="654675"/>
            <a:ext cx="6408074" cy="31627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nvSpPr>
        <p:spPr>
          <a:xfrm>
            <a:off x="3139109" y="56299"/>
            <a:ext cx="59139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latin typeface="Cambria"/>
              <a:ea typeface="Cambria"/>
              <a:cs typeface="Cambria"/>
              <a:sym typeface="Cambria"/>
            </a:endParaRPr>
          </a:p>
        </p:txBody>
      </p:sp>
      <p:sp>
        <p:nvSpPr>
          <p:cNvPr id="170" name="Google Shape;170;p29"/>
          <p:cNvSpPr txBox="1"/>
          <p:nvPr/>
        </p:nvSpPr>
        <p:spPr>
          <a:xfrm>
            <a:off x="4640146" y="56300"/>
            <a:ext cx="2911800" cy="585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u="sng">
                <a:solidFill>
                  <a:schemeClr val="dk1"/>
                </a:solidFill>
                <a:latin typeface="Cambria"/>
                <a:ea typeface="Cambria"/>
                <a:cs typeface="Cambria"/>
                <a:sym typeface="Cambria"/>
              </a:rPr>
              <a:t>Dashboard</a:t>
            </a:r>
            <a:endParaRPr>
              <a:latin typeface="Cambria"/>
              <a:ea typeface="Cambria"/>
              <a:cs typeface="Cambria"/>
              <a:sym typeface="Cambria"/>
            </a:endParaRPr>
          </a:p>
        </p:txBody>
      </p:sp>
      <p:pic>
        <p:nvPicPr>
          <p:cNvPr id="171" name="Google Shape;171;p29"/>
          <p:cNvPicPr preferRelativeResize="0"/>
          <p:nvPr/>
        </p:nvPicPr>
        <p:blipFill>
          <a:blip r:embed="rId3">
            <a:alphaModFix/>
          </a:blip>
          <a:stretch>
            <a:fillRect/>
          </a:stretch>
        </p:blipFill>
        <p:spPr>
          <a:xfrm>
            <a:off x="173825" y="1020675"/>
            <a:ext cx="11844352" cy="4383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nvSpPr>
        <p:spPr>
          <a:xfrm>
            <a:off x="3329609" y="198783"/>
            <a:ext cx="47262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chemeClr val="dk1"/>
                </a:solidFill>
                <a:latin typeface="Cambria"/>
                <a:ea typeface="Cambria"/>
                <a:cs typeface="Cambria"/>
                <a:sym typeface="Cambria"/>
              </a:rPr>
              <a:t>CONCLUSION</a:t>
            </a:r>
            <a:endParaRPr b="1" sz="2000" u="sng">
              <a:solidFill>
                <a:schemeClr val="dk1"/>
              </a:solidFill>
              <a:latin typeface="Cambria"/>
              <a:ea typeface="Cambria"/>
              <a:cs typeface="Cambria"/>
              <a:sym typeface="Cambria"/>
            </a:endParaRPr>
          </a:p>
        </p:txBody>
      </p:sp>
      <p:sp>
        <p:nvSpPr>
          <p:cNvPr id="177" name="Google Shape;177;p30"/>
          <p:cNvSpPr txBox="1"/>
          <p:nvPr/>
        </p:nvSpPr>
        <p:spPr>
          <a:xfrm>
            <a:off x="660952" y="939248"/>
            <a:ext cx="11116800" cy="643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u="sng">
                <a:solidFill>
                  <a:srgbClr val="FF0000"/>
                </a:solidFill>
                <a:latin typeface="Arial Black"/>
                <a:ea typeface="Arial Black"/>
                <a:cs typeface="Arial Black"/>
                <a:sym typeface="Arial Black"/>
              </a:rPr>
              <a:t>INSIGHTS</a:t>
            </a:r>
            <a:endParaRPr sz="2000" u="sng">
              <a:solidFill>
                <a:srgbClr val="FF0000"/>
              </a:solidFill>
              <a:latin typeface="Arial Black"/>
              <a:ea typeface="Arial Black"/>
              <a:cs typeface="Arial Black"/>
              <a:sym typeface="Arial Black"/>
            </a:endParaRPr>
          </a:p>
          <a:p>
            <a:pPr indent="-241300" lvl="0" marL="342900" marR="0" rtl="0" algn="l">
              <a:spcBef>
                <a:spcPts val="0"/>
              </a:spcBef>
              <a:spcAft>
                <a:spcPts val="0"/>
              </a:spcAft>
              <a:buClr>
                <a:schemeClr val="dk1"/>
              </a:buClr>
              <a:buSzPts val="1600"/>
              <a:buFont typeface="Noto Sans Symbols"/>
              <a:buNone/>
            </a:pPr>
            <a:r>
              <a:t/>
            </a:r>
            <a:endParaRPr sz="1600">
              <a:solidFill>
                <a:schemeClr val="dk1"/>
              </a:solidFill>
              <a:highlight>
                <a:srgbClr val="FFFF00"/>
              </a:highlight>
              <a:latin typeface="Arial Black"/>
              <a:ea typeface="Arial Black"/>
              <a:cs typeface="Arial Black"/>
              <a:sym typeface="Arial Black"/>
            </a:endParaRPr>
          </a:p>
          <a:p>
            <a:pPr indent="-342900" lvl="0" marL="342900" marR="0" rtl="0" algn="l">
              <a:spcBef>
                <a:spcPts val="0"/>
              </a:spcBef>
              <a:spcAft>
                <a:spcPts val="0"/>
              </a:spcAft>
              <a:buClr>
                <a:schemeClr val="dk1"/>
              </a:buClr>
              <a:buSzPts val="1600"/>
              <a:buFont typeface="Noto Sans Symbols"/>
              <a:buChar char="❑"/>
            </a:pPr>
            <a:r>
              <a:rPr lang="en-US" sz="1600">
                <a:solidFill>
                  <a:schemeClr val="dk1"/>
                </a:solidFill>
                <a:highlight>
                  <a:srgbClr val="FFFF00"/>
                </a:highlight>
                <a:latin typeface="Arial Black"/>
                <a:ea typeface="Arial Black"/>
                <a:cs typeface="Arial Black"/>
                <a:sym typeface="Arial Black"/>
              </a:rPr>
              <a:t>Ticket volume Trends :</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b="1" lang="en-US" sz="1600">
                <a:solidFill>
                  <a:schemeClr val="dk1"/>
                </a:solidFill>
                <a:latin typeface="Balthazar"/>
                <a:ea typeface="Balthazar"/>
                <a:cs typeface="Balthazar"/>
                <a:sym typeface="Balthazar"/>
              </a:rPr>
              <a:t>Peak Times </a:t>
            </a:r>
            <a:r>
              <a:rPr lang="en-US" sz="1600">
                <a:solidFill>
                  <a:schemeClr val="dk1"/>
                </a:solidFill>
                <a:latin typeface="Arial Black"/>
                <a:ea typeface="Arial Black"/>
                <a:cs typeface="Arial Black"/>
                <a:sym typeface="Arial Black"/>
              </a:rPr>
              <a:t>: High ticket volumes observed during specific periods such as system updates</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b="1" lang="en-US" sz="1600">
                <a:solidFill>
                  <a:schemeClr val="dk1"/>
                </a:solidFill>
                <a:latin typeface="Balthazar"/>
                <a:ea typeface="Balthazar"/>
                <a:cs typeface="Balthazar"/>
                <a:sym typeface="Balthazar"/>
              </a:rPr>
              <a:t>Recurring Issues </a:t>
            </a:r>
            <a:r>
              <a:rPr lang="en-US" sz="1600">
                <a:solidFill>
                  <a:schemeClr val="dk1"/>
                </a:solidFill>
                <a:latin typeface="Arial Black"/>
                <a:ea typeface="Arial Black"/>
                <a:cs typeface="Arial Black"/>
                <a:sym typeface="Arial Black"/>
              </a:rPr>
              <a:t>: Login issues and software related repeated issues can be provided with documented solutions</a:t>
            </a:r>
            <a:endParaRPr/>
          </a:p>
          <a:p>
            <a:pPr indent="0" lvl="1" marL="457200" marR="0" rtl="0" algn="l">
              <a:spcBef>
                <a:spcPts val="0"/>
              </a:spcBef>
              <a:spcAft>
                <a:spcPts val="0"/>
              </a:spcAft>
              <a:buNone/>
            </a:pPr>
            <a:r>
              <a:t/>
            </a:r>
            <a:endParaRPr b="0" i="0" sz="1600" u="none" cap="none" strike="noStrike">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600"/>
              <a:buFont typeface="Noto Sans Symbols"/>
              <a:buChar char="❑"/>
            </a:pPr>
            <a:r>
              <a:rPr lang="en-US" sz="1600">
                <a:solidFill>
                  <a:schemeClr val="dk1"/>
                </a:solidFill>
                <a:highlight>
                  <a:srgbClr val="FFFF00"/>
                </a:highlight>
                <a:latin typeface="Arial Black"/>
                <a:ea typeface="Arial Black"/>
                <a:cs typeface="Arial Black"/>
                <a:sym typeface="Arial Black"/>
              </a:rPr>
              <a:t>Resolution Time :</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b="1" lang="en-US" sz="1600">
                <a:solidFill>
                  <a:schemeClr val="dk1"/>
                </a:solidFill>
                <a:latin typeface="Balthazar"/>
                <a:ea typeface="Balthazar"/>
                <a:cs typeface="Balthazar"/>
                <a:sym typeface="Balthazar"/>
              </a:rPr>
              <a:t>Delays in resolution </a:t>
            </a:r>
            <a:r>
              <a:rPr lang="en-US" sz="1600">
                <a:solidFill>
                  <a:schemeClr val="dk1"/>
                </a:solidFill>
                <a:latin typeface="Arial Black"/>
                <a:ea typeface="Arial Black"/>
                <a:cs typeface="Arial Black"/>
                <a:sym typeface="Arial Black"/>
              </a:rPr>
              <a:t>: Average resolution time for critical tickets is above SLA thresholds</a:t>
            </a:r>
            <a:endParaRPr/>
          </a:p>
          <a:p>
            <a:pPr indent="0" lvl="0" marL="0" marR="0" rtl="0" algn="l">
              <a:spcBef>
                <a:spcPts val="0"/>
              </a:spcBef>
              <a:spcAft>
                <a:spcPts val="0"/>
              </a:spcAft>
              <a:buNone/>
            </a:pPr>
            <a:r>
              <a:t/>
            </a:r>
            <a:endParaRPr sz="16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b="1" lang="en-US" sz="1600">
                <a:solidFill>
                  <a:schemeClr val="dk1"/>
                </a:solidFill>
                <a:latin typeface="Balthazar"/>
                <a:ea typeface="Balthazar"/>
                <a:cs typeface="Balthazar"/>
                <a:sym typeface="Balthazar"/>
              </a:rPr>
              <a:t>Bottlenecks identified </a:t>
            </a:r>
            <a:r>
              <a:rPr lang="en-US" sz="1600">
                <a:solidFill>
                  <a:schemeClr val="dk1"/>
                </a:solidFill>
                <a:latin typeface="Arial Black"/>
                <a:ea typeface="Arial Black"/>
                <a:cs typeface="Arial Black"/>
                <a:sym typeface="Arial Black"/>
              </a:rPr>
              <a:t>: Specific agents causing delays (lack of skills or missing expertise)</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600"/>
              <a:buFont typeface="Noto Sans Symbols"/>
              <a:buChar char="❑"/>
            </a:pPr>
            <a:r>
              <a:rPr lang="en-US" sz="1600">
                <a:solidFill>
                  <a:schemeClr val="dk1"/>
                </a:solidFill>
                <a:highlight>
                  <a:srgbClr val="FFFF00"/>
                </a:highlight>
                <a:latin typeface="Arial Black"/>
                <a:ea typeface="Arial Black"/>
                <a:cs typeface="Arial Black"/>
                <a:sym typeface="Arial Black"/>
              </a:rPr>
              <a:t>Categorization and Prioritization :</a:t>
            </a:r>
            <a:endParaRPr/>
          </a:p>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Tickets are often miscategorized, leading to delays in routing and resolution</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600"/>
              <a:buFont typeface="Noto Sans Symbols"/>
              <a:buChar char="❑"/>
            </a:pPr>
            <a:r>
              <a:rPr lang="en-US" sz="1600">
                <a:solidFill>
                  <a:schemeClr val="dk1"/>
                </a:solidFill>
                <a:highlight>
                  <a:srgbClr val="FFFF00"/>
                </a:highlight>
                <a:latin typeface="Arial Black"/>
                <a:ea typeface="Arial Black"/>
                <a:cs typeface="Arial Black"/>
                <a:sym typeface="Arial Black"/>
              </a:rPr>
              <a:t>User Feedback :</a:t>
            </a:r>
            <a:endParaRPr/>
          </a:p>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Poor satisfaction ratings linked to delayed responses and lack of follow-up communication</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Arial Black"/>
              <a:ea typeface="Arial Black"/>
              <a:cs typeface="Arial Black"/>
              <a:sym typeface="Arial Black"/>
            </a:endParaRPr>
          </a:p>
          <a:p>
            <a:pPr indent="-342900" lvl="0" marL="342900" marR="0" rtl="0" algn="l">
              <a:spcBef>
                <a:spcPts val="0"/>
              </a:spcBef>
              <a:spcAft>
                <a:spcPts val="0"/>
              </a:spcAft>
              <a:buClr>
                <a:schemeClr val="dk1"/>
              </a:buClr>
              <a:buSzPts val="1600"/>
              <a:buFont typeface="Noto Sans Symbols"/>
              <a:buChar char="❑"/>
            </a:pPr>
            <a:r>
              <a:rPr lang="en-US" sz="1600">
                <a:solidFill>
                  <a:schemeClr val="dk1"/>
                </a:solidFill>
                <a:highlight>
                  <a:srgbClr val="FFFF00"/>
                </a:highlight>
                <a:latin typeface="Arial Black"/>
                <a:ea typeface="Arial Black"/>
                <a:cs typeface="Arial Black"/>
                <a:sym typeface="Arial Black"/>
              </a:rPr>
              <a:t>Resource Allocation :</a:t>
            </a:r>
            <a:endParaRPr/>
          </a:p>
          <a:p>
            <a:pPr indent="0" lvl="0" marL="0" marR="0" rtl="0" algn="l">
              <a:spcBef>
                <a:spcPts val="0"/>
              </a:spcBef>
              <a:spcAft>
                <a:spcPts val="0"/>
              </a:spcAft>
              <a:buNone/>
            </a:pPr>
            <a:r>
              <a:rPr lang="en-US" sz="1600">
                <a:solidFill>
                  <a:schemeClr val="dk1"/>
                </a:solidFill>
                <a:latin typeface="Arial Black"/>
                <a:ea typeface="Arial Black"/>
                <a:cs typeface="Arial Black"/>
                <a:sym typeface="Arial Black"/>
              </a:rPr>
              <a:t>Understaffing during peak periods leading to backlog accumulation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nvSpPr>
        <p:spPr>
          <a:xfrm>
            <a:off x="3026465" y="228600"/>
            <a:ext cx="56106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u="sng">
                <a:solidFill>
                  <a:srgbClr val="FF0000"/>
                </a:solidFill>
                <a:latin typeface="Cambria"/>
                <a:ea typeface="Cambria"/>
                <a:cs typeface="Cambria"/>
                <a:sym typeface="Cambria"/>
              </a:rPr>
              <a:t>RECOMMENDATIONS</a:t>
            </a:r>
            <a:endParaRPr b="1" sz="2000" u="sng">
              <a:solidFill>
                <a:srgbClr val="FF0000"/>
              </a:solidFill>
              <a:latin typeface="Cambria"/>
              <a:ea typeface="Cambria"/>
              <a:cs typeface="Cambria"/>
              <a:sym typeface="Cambria"/>
            </a:endParaRPr>
          </a:p>
        </p:txBody>
      </p:sp>
      <p:sp>
        <p:nvSpPr>
          <p:cNvPr id="183" name="Google Shape;183;p31"/>
          <p:cNvSpPr txBox="1"/>
          <p:nvPr/>
        </p:nvSpPr>
        <p:spPr>
          <a:xfrm>
            <a:off x="988944" y="1305341"/>
            <a:ext cx="10500600" cy="40329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highlight>
                  <a:srgbClr val="FFFF00"/>
                </a:highlight>
                <a:latin typeface="Arial Black"/>
                <a:ea typeface="Arial Black"/>
                <a:cs typeface="Arial Black"/>
                <a:sym typeface="Arial Black"/>
              </a:rPr>
              <a:t>Automation and Self-Service </a:t>
            </a:r>
            <a:r>
              <a:rPr lang="en-US" sz="1800">
                <a:solidFill>
                  <a:schemeClr val="dk1"/>
                </a:solidFill>
                <a:latin typeface="Arial Black"/>
                <a:ea typeface="Arial Black"/>
                <a:cs typeface="Arial Black"/>
                <a:sym typeface="Arial Black"/>
              </a:rPr>
              <a:t>: </a:t>
            </a:r>
            <a:r>
              <a:rPr lang="en-US" sz="1600">
                <a:solidFill>
                  <a:schemeClr val="dk1"/>
                </a:solidFill>
                <a:latin typeface="Arial Black"/>
                <a:ea typeface="Arial Black"/>
                <a:cs typeface="Arial Black"/>
                <a:sym typeface="Arial Black"/>
              </a:rPr>
              <a:t>Implement self-service portals and automated workflows for common issues</a:t>
            </a:r>
            <a:endParaRPr sz="1200">
              <a:latin typeface="Arial Black"/>
              <a:ea typeface="Arial Black"/>
              <a:cs typeface="Arial Black"/>
              <a:sym typeface="Arial Black"/>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highlight>
                  <a:srgbClr val="FFFF00"/>
                </a:highlight>
                <a:latin typeface="Arial Black"/>
                <a:ea typeface="Arial Black"/>
                <a:cs typeface="Arial Black"/>
                <a:sym typeface="Arial Black"/>
              </a:rPr>
              <a:t>Process Improvements </a:t>
            </a:r>
            <a:r>
              <a:rPr lang="en-US" sz="1800">
                <a:solidFill>
                  <a:schemeClr val="dk1"/>
                </a:solidFill>
                <a:latin typeface="Arial Black"/>
                <a:ea typeface="Arial Black"/>
                <a:cs typeface="Arial Black"/>
                <a:sym typeface="Arial Black"/>
              </a:rPr>
              <a:t>: </a:t>
            </a:r>
            <a:r>
              <a:rPr lang="en-US" sz="1600">
                <a:solidFill>
                  <a:schemeClr val="dk1"/>
                </a:solidFill>
                <a:latin typeface="Arial Black"/>
                <a:ea typeface="Arial Black"/>
                <a:cs typeface="Arial Black"/>
                <a:sym typeface="Arial Black"/>
              </a:rPr>
              <a:t>Streamline ticket routing processes to minimize misclassification</a:t>
            </a:r>
            <a:endParaRPr sz="1600">
              <a:latin typeface="Arial Black"/>
              <a:ea typeface="Arial Black"/>
              <a:cs typeface="Arial Black"/>
              <a:sym typeface="Arial Black"/>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highlight>
                  <a:srgbClr val="FFFF00"/>
                </a:highlight>
                <a:latin typeface="Arial Black"/>
                <a:ea typeface="Arial Black"/>
                <a:cs typeface="Arial Black"/>
                <a:sym typeface="Arial Black"/>
              </a:rPr>
              <a:t>Resource Optimization </a:t>
            </a:r>
            <a:r>
              <a:rPr lang="en-US" sz="1800">
                <a:solidFill>
                  <a:schemeClr val="dk1"/>
                </a:solidFill>
                <a:latin typeface="Arial Black"/>
                <a:ea typeface="Arial Black"/>
                <a:cs typeface="Arial Black"/>
                <a:sym typeface="Arial Black"/>
              </a:rPr>
              <a:t>: </a:t>
            </a:r>
            <a:r>
              <a:rPr lang="en-US" sz="1600">
                <a:solidFill>
                  <a:schemeClr val="dk1"/>
                </a:solidFill>
                <a:latin typeface="Arial Black"/>
                <a:ea typeface="Arial Black"/>
                <a:cs typeface="Arial Black"/>
                <a:sym typeface="Arial Black"/>
              </a:rPr>
              <a:t>Adjusting staffing levels based on historical volume trends, train junior agents to handle medium-complex tickets to reduce dependency on senior agents</a:t>
            </a:r>
            <a:endParaRPr sz="1600">
              <a:latin typeface="Arial Black"/>
              <a:ea typeface="Arial Black"/>
              <a:cs typeface="Arial Black"/>
              <a:sym typeface="Arial Black"/>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highlight>
                  <a:srgbClr val="FFFF00"/>
                </a:highlight>
                <a:latin typeface="Arial Black"/>
                <a:ea typeface="Arial Black"/>
                <a:cs typeface="Arial Black"/>
                <a:sym typeface="Arial Black"/>
              </a:rPr>
              <a:t>Enhanced Monitoring and Analytics </a:t>
            </a:r>
            <a:r>
              <a:rPr lang="en-US" sz="1800">
                <a:solidFill>
                  <a:schemeClr val="dk1"/>
                </a:solidFill>
                <a:latin typeface="Arial Black"/>
                <a:ea typeface="Arial Black"/>
                <a:cs typeface="Arial Black"/>
                <a:sym typeface="Arial Black"/>
              </a:rPr>
              <a:t>:</a:t>
            </a:r>
            <a:r>
              <a:rPr lang="en-US" sz="1600">
                <a:solidFill>
                  <a:schemeClr val="dk1"/>
                </a:solidFill>
                <a:latin typeface="Arial Black"/>
                <a:ea typeface="Arial Black"/>
                <a:cs typeface="Arial Black"/>
                <a:sym typeface="Arial Black"/>
              </a:rPr>
              <a:t> </a:t>
            </a:r>
            <a:r>
              <a:rPr lang="en-US" sz="1600">
                <a:solidFill>
                  <a:schemeClr val="dk1"/>
                </a:solidFill>
                <a:latin typeface="Arial Black"/>
                <a:ea typeface="Arial Black"/>
                <a:cs typeface="Arial Black"/>
                <a:sym typeface="Arial Black"/>
              </a:rPr>
              <a:t>Regularly review SLA performance and resolution time trends</a:t>
            </a:r>
            <a:endParaRPr sz="1600">
              <a:latin typeface="Arial Black"/>
              <a:ea typeface="Arial Black"/>
              <a:cs typeface="Arial Black"/>
              <a:sym typeface="Arial Black"/>
            </a:endParaRPr>
          </a:p>
          <a:p>
            <a:pPr indent="-171450" lvl="0" marL="285750" marR="0" rtl="0" algn="l">
              <a:spcBef>
                <a:spcPts val="0"/>
              </a:spcBef>
              <a:spcAft>
                <a:spcPts val="0"/>
              </a:spcAft>
              <a:buClr>
                <a:schemeClr val="dk1"/>
              </a:buClr>
              <a:buSzPts val="1800"/>
              <a:buFont typeface="Noto Sans Symbols"/>
              <a:buNone/>
            </a:pPr>
            <a:r>
              <a:t/>
            </a:r>
            <a:endParaRPr sz="1600">
              <a:solidFill>
                <a:schemeClr val="dk1"/>
              </a:solidFill>
              <a:latin typeface="Arial Black"/>
              <a:ea typeface="Arial Black"/>
              <a:cs typeface="Arial Black"/>
              <a:sym typeface="Arial Black"/>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highlight>
                  <a:srgbClr val="FFFF00"/>
                </a:highlight>
                <a:latin typeface="Arial Black"/>
                <a:ea typeface="Arial Black"/>
                <a:cs typeface="Arial Black"/>
                <a:sym typeface="Arial Black"/>
              </a:rPr>
              <a:t>Knowledge Base Development </a:t>
            </a:r>
            <a:r>
              <a:rPr lang="en-US" sz="1800">
                <a:solidFill>
                  <a:schemeClr val="dk1"/>
                </a:solidFill>
                <a:latin typeface="Arial Black"/>
                <a:ea typeface="Arial Black"/>
                <a:cs typeface="Arial Black"/>
                <a:sym typeface="Arial Black"/>
              </a:rPr>
              <a:t>: </a:t>
            </a:r>
            <a:r>
              <a:rPr lang="en-US" sz="1600">
                <a:solidFill>
                  <a:schemeClr val="dk1"/>
                </a:solidFill>
                <a:latin typeface="Arial Black"/>
                <a:ea typeface="Arial Black"/>
                <a:cs typeface="Arial Black"/>
                <a:sym typeface="Arial Black"/>
              </a:rPr>
              <a:t>Expand and regularly update guides, documents containing recurring issues to reduce ticket inflow</a:t>
            </a:r>
            <a:endParaRPr sz="1200">
              <a:latin typeface="Arial Black"/>
              <a:ea typeface="Arial Black"/>
              <a:cs typeface="Arial Black"/>
              <a:sym typeface="Arial Blac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2" title="istockphoto-1397892955-612x612.jpg"/>
          <p:cNvPicPr preferRelativeResize="0"/>
          <p:nvPr/>
        </p:nvPicPr>
        <p:blipFill>
          <a:blip r:embed="rId3">
            <a:alphaModFix/>
          </a:blip>
          <a:stretch>
            <a:fillRect/>
          </a:stretch>
        </p:blipFill>
        <p:spPr>
          <a:xfrm>
            <a:off x="1090200" y="615275"/>
            <a:ext cx="10011599" cy="5627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